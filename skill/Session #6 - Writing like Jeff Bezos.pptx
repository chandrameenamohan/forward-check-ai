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6d8141d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6d8141d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dd5f91b2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dd5f91b2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dd5f91b273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dd5f91b273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ae39458eb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ae39458eb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eab228631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eab228631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6b7518520_5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16b7518520_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6b7518520_5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16b7518520_5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b810e5663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b810e5663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d5f91b273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d5f91b273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e3b8398a0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e3b8398a0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dae39458eb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dae39458eb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e3b8398a0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e3b8398a0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e3b8398a03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e3b8398a0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eab2286314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eab2286314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e3b8398a0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e3b8398a0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dd5f91b27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dd5f91b27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e3b8398a0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e3b8398a0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e3b8398a0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e3b8398a0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e194819c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e194819c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e3b8398a0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e3b8398a0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eab2286314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eab2286314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d5f91b273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d5f91b273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d5f91b273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d5f91b273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eab22860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eab22860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eab22863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eab22863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google.com/document/d/1EuFdx971U0ofzBLuETQ5dxHbUeomvtoMVW1Ir2N5ghY/edit?usp=sharing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479679" y="1438375"/>
            <a:ext cx="4600200" cy="165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66DE"/>
                </a:solidFill>
                <a:latin typeface="Lato"/>
                <a:ea typeface="Lato"/>
                <a:cs typeface="Lato"/>
                <a:sym typeface="Lato"/>
              </a:rPr>
              <a:t>SESSION 6</a:t>
            </a:r>
            <a:endParaRPr sz="2200">
              <a:solidFill>
                <a:srgbClr val="0066D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Writing like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Jeff Bezos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596875" y="4004175"/>
            <a:ext cx="63618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By Shaan Puri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3"/>
          <p:cNvSpPr txBox="1"/>
          <p:nvPr>
            <p:ph type="ctrTitle"/>
          </p:nvPr>
        </p:nvSpPr>
        <p:spPr>
          <a:xfrm>
            <a:off x="500875" y="4266375"/>
            <a:ext cx="63618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POWER WRITING COURSE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0" l="25542" r="29957" t="0"/>
          <a:stretch/>
        </p:blipFill>
        <p:spPr>
          <a:xfrm>
            <a:off x="5664150" y="0"/>
            <a:ext cx="3479850" cy="521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>
            <p:ph type="ctrTitle"/>
          </p:nvPr>
        </p:nvSpPr>
        <p:spPr>
          <a:xfrm>
            <a:off x="653275" y="3016575"/>
            <a:ext cx="6361800" cy="5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(aka using writing inside a company) 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Writing is nature’s way of showing you how sloppy your thinking is. Clear writing is clear thinking”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27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 you want to be known as a clear writer?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br>
              <a:rPr lang="en">
                <a:latin typeface="Lato"/>
                <a:ea typeface="Lato"/>
                <a:cs typeface="Lato"/>
                <a:sym typeface="Lato"/>
              </a:rPr>
            </a:br>
            <a:r>
              <a:rPr lang="en">
                <a:latin typeface="Lato"/>
                <a:ea typeface="Lato"/>
                <a:cs typeface="Lato"/>
                <a:sym typeface="Lato"/>
              </a:rPr>
              <a:t>NO! A clear thinker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445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By the end of the hour you will: </a:t>
            </a:r>
            <a:br>
              <a:rPr lang="en">
                <a:solidFill>
                  <a:schemeClr val="lt1"/>
                </a:solidFill>
              </a:rPr>
            </a:b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1. Have a solid framework for writing business updates to your boss/investors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2. Spin up </a:t>
            </a:r>
            <a:r>
              <a:rPr lang="en">
                <a:solidFill>
                  <a:schemeClr val="lt1"/>
                </a:solidFill>
              </a:rPr>
              <a:t>your first “internal newsletter”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52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Promise: </a:t>
            </a:r>
            <a:endParaRPr b="1" sz="452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do it. 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00"/>
              <a:t>In the next 10 mins, draft a quick </a:t>
            </a:r>
            <a:r>
              <a:rPr b="1" lang="en" sz="2600"/>
              <a:t>monthly update </a:t>
            </a:r>
            <a:r>
              <a:rPr lang="en" sz="2600"/>
              <a:t>to your </a:t>
            </a:r>
            <a:r>
              <a:rPr b="1" lang="en" sz="2600"/>
              <a:t>boss/investor </a:t>
            </a:r>
            <a:r>
              <a:rPr lang="en" sz="2600"/>
              <a:t>for your company or project. 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25" y="1051250"/>
            <a:ext cx="4271679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5183700" y="1051250"/>
            <a:ext cx="3648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Hugo says: </a:t>
            </a:r>
            <a:br>
              <a:rPr lang="en"/>
            </a:br>
            <a:r>
              <a:rPr lang="en"/>
              <a:t>* dry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 looks backwards, not forward?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Audience says: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Tell me what to think about this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Add in what that lets us do aka the “so what”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Color code and bold → improve readability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Tell the story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500" y="184075"/>
            <a:ext cx="4188974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>
            <p:ph type="title"/>
          </p:nvPr>
        </p:nvSpPr>
        <p:spPr>
          <a:xfrm>
            <a:off x="544252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</a:t>
            </a:r>
            <a:endParaRPr/>
          </a:p>
        </p:txBody>
      </p:sp>
      <p:sp>
        <p:nvSpPr>
          <p:cNvPr id="94" name="Google Shape;94;p18"/>
          <p:cNvSpPr txBox="1"/>
          <p:nvPr/>
        </p:nvSpPr>
        <p:spPr>
          <a:xfrm>
            <a:off x="5753400" y="1158800"/>
            <a:ext cx="237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5417950" y="1036825"/>
            <a:ext cx="28056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Audience feedback: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Honest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 to read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Writes like he talks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Bad/Room for improvement: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too much like a comedy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to get to the 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sure what my takeaway is and what this means for me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544252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640840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5072350" y="945350"/>
            <a:ext cx="3324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Landon: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Framing -&gt; told them what to think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up good and bad news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ask in the email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Could be better: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Why? Why are sales going up? Is a plan working?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told me what happened but not why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Mistakes I see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Forget to ask - what does the reader </a:t>
            </a:r>
            <a:r>
              <a:rPr lang="en" sz="2600"/>
              <a:t>care about?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Dump, </a:t>
            </a:r>
            <a:r>
              <a:rPr b="1" lang="en" sz="2600"/>
              <a:t>here’s all the shit we did </a:t>
            </a:r>
            <a:r>
              <a:rPr lang="en" sz="2600"/>
              <a:t>instead of </a:t>
            </a:r>
            <a:r>
              <a:rPr b="1" lang="en" sz="2600"/>
              <a:t>how it’s going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Missing an ask 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Only sharing good news</a:t>
            </a:r>
            <a:endParaRPr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lang="en" u="sng">
                <a:latin typeface="Lato"/>
                <a:ea typeface="Lato"/>
                <a:cs typeface="Lato"/>
                <a:sym typeface="Lato"/>
              </a:rPr>
              <a:t>WHAT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→ </a:t>
            </a:r>
            <a:r>
              <a:rPr b="1" lang="en" u="sng">
                <a:latin typeface="Lato"/>
                <a:ea typeface="Lato"/>
                <a:cs typeface="Lato"/>
                <a:sym typeface="Lato"/>
              </a:rPr>
              <a:t>WHY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→ </a:t>
            </a:r>
            <a:r>
              <a:rPr b="1" lang="en" u="sng">
                <a:latin typeface="Lato"/>
                <a:ea typeface="Lato"/>
                <a:cs typeface="Lato"/>
                <a:sym typeface="Lato"/>
              </a:rPr>
              <a:t>SO WHAT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  Framework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latin typeface="Lato"/>
                <a:ea typeface="Lato"/>
                <a:cs typeface="Lato"/>
                <a:sym typeface="Lato"/>
              </a:rPr>
              <a:t>What </a:t>
            </a:r>
            <a:r>
              <a:rPr lang="en" sz="3400">
                <a:latin typeface="Lato"/>
                <a:ea typeface="Lato"/>
                <a:cs typeface="Lato"/>
                <a:sym typeface="Lato"/>
              </a:rPr>
              <a:t>happened? (answer the question of how it’s going)</a:t>
            </a:r>
            <a:endParaRPr sz="34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400">
                <a:latin typeface="Lato"/>
                <a:ea typeface="Lato"/>
                <a:cs typeface="Lato"/>
                <a:sym typeface="Lato"/>
              </a:rPr>
              <a:t>Why </a:t>
            </a:r>
            <a:r>
              <a:rPr lang="en" sz="3400">
                <a:latin typeface="Lato"/>
                <a:ea typeface="Lato"/>
                <a:cs typeface="Lato"/>
                <a:sym typeface="Lato"/>
              </a:rPr>
              <a:t>did it happen? </a:t>
            </a:r>
            <a:endParaRPr sz="3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400">
                <a:latin typeface="Lato"/>
                <a:ea typeface="Lato"/>
                <a:cs typeface="Lato"/>
                <a:sym typeface="Lato"/>
              </a:rPr>
              <a:t>	</a:t>
            </a:r>
            <a:r>
              <a:rPr b="1" lang="en" sz="3400">
                <a:latin typeface="Lato"/>
                <a:ea typeface="Lato"/>
                <a:cs typeface="Lato"/>
                <a:sym typeface="Lato"/>
              </a:rPr>
              <a:t>So What </a:t>
            </a:r>
            <a:r>
              <a:rPr lang="en" sz="3400">
                <a:latin typeface="Lato"/>
                <a:ea typeface="Lato"/>
                <a:cs typeface="Lato"/>
                <a:sym typeface="Lato"/>
              </a:rPr>
              <a:t>are we going to do about it? </a:t>
            </a:r>
            <a:endParaRPr sz="3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Example.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latin typeface="Lato"/>
                <a:ea typeface="Lato"/>
                <a:cs typeface="Lato"/>
                <a:sym typeface="Lato"/>
              </a:rPr>
              <a:t>What</a:t>
            </a:r>
            <a:endParaRPr b="1" sz="34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400">
                <a:latin typeface="Lato"/>
                <a:ea typeface="Lato"/>
                <a:cs typeface="Lato"/>
                <a:sym typeface="Lato"/>
              </a:rPr>
              <a:t>Why </a:t>
            </a:r>
            <a:endParaRPr sz="34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400">
                <a:latin typeface="Lato"/>
                <a:ea typeface="Lato"/>
                <a:cs typeface="Lato"/>
                <a:sym typeface="Lato"/>
              </a:rPr>
              <a:t>	</a:t>
            </a:r>
            <a:r>
              <a:rPr b="1" lang="en" sz="3400">
                <a:latin typeface="Lato"/>
                <a:ea typeface="Lato"/>
                <a:cs typeface="Lato"/>
                <a:sym typeface="Lato"/>
              </a:rPr>
              <a:t>So What </a:t>
            </a:r>
            <a:endParaRPr sz="3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3090175" y="1152475"/>
            <a:ext cx="4787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was an AWESOME month. </a:t>
            </a:r>
            <a:r>
              <a:rPr lang="en"/>
              <a:t>Revenue was XX this month, up by Y%. Normally, as a brit, I don’t get too excited. But I make exceptions for huge months like this :)</a:t>
            </a:r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3047925" y="2156813"/>
            <a:ext cx="4787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Sales went up because – we’ve had massive growth on our social media, which led to more new customers. Instagram is up Xx, and Tiktok is up YY - thanks to the new agency we hired who is crushing it. </a:t>
            </a:r>
            <a:endParaRPr/>
          </a:p>
        </p:txBody>
      </p:sp>
      <p:sp>
        <p:nvSpPr>
          <p:cNvPr id="126" name="Google Shape;126;p22"/>
          <p:cNvSpPr txBox="1"/>
          <p:nvPr/>
        </p:nvSpPr>
        <p:spPr>
          <a:xfrm>
            <a:off x="2963425" y="3376550"/>
            <a:ext cx="59817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Going forward, here’s what I need from you!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Let’s double down on social. It’s working. I just mailed you a new iphone (yep, everyone) to help you make content each day. Here’s my guide to making great content (link)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My ask of you → this friday, everyone submit a piece of content into the “content” channel on slack. And i’m giving away a prize to the winner!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 txBox="1"/>
          <p:nvPr>
            <p:ph type="ctrTitle"/>
          </p:nvPr>
        </p:nvSpPr>
        <p:spPr>
          <a:xfrm>
            <a:off x="435525" y="-36475"/>
            <a:ext cx="8341800" cy="121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write updates?</a:t>
            </a:r>
            <a:endParaRPr/>
          </a:p>
        </p:txBody>
      </p:sp>
      <p:sp>
        <p:nvSpPr>
          <p:cNvPr id="133" name="Google Shape;133;p23"/>
          <p:cNvSpPr txBox="1"/>
          <p:nvPr>
            <p:ph idx="1" type="subTitle"/>
          </p:nvPr>
        </p:nvSpPr>
        <p:spPr>
          <a:xfrm>
            <a:off x="256725" y="1266825"/>
            <a:ext cx="8520600" cy="38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Live in powerful peoples head, rent free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Create room for serendipity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For yourself to take a step back outta the weeds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Builds trust over time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4"/>
          <p:cNvSpPr txBox="1"/>
          <p:nvPr>
            <p:ph type="ctrTitle"/>
          </p:nvPr>
        </p:nvSpPr>
        <p:spPr>
          <a:xfrm>
            <a:off x="435525" y="-36475"/>
            <a:ext cx="8341800" cy="121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Gets These?</a:t>
            </a:r>
            <a:endParaRPr/>
          </a:p>
        </p:txBody>
      </p:sp>
      <p:sp>
        <p:nvSpPr>
          <p:cNvPr id="140" name="Google Shape;140;p24"/>
          <p:cNvSpPr/>
          <p:nvPr/>
        </p:nvSpPr>
        <p:spPr>
          <a:xfrm>
            <a:off x="322425" y="2545300"/>
            <a:ext cx="816000" cy="81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/>
          <p:nvPr/>
        </p:nvSpPr>
        <p:spPr>
          <a:xfrm>
            <a:off x="1740000" y="2422600"/>
            <a:ext cx="1061400" cy="106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 txBox="1"/>
          <p:nvPr>
            <p:ph idx="1" type="subTitle"/>
          </p:nvPr>
        </p:nvSpPr>
        <p:spPr>
          <a:xfrm>
            <a:off x="1949694" y="2736106"/>
            <a:ext cx="690300" cy="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1130"/>
              <a:buNone/>
            </a:pPr>
            <a:r>
              <a:rPr lang="en" sz="1990"/>
              <a:t>team</a:t>
            </a:r>
            <a:endParaRPr sz="1990"/>
          </a:p>
        </p:txBody>
      </p:sp>
      <p:sp>
        <p:nvSpPr>
          <p:cNvPr id="143" name="Google Shape;143;p24"/>
          <p:cNvSpPr txBox="1"/>
          <p:nvPr>
            <p:ph idx="1" type="subTitle"/>
          </p:nvPr>
        </p:nvSpPr>
        <p:spPr>
          <a:xfrm>
            <a:off x="435525" y="2673550"/>
            <a:ext cx="751200" cy="5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990"/>
              <a:t>you</a:t>
            </a:r>
            <a:endParaRPr sz="1990"/>
          </a:p>
        </p:txBody>
      </p:sp>
      <p:sp>
        <p:nvSpPr>
          <p:cNvPr id="144" name="Google Shape;144;p24"/>
          <p:cNvSpPr/>
          <p:nvPr/>
        </p:nvSpPr>
        <p:spPr>
          <a:xfrm>
            <a:off x="3402975" y="2163700"/>
            <a:ext cx="1579200" cy="1579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4"/>
          <p:cNvSpPr/>
          <p:nvPr/>
        </p:nvSpPr>
        <p:spPr>
          <a:xfrm>
            <a:off x="5583750" y="1928950"/>
            <a:ext cx="2048700" cy="204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4"/>
          <p:cNvSpPr/>
          <p:nvPr/>
        </p:nvSpPr>
        <p:spPr>
          <a:xfrm>
            <a:off x="7824150" y="1928950"/>
            <a:ext cx="2048700" cy="2048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4"/>
          <p:cNvSpPr txBox="1"/>
          <p:nvPr>
            <p:ph idx="1" type="subTitle"/>
          </p:nvPr>
        </p:nvSpPr>
        <p:spPr>
          <a:xfrm>
            <a:off x="3402975" y="2673550"/>
            <a:ext cx="1579200" cy="5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1130"/>
              <a:buNone/>
            </a:pPr>
            <a:r>
              <a:rPr lang="en" sz="1990"/>
              <a:t>boss/investor</a:t>
            </a:r>
            <a:endParaRPr sz="1990"/>
          </a:p>
        </p:txBody>
      </p:sp>
      <p:sp>
        <p:nvSpPr>
          <p:cNvPr id="148" name="Google Shape;148;p24"/>
          <p:cNvSpPr txBox="1"/>
          <p:nvPr>
            <p:ph idx="1" type="subTitle"/>
          </p:nvPr>
        </p:nvSpPr>
        <p:spPr>
          <a:xfrm>
            <a:off x="5907375" y="2673550"/>
            <a:ext cx="1579200" cy="5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1130"/>
              <a:buNone/>
            </a:pPr>
            <a:r>
              <a:rPr lang="en" sz="1990"/>
              <a:t>Friends of the House</a:t>
            </a:r>
            <a:endParaRPr sz="1990"/>
          </a:p>
        </p:txBody>
      </p:sp>
      <p:sp>
        <p:nvSpPr>
          <p:cNvPr id="149" name="Google Shape;149;p24"/>
          <p:cNvSpPr txBox="1"/>
          <p:nvPr>
            <p:ph idx="1" type="subTitle"/>
          </p:nvPr>
        </p:nvSpPr>
        <p:spPr>
          <a:xfrm>
            <a:off x="7895775" y="2673550"/>
            <a:ext cx="1579200" cy="5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990"/>
              <a:t>Public</a:t>
            </a:r>
            <a:endParaRPr sz="199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 - now re-write your update using the WHAT WHY SO WHAT structure. </a:t>
            </a:r>
            <a:endParaRPr/>
          </a:p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/>
              <a:t>Share as a reply in</a:t>
            </a:r>
            <a:r>
              <a:rPr b="1" lang="en" sz="2600"/>
              <a:t> #showyourwork</a:t>
            </a:r>
            <a:endParaRPr b="1" sz="2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re-write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8FFF"/>
          </a:solidFill>
          <a:ln cap="flat" cmpd="sng" w="9525">
            <a:solidFill>
              <a:srgbClr val="1F8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311700" y="1445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</a:rPr>
              <a:t>One of my career hacks… </a:t>
            </a:r>
            <a:endParaRPr sz="2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900">
                <a:solidFill>
                  <a:schemeClr val="lt1"/>
                </a:solidFill>
              </a:rPr>
              <a:t>How to stand-out instead of being just another cog in the machine.</a:t>
            </a:r>
            <a:endParaRPr sz="2900">
              <a:solidFill>
                <a:schemeClr val="lt1"/>
              </a:solidFill>
            </a:endParaRPr>
          </a:p>
        </p:txBody>
      </p:sp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52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Part II</a:t>
            </a:r>
            <a:endParaRPr b="1" sz="452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533775" y="2739375"/>
            <a:ext cx="26661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825">
                <a:latin typeface="Lato"/>
                <a:ea typeface="Lato"/>
                <a:cs typeface="Lato"/>
                <a:sym typeface="Lato"/>
              </a:rPr>
              <a:t>Was it worth it?</a:t>
            </a:r>
            <a:endParaRPr sz="1825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825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825">
                <a:latin typeface="Lato"/>
                <a:ea typeface="Lato"/>
                <a:cs typeface="Lato"/>
                <a:sym typeface="Lato"/>
              </a:rPr>
              <a:t>Waste of time?</a:t>
            </a:r>
            <a:endParaRPr sz="1825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825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n" sz="1825"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" sz="1825">
                <a:latin typeface="Lato"/>
                <a:ea typeface="Lato"/>
                <a:cs typeface="Lato"/>
                <a:sym typeface="Lato"/>
              </a:rPr>
              <a:t>mbarrassing</a:t>
            </a:r>
            <a:r>
              <a:rPr lang="en" sz="1825">
                <a:latin typeface="Lato"/>
                <a:ea typeface="Lato"/>
                <a:cs typeface="Lato"/>
                <a:sym typeface="Lato"/>
              </a:rPr>
              <a:t>? </a:t>
            </a:r>
            <a:endParaRPr sz="1825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1325800" y="636750"/>
            <a:ext cx="71844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20">
                <a:latin typeface="Lato"/>
                <a:ea typeface="Lato"/>
                <a:cs typeface="Lato"/>
                <a:sym typeface="Lato"/>
              </a:rPr>
              <a:t>Scenario… you write a newsletter but only have 10 subscribers</a:t>
            </a:r>
            <a:endParaRPr b="1" sz="352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3533775" y="2739375"/>
            <a:ext cx="26661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825">
                <a:latin typeface="Lato"/>
                <a:ea typeface="Lato"/>
                <a:cs typeface="Lato"/>
                <a:sym typeface="Lato"/>
              </a:rPr>
              <a:t>Elon Musk? </a:t>
            </a:r>
            <a:endParaRPr sz="1825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br>
              <a:rPr lang="en" sz="1825">
                <a:latin typeface="Lato"/>
                <a:ea typeface="Lato"/>
                <a:cs typeface="Lato"/>
                <a:sym typeface="Lato"/>
              </a:rPr>
            </a:br>
            <a:r>
              <a:rPr lang="en" sz="1825">
                <a:latin typeface="Lato"/>
                <a:ea typeface="Lato"/>
                <a:cs typeface="Lato"/>
                <a:sym typeface="Lato"/>
              </a:rPr>
              <a:t>Mother Teresa? </a:t>
            </a:r>
            <a:endParaRPr sz="1825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825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n" sz="1825">
                <a:latin typeface="Lato"/>
                <a:ea typeface="Lato"/>
                <a:cs typeface="Lato"/>
                <a:sym typeface="Lato"/>
              </a:rPr>
              <a:t>The guy who created capri-sun? </a:t>
            </a:r>
            <a:endParaRPr sz="1825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29"/>
          <p:cNvSpPr txBox="1"/>
          <p:nvPr>
            <p:ph type="title"/>
          </p:nvPr>
        </p:nvSpPr>
        <p:spPr>
          <a:xfrm>
            <a:off x="1947225" y="734225"/>
            <a:ext cx="54615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20">
                <a:latin typeface="Lato"/>
                <a:ea typeface="Lato"/>
                <a:cs typeface="Lato"/>
                <a:sym typeface="Lato"/>
              </a:rPr>
              <a:t>Depends. Which 10 people?</a:t>
            </a:r>
            <a:endParaRPr b="1" sz="352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/>
          <p:nvPr/>
        </p:nvSpPr>
        <p:spPr>
          <a:xfrm>
            <a:off x="-4640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3533775" y="2739375"/>
            <a:ext cx="26661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en" sz="1825">
                <a:latin typeface="Lato"/>
                <a:ea typeface="Lato"/>
                <a:cs typeface="Lato"/>
                <a:sym typeface="Lato"/>
              </a:rPr>
              <a:t>(massively underrated)</a:t>
            </a:r>
            <a:endParaRPr sz="1825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30"/>
          <p:cNvSpPr txBox="1"/>
          <p:nvPr>
            <p:ph type="title"/>
          </p:nvPr>
        </p:nvSpPr>
        <p:spPr>
          <a:xfrm>
            <a:off x="2491875" y="2001525"/>
            <a:ext cx="47499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20">
                <a:latin typeface="Lato"/>
                <a:ea typeface="Lato"/>
                <a:cs typeface="Lato"/>
                <a:sym typeface="Lato"/>
              </a:rPr>
              <a:t>Internal Newsletters</a:t>
            </a:r>
            <a:endParaRPr b="1" sz="352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650" y="1676752"/>
            <a:ext cx="8558700" cy="34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1"/>
          <p:cNvSpPr txBox="1"/>
          <p:nvPr>
            <p:ph type="title"/>
          </p:nvPr>
        </p:nvSpPr>
        <p:spPr>
          <a:xfrm>
            <a:off x="3156050" y="-65175"/>
            <a:ext cx="36945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20">
                <a:latin typeface="Lato"/>
                <a:ea typeface="Lato"/>
                <a:cs typeface="Lato"/>
                <a:sym typeface="Lato"/>
              </a:rPr>
              <a:t>My internal newsletter</a:t>
            </a:r>
            <a:endParaRPr b="1" sz="352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2"/>
          <p:cNvSpPr txBox="1"/>
          <p:nvPr>
            <p:ph type="title"/>
          </p:nvPr>
        </p:nvSpPr>
        <p:spPr>
          <a:xfrm>
            <a:off x="1900950" y="178525"/>
            <a:ext cx="59271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20">
                <a:latin typeface="Lato"/>
                <a:ea typeface="Lato"/>
                <a:cs typeface="Lato"/>
                <a:sym typeface="Lato"/>
              </a:rPr>
              <a:t>4 readers &gt; 40,000 readers</a:t>
            </a:r>
            <a:endParaRPr b="1" sz="352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3" name="Google Shape;2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800" y="1343600"/>
            <a:ext cx="7061275" cy="37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00" y="-48675"/>
            <a:ext cx="7774700" cy="363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361400"/>
            <a:ext cx="8519777" cy="21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did I do? </a:t>
            </a:r>
            <a:endParaRPr b="1"/>
          </a:p>
        </p:txBody>
      </p:sp>
      <p:sp>
        <p:nvSpPr>
          <p:cNvPr id="216" name="Google Shape;216;p34"/>
          <p:cNvSpPr txBox="1"/>
          <p:nvPr>
            <p:ph idx="1" type="body"/>
          </p:nvPr>
        </p:nvSpPr>
        <p:spPr>
          <a:xfrm>
            <a:off x="311700" y="1152475"/>
            <a:ext cx="8520600" cy="32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sunday, wrote an email.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"/>
            </a:br>
            <a:r>
              <a:rPr lang="en"/>
              <a:t>Created a format. Mine was 1-2-3 (1 photo, 2 thoughts, 3 links) </a:t>
            </a: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Opt-in all my favorite </a:t>
            </a:r>
            <a:r>
              <a:rPr lang="en"/>
              <a:t>people</a:t>
            </a:r>
            <a:r>
              <a:rPr lang="en"/>
              <a:t> in the company. After 3 sends, said reply if you wanna stay on. </a:t>
            </a:r>
            <a:br>
              <a:rPr lang="en"/>
            </a:br>
            <a:br>
              <a:rPr lang="en"/>
            </a:br>
            <a:r>
              <a:rPr lang="en"/>
              <a:t>Skip the ladder.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23" name="Google Shape;223;p35"/>
          <p:cNvSpPr txBox="1"/>
          <p:nvPr>
            <p:ph idx="1" type="body"/>
          </p:nvPr>
        </p:nvSpPr>
        <p:spPr>
          <a:xfrm>
            <a:off x="311700" y="1152475"/>
            <a:ext cx="8520600" cy="23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OK, you don’t write like Jeff Bezos.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But you did learn 2 actionable things that will make you a </a:t>
            </a:r>
            <a:r>
              <a:rPr b="1" lang="en"/>
              <a:t>2x+ better </a:t>
            </a:r>
            <a:r>
              <a:rPr lang="en"/>
              <a:t>writer inside your company. Are you going to use them? </a:t>
            </a:r>
            <a:br>
              <a:rPr lang="en"/>
            </a:br>
            <a:br>
              <a:rPr lang="en"/>
            </a:br>
            <a:endParaRPr/>
          </a:p>
        </p:txBody>
      </p:sp>
      <p:sp>
        <p:nvSpPr>
          <p:cNvPr id="224" name="Google Shape;224;p35"/>
          <p:cNvSpPr txBox="1"/>
          <p:nvPr>
            <p:ph type="title"/>
          </p:nvPr>
        </p:nvSpPr>
        <p:spPr>
          <a:xfrm>
            <a:off x="370475" y="2789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3220" lvl="0" marL="457200" rtl="0" algn="l">
              <a:spcBef>
                <a:spcPts val="0"/>
              </a:spcBef>
              <a:spcAft>
                <a:spcPts val="0"/>
              </a:spcAft>
              <a:buSzPts val="2120"/>
              <a:buAutoNum type="arabicPeriod"/>
            </a:pPr>
            <a:r>
              <a:rPr lang="en" sz="2120"/>
              <a:t>The </a:t>
            </a:r>
            <a:r>
              <a:rPr b="1" lang="en" sz="2120"/>
              <a:t>What, Why, So What</a:t>
            </a:r>
            <a:r>
              <a:rPr lang="en" sz="2120"/>
              <a:t> communication pattern for company updates</a:t>
            </a:r>
            <a:endParaRPr sz="2120"/>
          </a:p>
        </p:txBody>
      </p:sp>
      <p:sp>
        <p:nvSpPr>
          <p:cNvPr id="225" name="Google Shape;225;p35"/>
          <p:cNvSpPr txBox="1"/>
          <p:nvPr>
            <p:ph type="title"/>
          </p:nvPr>
        </p:nvSpPr>
        <p:spPr>
          <a:xfrm>
            <a:off x="370475" y="3800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20"/>
              <a:t>2.  How to use an internal newsletter to </a:t>
            </a:r>
            <a:r>
              <a:rPr b="1" lang="en" sz="2120"/>
              <a:t>build your brand </a:t>
            </a:r>
            <a:r>
              <a:rPr lang="en" sz="2120"/>
              <a:t>inside a big company instead of just being another cog in the machine. </a:t>
            </a:r>
            <a:endParaRPr sz="212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6"/>
          <p:cNvSpPr txBox="1"/>
          <p:nvPr>
            <p:ph type="title"/>
          </p:nvPr>
        </p:nvSpPr>
        <p:spPr>
          <a:xfrm>
            <a:off x="311700" y="317600"/>
            <a:ext cx="852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420"/>
              <a:t>A No-Holds-Barred Review</a:t>
            </a:r>
            <a:endParaRPr sz="4420"/>
          </a:p>
        </p:txBody>
      </p:sp>
      <p:sp>
        <p:nvSpPr>
          <p:cNvPr id="232" name="Google Shape;232;p36"/>
          <p:cNvSpPr txBox="1"/>
          <p:nvPr/>
        </p:nvSpPr>
        <p:spPr>
          <a:xfrm>
            <a:off x="1601700" y="1068750"/>
            <a:ext cx="60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“My brutally honest review of @shaanvp power writing course..”</a:t>
            </a:r>
            <a:endParaRPr b="1" sz="1500"/>
          </a:p>
        </p:txBody>
      </p:sp>
      <p:sp>
        <p:nvSpPr>
          <p:cNvPr id="233" name="Google Shape;233;p36"/>
          <p:cNvSpPr txBox="1"/>
          <p:nvPr/>
        </p:nvSpPr>
        <p:spPr>
          <a:xfrm>
            <a:off x="2652000" y="1920550"/>
            <a:ext cx="384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What session was your favorite?</a:t>
            </a:r>
            <a:endParaRPr b="1" sz="1800"/>
          </a:p>
        </p:txBody>
      </p:sp>
      <p:sp>
        <p:nvSpPr>
          <p:cNvPr id="234" name="Google Shape;234;p36"/>
          <p:cNvSpPr txBox="1"/>
          <p:nvPr/>
        </p:nvSpPr>
        <p:spPr>
          <a:xfrm>
            <a:off x="417050" y="2496750"/>
            <a:ext cx="823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Session #1 - Cold emails that actually get replies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Session #2 - </a:t>
            </a:r>
            <a:r>
              <a:rPr lang="en" sz="1600">
                <a:solidFill>
                  <a:srgbClr val="434343"/>
                </a:solidFill>
              </a:rPr>
              <a:t>Power Writing Habits + Pitching your brand without stumbling and fumbling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Session #3 - Viral Writing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Session #4 - How to Write Amazing Headlines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Session #5 - Writing Landing Pages That Convert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Session #6 - Writing Like Jeff Bezos (What I Learned at Amazon)</a:t>
            </a:r>
            <a:endParaRPr sz="16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7"/>
          <p:cNvSpPr/>
          <p:nvPr/>
        </p:nvSpPr>
        <p:spPr>
          <a:xfrm>
            <a:off x="-11" y="0"/>
            <a:ext cx="9144000" cy="5143500"/>
          </a:xfrm>
          <a:prstGeom prst="rect">
            <a:avLst/>
          </a:prstGeom>
          <a:solidFill>
            <a:srgbClr val="F7F1F1"/>
          </a:solidFill>
          <a:ln cap="flat" cmpd="sng" w="9525">
            <a:solidFill>
              <a:srgbClr val="F7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at your ‘before and after’. See the transformation you’ve experienced in:</a:t>
            </a:r>
            <a:endParaRPr/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Cold Emails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Viral </a:t>
            </a:r>
            <a:r>
              <a:rPr lang="en"/>
              <a:t>Writing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Pitching Yourself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Headlines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Landing Pages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Investor Updates/ Internal Newsletter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use this weekend to connect with people you didn’t get to during the course.</a:t>
            </a:r>
            <a:endParaRPr/>
          </a:p>
        </p:txBody>
      </p:sp>
      <p:sp>
        <p:nvSpPr>
          <p:cNvPr id="242" name="Google Shape;242;p37"/>
          <p:cNvSpPr txBox="1"/>
          <p:nvPr>
            <p:ph type="title"/>
          </p:nvPr>
        </p:nvSpPr>
        <p:spPr>
          <a:xfrm>
            <a:off x="311700" y="159150"/>
            <a:ext cx="852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420"/>
              <a:t>Looking Back</a:t>
            </a:r>
            <a:endParaRPr sz="44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