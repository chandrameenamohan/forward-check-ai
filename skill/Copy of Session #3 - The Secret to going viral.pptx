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5143500" cx="9144000"/>
  <p:notesSz cx="6858000" cy="9144000"/>
  <p:embeddedFontLst>
    <p:embeddedFont>
      <p:font typeface="Lato"/>
      <p:regular r:id="rId66"/>
      <p:bold r:id="rId67"/>
      <p:italic r:id="rId68"/>
      <p:boldItalic r:id="rId69"/>
    </p:embeddedFont>
    <p:embeddedFont>
      <p:font typeface="Spectral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pectral-boldItalic.fntdata"/><Relationship Id="rId72" Type="http://schemas.openxmlformats.org/officeDocument/2006/relationships/font" Target="fonts/Spectral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Spectral-bold.fntdata"/><Relationship Id="rId70" Type="http://schemas.openxmlformats.org/officeDocument/2006/relationships/font" Target="fonts/Spectral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Lato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Lato-italic.fntdata"/><Relationship Id="rId23" Type="http://schemas.openxmlformats.org/officeDocument/2006/relationships/slide" Target="slides/slide18.xml"/><Relationship Id="rId67" Type="http://schemas.openxmlformats.org/officeDocument/2006/relationships/font" Target="fonts/Lato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La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008fb57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008fb57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dde85940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dde85940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de859405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de859405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800">
                <a:solidFill>
                  <a:schemeClr val="dk1"/>
                </a:solidFill>
              </a:rPr>
              <a:t>It came from 5 threads, one a month.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de859405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de859405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800">
                <a:solidFill>
                  <a:schemeClr val="dk1"/>
                </a:solidFill>
              </a:rPr>
              <a:t>It came from 5 threads, one a month.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dda3450e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dda3450e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dda3450e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ddda3450e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042ea9f5f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e042ea9f5f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595959"/>
                </a:solidFill>
              </a:rPr>
              <a:t>Curious beginner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e0bb11aea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e0bb11aea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595959"/>
                </a:solidFill>
              </a:rPr>
              <a:t>Curious beginner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dda3450e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ddda3450e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595959"/>
                </a:solidFill>
              </a:rPr>
              <a:t>Curious beginner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dda3450e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dda3450e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595959"/>
                </a:solidFill>
              </a:rPr>
              <a:t>Curious beginner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e042ea9f5f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e042ea9f5f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042ea9f5f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042ea9f5f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5c075abe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65c075abe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1,000 bails/day → $35k at 12, you deal hay to horse track and horse owners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Juniro strategist - most people are shitbaggers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don’t want your bosses job, then you need a new job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dde859405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dde859405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e042ea9f5f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e042ea9f5f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e008fb57c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e008fb57c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e042ea9f5f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e042ea9f5f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e042ea9f5f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e042ea9f5f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e042ea9f5f_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e042ea9f5f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e042ea9f5f_2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e042ea9f5f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042ea9f5f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e042ea9f5f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e0bb11aea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e0bb11aea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ddda3450e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ddda3450e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dda3450e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dda3450e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042ea9f5f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042ea9f5f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e042ea9f5f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e042ea9f5f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df38ef8603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df38ef8603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ddda3450e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ddda3450e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008fb57c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008fb57c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b116d96f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b116d96f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b116d96f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db116d96f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e008fb57c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e008fb57c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42ea9f5f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42ea9f5f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042ea9f5f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e042ea9f5f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042ea9f5f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042ea9f5f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e2097b1c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e2097b1c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de2097b1c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de2097b1c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428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280">
                <a:solidFill>
                  <a:schemeClr val="dk1"/>
                </a:solidFill>
              </a:rPr>
              <a:t>Power writers - convey an emotion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e0bb11aea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e0bb11aea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428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280">
                <a:solidFill>
                  <a:schemeClr val="dk1"/>
                </a:solidFill>
              </a:rPr>
              <a:t>Power writers - convey an emotion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28ecb541bbe1a8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28ecb541bbe1a8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de2097b1c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de2097b1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e008fb57c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e008fb57c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e2097b1c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e2097b1c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e042ea9f5f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e042ea9f5f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dde859405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dde859405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dde859405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dde859405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28ecb541bbe1a8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28ecb541bbe1a8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46f6777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146f6777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146f67773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146f67773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146f6777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146f6777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146f6777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146f6777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146f67773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146f6777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146f6777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146f6777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146f67773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146f6777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146f67773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146f67773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428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280">
                <a:solidFill>
                  <a:schemeClr val="dk1"/>
                </a:solidFill>
              </a:rPr>
              <a:t>Power writers - convey an emotion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146f67773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146f67773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e042ea9f5f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e042ea9f5f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dde859405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dde859405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dde859405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dde859405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dde859405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dde859405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e0bb11aea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e0bb11ae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wiy.io/pwcontentgenerator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twitter.com/ShaanVP/status/1353951035224694785" TargetMode="External"/><Relationship Id="rId4" Type="http://schemas.openxmlformats.org/officeDocument/2006/relationships/image" Target="../media/image29.png"/><Relationship Id="rId11" Type="http://schemas.openxmlformats.org/officeDocument/2006/relationships/hyperlink" Target="https://twitter.com/ShaanVP/status/1353951035224694785" TargetMode="External"/><Relationship Id="rId10" Type="http://schemas.openxmlformats.org/officeDocument/2006/relationships/image" Target="../media/image32.png"/><Relationship Id="rId12" Type="http://schemas.openxmlformats.org/officeDocument/2006/relationships/image" Target="../media/image25.png"/><Relationship Id="rId9" Type="http://schemas.openxmlformats.org/officeDocument/2006/relationships/hyperlink" Target="https://twitter.com/ShaanVP/status/1344365247231008770" TargetMode="External"/><Relationship Id="rId5" Type="http://schemas.openxmlformats.org/officeDocument/2006/relationships/hyperlink" Target="https://twitter.com/ShaanVP/status/1356121622264963080" TargetMode="External"/><Relationship Id="rId6" Type="http://schemas.openxmlformats.org/officeDocument/2006/relationships/image" Target="../media/image28.png"/><Relationship Id="rId7" Type="http://schemas.openxmlformats.org/officeDocument/2006/relationships/hyperlink" Target="https://twitter.com/ShaanVP/status/1349781867797508098" TargetMode="External"/><Relationship Id="rId8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Relationship Id="rId4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8.png"/><Relationship Id="rId4" Type="http://schemas.openxmlformats.org/officeDocument/2006/relationships/image" Target="../media/image5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twitter.com/chrishlad" TargetMode="External"/><Relationship Id="rId4" Type="http://schemas.openxmlformats.org/officeDocument/2006/relationships/image" Target="../media/image4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500879" y="462575"/>
            <a:ext cx="4600200" cy="165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SESSION 3</a:t>
            </a:r>
            <a:endParaRPr sz="22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secret to viral writing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500875" y="34281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Shaan Puri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500875" y="42663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POWER WRITING COURSE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34640"/>
          <a:stretch/>
        </p:blipFill>
        <p:spPr>
          <a:xfrm>
            <a:off x="-1" y="2113175"/>
            <a:ext cx="9144003" cy="24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9646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type="ctrTitle"/>
          </p:nvPr>
        </p:nvSpPr>
        <p:spPr>
          <a:xfrm>
            <a:off x="113275" y="3257075"/>
            <a:ext cx="8258100" cy="14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●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Session 1: Writing an 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email</a:t>
            </a: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 to someone you don’t know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●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Session 2: What you do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●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Session 3: Writing content to go viral to grow either your brand or your company’s brand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638025" y="124125"/>
            <a:ext cx="8117700" cy="11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The Toolbox</a:t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5/36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17748" l="0" r="0" t="10653"/>
          <a:stretch/>
        </p:blipFill>
        <p:spPr>
          <a:xfrm>
            <a:off x="3190875" y="1390650"/>
            <a:ext cx="3067050" cy="19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9646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type="ctrTitle"/>
          </p:nvPr>
        </p:nvSpPr>
        <p:spPr>
          <a:xfrm>
            <a:off x="348750" y="2209125"/>
            <a:ext cx="8258100" cy="14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Spectral"/>
              <a:buAutoNum type="arabicPeriod"/>
            </a:pPr>
            <a:r>
              <a:rPr b="1" lang="en" sz="2600">
                <a:latin typeface="Spectral"/>
                <a:ea typeface="Spectral"/>
                <a:cs typeface="Spectral"/>
                <a:sym typeface="Spectral"/>
              </a:rPr>
              <a:t>IDEAS - </a:t>
            </a:r>
            <a:r>
              <a:rPr lang="en" sz="2600">
                <a:latin typeface="Spectral"/>
                <a:ea typeface="Spectral"/>
                <a:cs typeface="Spectral"/>
                <a:sym typeface="Spectral"/>
              </a:rPr>
              <a:t>Having a steady stream of great ideas (what to write about)</a:t>
            </a:r>
            <a:endParaRPr sz="2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Spectral"/>
              <a:ea typeface="Spectral"/>
              <a:cs typeface="Spectral"/>
              <a:sym typeface="Spectral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Spectral"/>
              <a:buAutoNum type="arabicPeriod"/>
            </a:pPr>
            <a:r>
              <a:rPr b="1" lang="en" sz="2600">
                <a:latin typeface="Spectral"/>
                <a:ea typeface="Spectral"/>
                <a:cs typeface="Spectral"/>
                <a:sym typeface="Spectral"/>
              </a:rPr>
              <a:t>PACKAGING - </a:t>
            </a:r>
            <a:r>
              <a:rPr lang="en" sz="2600">
                <a:latin typeface="Spectral"/>
                <a:ea typeface="Spectral"/>
                <a:cs typeface="Spectral"/>
                <a:sym typeface="Spectral"/>
              </a:rPr>
              <a:t>Knowing how to package it up for virality</a:t>
            </a:r>
            <a:endParaRPr sz="26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4" name="Google Shape;74;p15"/>
          <p:cNvSpPr txBox="1"/>
          <p:nvPr>
            <p:ph type="ctrTitle"/>
          </p:nvPr>
        </p:nvSpPr>
        <p:spPr>
          <a:xfrm>
            <a:off x="638025" y="124125"/>
            <a:ext cx="8117700" cy="11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There are 2 Parts to Viral Writing</a:t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5/36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9646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ctrTitle"/>
          </p:nvPr>
        </p:nvSpPr>
        <p:spPr>
          <a:xfrm>
            <a:off x="75650" y="966525"/>
            <a:ext cx="4678200" cy="14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●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No content ideas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●"/>
            </a:pPr>
            <a:r>
              <a:rPr lang="en" sz="1600">
                <a:latin typeface="Spectral"/>
                <a:ea typeface="Spectral"/>
                <a:cs typeface="Spectral"/>
                <a:sym typeface="Spectral"/>
              </a:rPr>
              <a:t>No idea how to make them go viral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2" name="Google Shape;82;p16"/>
          <p:cNvSpPr txBox="1"/>
          <p:nvPr>
            <p:ph type="ctrTitle"/>
          </p:nvPr>
        </p:nvSpPr>
        <p:spPr>
          <a:xfrm>
            <a:off x="5207636" y="1055950"/>
            <a:ext cx="4678200" cy="14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Pipeline FULL of content ideas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pectral"/>
              <a:buChar char="●"/>
            </a:pPr>
            <a:r>
              <a:rPr lang="en" sz="1500">
                <a:latin typeface="Spectral"/>
                <a:ea typeface="Spectral"/>
                <a:cs typeface="Spectral"/>
                <a:sym typeface="Spectral"/>
              </a:rPr>
              <a:t>Know how to add viral sauce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3" name="Google Shape;83;p16"/>
          <p:cNvSpPr txBox="1"/>
          <p:nvPr>
            <p:ph type="ctrTitle"/>
          </p:nvPr>
        </p:nvSpPr>
        <p:spPr>
          <a:xfrm>
            <a:off x="-2157104" y="-1043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You now</a:t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5/36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94225" y="1008625"/>
            <a:ext cx="294175" cy="699300"/>
          </a:xfrm>
          <a:custGeom>
            <a:rect b="b" l="l" r="r" t="t"/>
            <a:pathLst>
              <a:path extrusionOk="0" h="27972" w="11767">
                <a:moveTo>
                  <a:pt x="11767" y="27972"/>
                </a:moveTo>
                <a:cubicBezTo>
                  <a:pt x="10160" y="25014"/>
                  <a:pt x="4083" y="14886"/>
                  <a:pt x="2122" y="10224"/>
                </a:cubicBezTo>
                <a:cubicBezTo>
                  <a:pt x="161" y="5562"/>
                  <a:pt x="354" y="1704"/>
                  <a:pt x="0" y="0"/>
                </a:cubicBezTo>
              </a:path>
            </a:pathLst>
          </a:custGeom>
          <a:noFill/>
          <a:ln cap="flat" cmpd="sng" w="9525">
            <a:solidFill>
              <a:srgbClr val="1F8FFF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86" name="Google Shape;86;p16"/>
          <p:cNvSpPr/>
          <p:nvPr/>
        </p:nvSpPr>
        <p:spPr>
          <a:xfrm>
            <a:off x="6878200" y="1107100"/>
            <a:ext cx="501575" cy="670375"/>
          </a:xfrm>
          <a:custGeom>
            <a:rect b="b" l="l" r="r" t="t"/>
            <a:pathLst>
              <a:path extrusionOk="0" h="26815" w="20063">
                <a:moveTo>
                  <a:pt x="20063" y="0"/>
                </a:moveTo>
                <a:cubicBezTo>
                  <a:pt x="19356" y="3055"/>
                  <a:pt x="19163" y="13858"/>
                  <a:pt x="15819" y="18327"/>
                </a:cubicBezTo>
                <a:cubicBezTo>
                  <a:pt x="12475" y="22796"/>
                  <a:pt x="2637" y="25400"/>
                  <a:pt x="0" y="26815"/>
                </a:cubicBezTo>
              </a:path>
            </a:pathLst>
          </a:custGeom>
          <a:noFill/>
          <a:ln cap="flat" cmpd="sng" w="9525">
            <a:solidFill>
              <a:srgbClr val="1F8F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7" name="Google Shape;87;p16"/>
          <p:cNvSpPr txBox="1"/>
          <p:nvPr>
            <p:ph type="ctrTitle"/>
          </p:nvPr>
        </p:nvSpPr>
        <p:spPr>
          <a:xfrm>
            <a:off x="2516771" y="-10860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You in 1 hour</a:t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22750" l="0" r="0" t="0"/>
          <a:stretch/>
        </p:blipFill>
        <p:spPr>
          <a:xfrm>
            <a:off x="1714500" y="2476450"/>
            <a:ext cx="5715000" cy="28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0" y="-2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452175" y="1121882"/>
            <a:ext cx="85206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Lato"/>
                <a:ea typeface="Lato"/>
                <a:cs typeface="Lato"/>
                <a:sym typeface="Lato"/>
              </a:rPr>
              <a:t>Finding stuff to write about...</a:t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6/36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5708750" y="3244588"/>
            <a:ext cx="19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23248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type="ctrTitle"/>
          </p:nvPr>
        </p:nvSpPr>
        <p:spPr>
          <a:xfrm>
            <a:off x="452175" y="1652332"/>
            <a:ext cx="85206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B...bu...but… I’m not an expert! </a:t>
            </a:r>
            <a:endParaRPr sz="3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What do I write about? </a:t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6/36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type="ctrTitle"/>
          </p:nvPr>
        </p:nvSpPr>
        <p:spPr>
          <a:xfrm>
            <a:off x="311700" y="194850"/>
            <a:ext cx="8520600" cy="76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Types of Content Creators</a:t>
            </a:r>
            <a:endParaRPr sz="3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9"/>
          <p:cNvSpPr txBox="1"/>
          <p:nvPr>
            <p:ph idx="1" type="subTitle"/>
          </p:nvPr>
        </p:nvSpPr>
        <p:spPr>
          <a:xfrm>
            <a:off x="1990075" y="3977125"/>
            <a:ext cx="33150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Generous expert</a:t>
            </a:r>
            <a:endParaRPr sz="22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354" y="1126625"/>
            <a:ext cx="19790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2270377" y="4089732"/>
            <a:ext cx="300300" cy="313500"/>
          </a:xfrm>
          <a:prstGeom prst="ellipse">
            <a:avLst/>
          </a:prstGeom>
          <a:solidFill>
            <a:srgbClr val="0066DE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6DE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2290329" y="4036721"/>
            <a:ext cx="2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1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375" y="1885700"/>
            <a:ext cx="1201575" cy="370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idx="1" type="subTitle"/>
          </p:nvPr>
        </p:nvSpPr>
        <p:spPr>
          <a:xfrm>
            <a:off x="6159787" y="1814579"/>
            <a:ext cx="33150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Curious Beginner</a:t>
            </a:r>
            <a:endParaRPr sz="22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354252" y="1934604"/>
            <a:ext cx="300300" cy="313500"/>
          </a:xfrm>
          <a:prstGeom prst="ellipse">
            <a:avLst/>
          </a:prstGeom>
          <a:solidFill>
            <a:srgbClr val="0066DE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6DE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6374191" y="1886416"/>
            <a:ext cx="2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2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>
            <p:ph type="ctrTitle"/>
          </p:nvPr>
        </p:nvSpPr>
        <p:spPr>
          <a:xfrm>
            <a:off x="311700" y="194850"/>
            <a:ext cx="8520600" cy="76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Types of Content Creators</a:t>
            </a:r>
            <a:endParaRPr sz="3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20"/>
          <p:cNvSpPr txBox="1"/>
          <p:nvPr>
            <p:ph idx="1" type="subTitle"/>
          </p:nvPr>
        </p:nvSpPr>
        <p:spPr>
          <a:xfrm>
            <a:off x="4572000" y="1463800"/>
            <a:ext cx="4854900" cy="13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(+ Stunt Devils</a:t>
            </a:r>
            <a:endParaRPr sz="22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+Analysts with Attitude</a:t>
            </a:r>
            <a:br>
              <a:rPr lang="en" sz="22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en" sz="22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&amp; Meme lords)</a:t>
            </a:r>
            <a:endParaRPr sz="22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144" y="1872614"/>
            <a:ext cx="2392725" cy="2382100"/>
          </a:xfrm>
          <a:prstGeom prst="rect">
            <a:avLst/>
          </a:prstGeom>
          <a:noFill/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type="ctrTitle"/>
          </p:nvPr>
        </p:nvSpPr>
        <p:spPr>
          <a:xfrm>
            <a:off x="311700" y="194850"/>
            <a:ext cx="8520600" cy="76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Generous Experts</a:t>
            </a:r>
            <a:endParaRPr sz="3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354" y="1126625"/>
            <a:ext cx="197904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1675" y="1332563"/>
            <a:ext cx="2728426" cy="8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5638" y="2386785"/>
            <a:ext cx="2652724" cy="91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8075" y="3544900"/>
            <a:ext cx="2835631" cy="9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0925" y="1332575"/>
            <a:ext cx="2296979" cy="9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>
            <p:ph type="ctrTitle"/>
          </p:nvPr>
        </p:nvSpPr>
        <p:spPr>
          <a:xfrm>
            <a:off x="311700" y="194850"/>
            <a:ext cx="8520600" cy="76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Curious Beginners</a:t>
            </a:r>
            <a:endParaRPr sz="3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9/36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375" y="1885700"/>
            <a:ext cx="1201575" cy="370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6159787" y="1814579"/>
            <a:ext cx="33150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Curious Beginner</a:t>
            </a:r>
            <a:endParaRPr sz="22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6354252" y="1934604"/>
            <a:ext cx="300300" cy="313500"/>
          </a:xfrm>
          <a:prstGeom prst="ellipse">
            <a:avLst/>
          </a:prstGeom>
          <a:solidFill>
            <a:srgbClr val="0066DE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6DE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6374191" y="1886416"/>
            <a:ext cx="2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2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675" y="3462375"/>
            <a:ext cx="3446851" cy="10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 rotWithShape="1">
          <a:blip r:embed="rId5">
            <a:alphaModFix/>
          </a:blip>
          <a:srcRect b="11810" l="2630" r="-2630" t="-11810"/>
          <a:stretch/>
        </p:blipFill>
        <p:spPr>
          <a:xfrm>
            <a:off x="562750" y="2248099"/>
            <a:ext cx="2712821" cy="9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7832" y="2730713"/>
            <a:ext cx="2254475" cy="20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15375" y="1519250"/>
            <a:ext cx="1303125" cy="1229075"/>
          </a:xfrm>
          <a:prstGeom prst="rect">
            <a:avLst/>
          </a:prstGeom>
          <a:noFill/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250" y="565150"/>
            <a:ext cx="4041500" cy="454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>
            <p:ph type="ctrTitle"/>
          </p:nvPr>
        </p:nvSpPr>
        <p:spPr>
          <a:xfrm>
            <a:off x="244181" y="613375"/>
            <a:ext cx="2630100" cy="13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3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You’re an expert in your life </a:t>
            </a:r>
            <a:r>
              <a:rPr lang="en" sz="313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experiences</a:t>
            </a:r>
            <a:endParaRPr sz="313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3"/>
          <p:cNvSpPr txBox="1"/>
          <p:nvPr>
            <p:ph idx="1" type="subTitle"/>
          </p:nvPr>
        </p:nvSpPr>
        <p:spPr>
          <a:xfrm>
            <a:off x="6609150" y="509550"/>
            <a:ext cx="2268300" cy="23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you’re a </a:t>
            </a: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beginner</a:t>
            </a: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in everything else.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10/36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4150500" y="1345552"/>
            <a:ext cx="27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Comic Sans MS"/>
                <a:ea typeface="Comic Sans MS"/>
                <a:cs typeface="Comic Sans MS"/>
                <a:sym typeface="Comic Sans MS"/>
              </a:rPr>
              <a:t>STORIES BANK</a:t>
            </a:r>
            <a:endParaRPr b="1" sz="1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 txBox="1"/>
          <p:nvPr>
            <p:ph type="ctrTitle"/>
          </p:nvPr>
        </p:nvSpPr>
        <p:spPr>
          <a:xfrm>
            <a:off x="311700" y="-1131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Lato"/>
                <a:ea typeface="Lato"/>
                <a:cs typeface="Lato"/>
                <a:sym typeface="Lato"/>
              </a:rPr>
              <a:t>Content generator</a:t>
            </a:r>
            <a:endParaRPr b="1"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4"/>
          <p:cNvSpPr txBox="1"/>
          <p:nvPr>
            <p:ph idx="1" type="subTitle"/>
          </p:nvPr>
        </p:nvSpPr>
        <p:spPr>
          <a:xfrm>
            <a:off x="959250" y="1773500"/>
            <a:ext cx="7225500" cy="26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First               </a:t>
            </a:r>
            <a:r>
              <a:rPr lang="en" sz="3100">
                <a:solidFill>
                  <a:srgbClr val="0066DE"/>
                </a:solidFill>
              </a:rPr>
              <a:t>→ ________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Last                </a:t>
            </a:r>
            <a:r>
              <a:rPr lang="en" sz="3100">
                <a:solidFill>
                  <a:srgbClr val="0066DE"/>
                </a:solidFill>
              </a:rPr>
              <a:t>→ </a:t>
            </a:r>
            <a:r>
              <a:rPr lang="en" sz="3100">
                <a:solidFill>
                  <a:srgbClr val="0066DE"/>
                </a:solidFill>
              </a:rPr>
              <a:t>________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Best               </a:t>
            </a:r>
            <a:r>
              <a:rPr lang="en" sz="3100">
                <a:solidFill>
                  <a:srgbClr val="0066DE"/>
                </a:solidFill>
              </a:rPr>
              <a:t>→ </a:t>
            </a:r>
            <a:r>
              <a:rPr lang="en" sz="3100">
                <a:solidFill>
                  <a:srgbClr val="0066DE"/>
                </a:solidFill>
              </a:rPr>
              <a:t>________</a:t>
            </a:r>
            <a:b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Worst           </a:t>
            </a:r>
            <a:r>
              <a:rPr lang="en" sz="3100">
                <a:solidFill>
                  <a:srgbClr val="0066DE"/>
                </a:solidFill>
              </a:rPr>
              <a:t>→ </a:t>
            </a:r>
            <a:r>
              <a:rPr lang="en" sz="3100">
                <a:solidFill>
                  <a:srgbClr val="0066DE"/>
                </a:solidFill>
              </a:rPr>
              <a:t>________</a:t>
            </a:r>
            <a:b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Weirdest    </a:t>
            </a:r>
            <a:r>
              <a:rPr lang="en" sz="3100">
                <a:solidFill>
                  <a:srgbClr val="0066DE"/>
                </a:solidFill>
              </a:rPr>
              <a:t>→ </a:t>
            </a:r>
            <a:r>
              <a:rPr lang="en" sz="3100">
                <a:solidFill>
                  <a:srgbClr val="0066DE"/>
                </a:solidFill>
              </a:rPr>
              <a:t>________</a:t>
            </a:r>
            <a:endParaRPr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4"/>
          <p:cNvSpPr txBox="1"/>
          <p:nvPr>
            <p:ph idx="1" type="subTitle"/>
          </p:nvPr>
        </p:nvSpPr>
        <p:spPr>
          <a:xfrm>
            <a:off x="-144000" y="1032100"/>
            <a:ext cx="92880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Job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Investment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Skill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Thing I learned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Advice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Book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Thing I made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Side hustle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11/36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 txBox="1"/>
          <p:nvPr>
            <p:ph type="ctrTitle"/>
          </p:nvPr>
        </p:nvSpPr>
        <p:spPr>
          <a:xfrm>
            <a:off x="311700" y="-1131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Lato"/>
                <a:ea typeface="Lato"/>
                <a:cs typeface="Lato"/>
                <a:sym typeface="Lato"/>
              </a:rPr>
              <a:t>Content generator: Jeffrey</a:t>
            </a:r>
            <a:endParaRPr b="1"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5"/>
          <p:cNvSpPr txBox="1"/>
          <p:nvPr>
            <p:ph idx="1" type="subTitle"/>
          </p:nvPr>
        </p:nvSpPr>
        <p:spPr>
          <a:xfrm>
            <a:off x="382925" y="1773500"/>
            <a:ext cx="7801800" cy="26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First               </a:t>
            </a:r>
            <a:r>
              <a:rPr lang="en" sz="3100">
                <a:solidFill>
                  <a:srgbClr val="0066DE"/>
                </a:solidFill>
              </a:rPr>
              <a:t>→ Bailing hay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Last                </a:t>
            </a:r>
            <a:r>
              <a:rPr lang="en" sz="3100">
                <a:solidFill>
                  <a:srgbClr val="0066DE"/>
                </a:solidFill>
              </a:rPr>
              <a:t>→ build houses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Best               </a:t>
            </a:r>
            <a:r>
              <a:rPr lang="en" sz="3100">
                <a:solidFill>
                  <a:srgbClr val="0066DE"/>
                </a:solidFill>
              </a:rPr>
              <a:t>→ Raft guide in tennessee</a:t>
            </a:r>
            <a:b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Worst           </a:t>
            </a:r>
            <a:r>
              <a:rPr lang="en" sz="3100">
                <a:solidFill>
                  <a:srgbClr val="0066DE"/>
                </a:solidFill>
              </a:rPr>
              <a:t>→ Ad agency strategist</a:t>
            </a:r>
            <a:b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Weirdest    </a:t>
            </a:r>
            <a:r>
              <a:rPr lang="en" sz="3100">
                <a:solidFill>
                  <a:srgbClr val="0066DE"/>
                </a:solidFill>
              </a:rPr>
              <a:t>→ English teacher in Mongolia</a:t>
            </a:r>
            <a:endParaRPr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5"/>
          <p:cNvSpPr txBox="1"/>
          <p:nvPr>
            <p:ph idx="1" type="subTitle"/>
          </p:nvPr>
        </p:nvSpPr>
        <p:spPr>
          <a:xfrm>
            <a:off x="-144000" y="1032100"/>
            <a:ext cx="92880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Job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Investment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Skill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Thing I learned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Advice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Book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Thing I made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Side hustle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11/36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>
            <p:ph type="ctrTitle"/>
          </p:nvPr>
        </p:nvSpPr>
        <p:spPr>
          <a:xfrm>
            <a:off x="311700" y="-1131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1F8FFF"/>
                </a:solidFill>
                <a:latin typeface="Lato"/>
                <a:ea typeface="Lato"/>
                <a:cs typeface="Lato"/>
                <a:sym typeface="Lato"/>
              </a:rPr>
              <a:t>Example: Bebo</a:t>
            </a:r>
            <a:endParaRPr b="1" sz="3800">
              <a:solidFill>
                <a:srgbClr val="1F8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887250" y="2189250"/>
            <a:ext cx="7225500" cy="26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First               </a:t>
            </a:r>
            <a:r>
              <a:rPr lang="en" sz="2400">
                <a:solidFill>
                  <a:srgbClr val="0066DE"/>
                </a:solidFill>
              </a:rPr>
              <a:t>→ 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Last                </a:t>
            </a:r>
            <a:r>
              <a:rPr lang="en" sz="2400">
                <a:solidFill>
                  <a:srgbClr val="0066DE"/>
                </a:solidFill>
              </a:rPr>
              <a:t>→ 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Best               </a:t>
            </a:r>
            <a:r>
              <a:rPr lang="en" sz="2400">
                <a:solidFill>
                  <a:srgbClr val="0066DE"/>
                </a:solidFill>
              </a:rPr>
              <a:t>→ </a:t>
            </a:r>
            <a:endParaRPr sz="2400">
              <a:solidFill>
                <a:srgbClr val="0066D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Weirdest    </a:t>
            </a:r>
            <a:r>
              <a:rPr lang="en" sz="2400">
                <a:solidFill>
                  <a:srgbClr val="0066DE"/>
                </a:solidFill>
              </a:rPr>
              <a:t>→ </a:t>
            </a:r>
            <a:endParaRPr sz="24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-144000" y="1032100"/>
            <a:ext cx="92880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Milestones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Hire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Customer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3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Growth Tactic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Mistake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Investor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Product or Feature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Competitor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Ad </a:t>
            </a:r>
            <a:r>
              <a:rPr lang="en" sz="23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lang="en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Office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11/36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7"/>
          <p:cNvSpPr txBox="1"/>
          <p:nvPr>
            <p:ph type="ctrTitle"/>
          </p:nvPr>
        </p:nvSpPr>
        <p:spPr>
          <a:xfrm>
            <a:off x="345400" y="60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ACTION TIME… </a:t>
            </a:r>
            <a:br>
              <a:rPr lang="en" sz="408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" sz="408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Make yours: </a:t>
            </a:r>
            <a:r>
              <a:rPr b="1" lang="en" sz="20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https://swiy.io/pwcontentgenerator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^make a copy in google docs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12/36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7"/>
          <p:cNvSpPr txBox="1"/>
          <p:nvPr>
            <p:ph idx="1" type="subTitle"/>
          </p:nvPr>
        </p:nvSpPr>
        <p:spPr>
          <a:xfrm>
            <a:off x="1068725" y="2189250"/>
            <a:ext cx="7746000" cy="26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First               </a:t>
            </a:r>
            <a:r>
              <a:rPr lang="en" sz="3100">
                <a:solidFill>
                  <a:schemeClr val="lt1"/>
                </a:solidFill>
              </a:rPr>
              <a:t>→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Last                </a:t>
            </a:r>
            <a:r>
              <a:rPr lang="en" sz="3100">
                <a:solidFill>
                  <a:schemeClr val="lt1"/>
                </a:solidFill>
              </a:rPr>
              <a:t>→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Best               </a:t>
            </a:r>
            <a:r>
              <a:rPr lang="en" sz="3100">
                <a:solidFill>
                  <a:schemeClr val="lt1"/>
                </a:solidFill>
              </a:rPr>
              <a:t>→ </a:t>
            </a:r>
            <a:b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Worst           </a:t>
            </a:r>
            <a:r>
              <a:rPr lang="en" sz="3100">
                <a:solidFill>
                  <a:schemeClr val="lt1"/>
                </a:solidFill>
              </a:rPr>
              <a:t>→ </a:t>
            </a:r>
            <a:b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Weirdest    </a:t>
            </a:r>
            <a:r>
              <a:rPr lang="en" sz="3100">
                <a:solidFill>
                  <a:schemeClr val="lt1"/>
                </a:solidFill>
              </a:rPr>
              <a:t>→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 txBox="1"/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First Side Hustle           →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" sz="2190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 sz="2190">
                <a:latin typeface="Lato"/>
                <a:ea typeface="Lato"/>
                <a:cs typeface="Lato"/>
                <a:sym typeface="Lato"/>
              </a:rPr>
              <a:t>lack jack card counting on riverboat</a:t>
            </a:r>
            <a:endParaRPr sz="219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Last Side 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Hustle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            →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   Podcast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 </a:t>
            </a:r>
            <a:endParaRPr sz="249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Best Side 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Hustle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           →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   A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ll access pass</a:t>
            </a:r>
            <a:endParaRPr sz="249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Worst Side 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Hustle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       →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" sz="2390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 sz="2390">
                <a:latin typeface="Lato"/>
                <a:ea typeface="Lato"/>
                <a:cs typeface="Lato"/>
                <a:sym typeface="Lato"/>
              </a:rPr>
              <a:t>lack jack card counting</a:t>
            </a:r>
            <a:endParaRPr sz="239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Weirdest Side 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Hustle</a:t>
            </a:r>
            <a:r>
              <a:rPr lang="en" sz="249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 →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  F</a:t>
            </a:r>
            <a:r>
              <a:rPr lang="en" sz="2490">
                <a:latin typeface="Lato"/>
                <a:ea typeface="Lato"/>
                <a:cs typeface="Lato"/>
                <a:sym typeface="Lato"/>
              </a:rPr>
              <a:t>at bands</a:t>
            </a:r>
            <a:endParaRPr sz="209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15/36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8"/>
          <p:cNvSpPr txBox="1"/>
          <p:nvPr>
            <p:ph idx="1" type="subTitle"/>
          </p:nvPr>
        </p:nvSpPr>
        <p:spPr>
          <a:xfrm>
            <a:off x="311700" y="346391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Example: Shaan Puri @shaanvp</a:t>
            </a:r>
            <a:endParaRPr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-24900" y="3508050"/>
            <a:ext cx="91938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1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Content ideas:</a:t>
            </a:r>
            <a:endParaRPr sz="171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71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"/>
              <a:buFont typeface="Lato"/>
              <a:buChar char="●"/>
            </a:pPr>
            <a:r>
              <a:rPr lang="en" sz="171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My 48 hour side hustle (Fat Bands) </a:t>
            </a:r>
            <a:endParaRPr sz="171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71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"/>
              <a:buFont typeface="Lato"/>
              <a:buChar char="●"/>
            </a:pPr>
            <a:r>
              <a:rPr lang="en" sz="171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Card Counting Gone Wrong (funny story) </a:t>
            </a:r>
            <a:endParaRPr sz="171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71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"/>
              <a:buFont typeface="Lato"/>
              <a:buChar char="●"/>
            </a:pPr>
            <a:r>
              <a:rPr lang="en" sz="171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 to have a full time job but only work a couple hours a week</a:t>
            </a:r>
            <a:endParaRPr sz="171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718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0"/>
              <a:buFont typeface="Lato"/>
              <a:buChar char="●"/>
            </a:pPr>
            <a:r>
              <a:rPr lang="en" sz="171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Why I shut down a newsletter making $50k/month</a:t>
            </a:r>
            <a:endParaRPr sz="171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16/36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9"/>
          <p:cNvSpPr txBox="1"/>
          <p:nvPr>
            <p:ph type="ctrTitle"/>
          </p:nvPr>
        </p:nvSpPr>
        <p:spPr>
          <a:xfrm>
            <a:off x="311708" y="287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80"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" sz="2580">
                <a:latin typeface="Lato"/>
                <a:ea typeface="Lato"/>
                <a:cs typeface="Lato"/>
                <a:sym typeface="Lato"/>
              </a:rPr>
              <a:t>veryone is an “</a:t>
            </a:r>
            <a:r>
              <a:rPr lang="en" sz="258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expert</a:t>
            </a:r>
            <a:r>
              <a:rPr lang="en" sz="2580">
                <a:latin typeface="Lato"/>
                <a:ea typeface="Lato"/>
                <a:cs typeface="Lato"/>
                <a:sym typeface="Lato"/>
              </a:rPr>
              <a:t>” from their own life </a:t>
            </a:r>
            <a:r>
              <a:rPr lang="en" sz="2580">
                <a:latin typeface="Lato"/>
                <a:ea typeface="Lato"/>
                <a:cs typeface="Lato"/>
                <a:sym typeface="Lato"/>
              </a:rPr>
              <a:t>experiences</a:t>
            </a:r>
            <a:r>
              <a:rPr lang="en" sz="2580">
                <a:latin typeface="Lato"/>
                <a:ea typeface="Lato"/>
                <a:cs typeface="Lato"/>
                <a:sym typeface="Lato"/>
              </a:rPr>
              <a:t>. </a:t>
            </a:r>
            <a:endParaRPr sz="25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80">
                <a:latin typeface="Lato"/>
                <a:ea typeface="Lato"/>
                <a:cs typeface="Lato"/>
                <a:sym typeface="Lato"/>
              </a:rPr>
              <a:t>You don’t need to be a billionaire to teach what you know!</a:t>
            </a:r>
            <a:endParaRPr sz="258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9"/>
          <p:cNvSpPr txBox="1"/>
          <p:nvPr>
            <p:ph idx="1" type="subTitle"/>
          </p:nvPr>
        </p:nvSpPr>
        <p:spPr>
          <a:xfrm>
            <a:off x="311700" y="2555787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Use:</a:t>
            </a:r>
            <a:endParaRPr sz="2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Spectral"/>
              <a:buChar char="●"/>
            </a:pPr>
            <a:r>
              <a:rPr lang="en" sz="2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Personal experiences</a:t>
            </a:r>
            <a:endParaRPr sz="2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Spectral"/>
              <a:buChar char="●"/>
            </a:pPr>
            <a:r>
              <a:rPr lang="en" sz="2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Small stories</a:t>
            </a:r>
            <a:endParaRPr sz="2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Spectral"/>
              <a:buChar char="●"/>
            </a:pPr>
            <a:r>
              <a:rPr lang="en" sz="2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First hand knowledge</a:t>
            </a:r>
            <a:endParaRPr sz="23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Spectral"/>
              <a:buChar char="●"/>
            </a:pPr>
            <a:r>
              <a:rPr lang="en" sz="23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Curiosity (go down rabbit holes, then summarize what you find) 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>
            <p:ph type="ctrTitle"/>
          </p:nvPr>
        </p:nvSpPr>
        <p:spPr>
          <a:xfrm>
            <a:off x="311700" y="-1698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Curious Beginner</a:t>
            </a:r>
            <a:endParaRPr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30"/>
          <p:cNvSpPr txBox="1"/>
          <p:nvPr>
            <p:ph idx="1" type="subTitle"/>
          </p:nvPr>
        </p:nvSpPr>
        <p:spPr>
          <a:xfrm>
            <a:off x="208950" y="2000160"/>
            <a:ext cx="8726100" cy="21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“I want to know X” 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“I’m going to deep dive”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“Follow along”  (build in public, learn in public)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17/36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1"/>
          <p:cNvSpPr txBox="1"/>
          <p:nvPr>
            <p:ph type="ctrTitle"/>
          </p:nvPr>
        </p:nvSpPr>
        <p:spPr>
          <a:xfrm>
            <a:off x="311700" y="-5150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Curious Beginner</a:t>
            </a:r>
            <a:endParaRPr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31"/>
          <p:cNvSpPr txBox="1"/>
          <p:nvPr>
            <p:ph idx="1" type="subTitle"/>
          </p:nvPr>
        </p:nvSpPr>
        <p:spPr>
          <a:xfrm>
            <a:off x="2342225" y="1960900"/>
            <a:ext cx="4249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Sleeping w/ Zach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18/36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3" name="Google Shape;2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225" y="2054749"/>
            <a:ext cx="9144001" cy="2729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 txBox="1"/>
          <p:nvPr>
            <p:ph type="ctrTitle"/>
          </p:nvPr>
        </p:nvSpPr>
        <p:spPr>
          <a:xfrm>
            <a:off x="311708" y="-609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Mining for Gold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12/36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375" y="1627450"/>
            <a:ext cx="5227260" cy="26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19/36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8" name="Google Shape;24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662" y="1628775"/>
            <a:ext cx="5478676" cy="188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4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19/36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5" name="Google Shape;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726" y="117575"/>
            <a:ext cx="1489377" cy="5127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78000" y="730400"/>
            <a:ext cx="2816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r/YouTubeHaiku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7" name="Google Shape;257;p34"/>
          <p:cNvSpPr txBox="1"/>
          <p:nvPr>
            <p:ph idx="1" type="subTitle"/>
          </p:nvPr>
        </p:nvSpPr>
        <p:spPr>
          <a:xfrm>
            <a:off x="3453025" y="630275"/>
            <a:ext cx="2816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r/AskReddit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8" name="Google Shape;258;p34"/>
          <p:cNvSpPr txBox="1"/>
          <p:nvPr>
            <p:ph idx="1" type="subTitle"/>
          </p:nvPr>
        </p:nvSpPr>
        <p:spPr>
          <a:xfrm>
            <a:off x="2431100" y="156300"/>
            <a:ext cx="2816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r/FatFire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9" name="Google Shape;259;p34"/>
          <p:cNvSpPr txBox="1"/>
          <p:nvPr>
            <p:ph idx="1" type="subTitle"/>
          </p:nvPr>
        </p:nvSpPr>
        <p:spPr>
          <a:xfrm>
            <a:off x="5960875" y="1023550"/>
            <a:ext cx="2816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r/MidlyInteresting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0" name="Google Shape;260;p34"/>
          <p:cNvSpPr txBox="1"/>
          <p:nvPr>
            <p:ph idx="1" type="subTitle"/>
          </p:nvPr>
        </p:nvSpPr>
        <p:spPr>
          <a:xfrm>
            <a:off x="5931200" y="219175"/>
            <a:ext cx="2816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etc...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5575" y="1590947"/>
            <a:ext cx="5172826" cy="16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/>
          <p:nvPr/>
        </p:nvSpPr>
        <p:spPr>
          <a:xfrm>
            <a:off x="3103550" y="3846375"/>
            <a:ext cx="1820700" cy="51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5563" y="3134471"/>
            <a:ext cx="5281950" cy="948050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4" name="Google Shape;264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0138" y="4082529"/>
            <a:ext cx="5172826" cy="916021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19/36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599" y="400025"/>
            <a:ext cx="6396499" cy="407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But if it’s already written..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Why should I write about it?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23/36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internet is a </a:t>
            </a: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big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noisy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place.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99% of people don’t see the best stuff.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23/36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06525" y="3663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(and even if they do, you can remix, simplify, or package it in a new way to a new group of people)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8"/>
          <p:cNvSpPr txBox="1"/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OK… so you have content ideas…</a:t>
            </a:r>
            <a:endParaRPr sz="4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Now what? </a:t>
            </a:r>
            <a:endParaRPr sz="4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24/36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9"/>
          <p:cNvSpPr txBox="1"/>
          <p:nvPr>
            <p:ph type="ctrTitle"/>
          </p:nvPr>
        </p:nvSpPr>
        <p:spPr>
          <a:xfrm>
            <a:off x="311708" y="1056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ato"/>
                <a:ea typeface="Lato"/>
                <a:cs typeface="Lato"/>
                <a:sym typeface="Lato"/>
              </a:rPr>
              <a:t>OK … so now I know what to talk about..</a:t>
            </a:r>
            <a:endParaRPr sz="2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9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what’s the secret to going viral?</a:t>
            </a:r>
            <a:endParaRPr sz="2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25/36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0"/>
          <p:cNvSpPr txBox="1"/>
          <p:nvPr>
            <p:ph type="ctrTitle"/>
          </p:nvPr>
        </p:nvSpPr>
        <p:spPr>
          <a:xfrm>
            <a:off x="311708" y="-5093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ato"/>
                <a:ea typeface="Lato"/>
                <a:cs typeface="Lato"/>
                <a:sym typeface="Lato"/>
              </a:rPr>
              <a:t>What’s the FIRST thing you do when you</a:t>
            </a:r>
            <a:r>
              <a:rPr lang="en" sz="29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9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start writing</a:t>
            </a:r>
            <a:r>
              <a:rPr lang="en" sz="2900">
                <a:latin typeface="Lato"/>
                <a:ea typeface="Lato"/>
                <a:cs typeface="Lato"/>
                <a:sym typeface="Lato"/>
              </a:rPr>
              <a:t>?</a:t>
            </a:r>
            <a:endParaRPr sz="2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40"/>
          <p:cNvSpPr txBox="1"/>
          <p:nvPr>
            <p:ph idx="1" type="subTitle"/>
          </p:nvPr>
        </p:nvSpPr>
        <p:spPr>
          <a:xfrm>
            <a:off x="311700" y="18435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ectral"/>
              <a:buAutoNum type="alphaLcParenR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Stare at blank page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ectral"/>
              <a:buAutoNum type="alphaLcParenR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Start procrastinating (cleaning, eating, youtube, etc.) 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ectral"/>
              <a:buAutoNum type="alphaLcParenR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Start writing the first paragraph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ectral"/>
              <a:buAutoNum type="alphaLcParenR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Write an outline? 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ectral"/>
              <a:buAutoNum type="alphaLcParenR"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None of the above? 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25/36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1"/>
          <p:cNvSpPr txBox="1"/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None of the above!</a:t>
            </a:r>
            <a:endParaRPr sz="4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26/36								            SHAANPURI.COM			 			       POWER WRITING COURSE</a:t>
            </a:r>
            <a:endParaRPr b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 txBox="1"/>
          <p:nvPr>
            <p:ph type="ctrTitle"/>
          </p:nvPr>
        </p:nvSpPr>
        <p:spPr>
          <a:xfrm>
            <a:off x="489208" y="-432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>
                <a:latin typeface="Lato"/>
                <a:ea typeface="Lato"/>
                <a:cs typeface="Lato"/>
                <a:sym typeface="Lato"/>
              </a:rPr>
              <a:t>The first thing to do, is to decide </a:t>
            </a:r>
            <a:r>
              <a:rPr lang="en" sz="318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what reaction</a:t>
            </a:r>
            <a:r>
              <a:rPr lang="en" sz="3180">
                <a:latin typeface="Lato"/>
                <a:ea typeface="Lato"/>
                <a:cs typeface="Lato"/>
                <a:sym typeface="Lato"/>
              </a:rPr>
              <a:t> you want the reader to have. </a:t>
            </a:r>
            <a:endParaRPr sz="318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27/36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5" name="Google Shape;32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700" y="2054175"/>
            <a:ext cx="6250578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3"/>
          <p:cNvSpPr txBox="1"/>
          <p:nvPr>
            <p:ph type="ctrTitle"/>
          </p:nvPr>
        </p:nvSpPr>
        <p:spPr>
          <a:xfrm>
            <a:off x="311708" y="-174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Key word: “</a:t>
            </a: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Reaction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”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43"/>
          <p:cNvSpPr txBox="1"/>
          <p:nvPr>
            <p:ph idx="1" type="subTitle"/>
          </p:nvPr>
        </p:nvSpPr>
        <p:spPr>
          <a:xfrm>
            <a:off x="311700" y="2148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It’s ok if they hate it. It’s ok if they love it. </a:t>
            </a:r>
            <a:b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As long as they </a:t>
            </a:r>
            <a:r>
              <a:rPr lang="en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don’t ignore it</a:t>
            </a: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 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28/36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4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4"/>
          <p:cNvSpPr txBox="1"/>
          <p:nvPr>
            <p:ph idx="4294967295" type="ctrTitle"/>
          </p:nvPr>
        </p:nvSpPr>
        <p:spPr>
          <a:xfrm>
            <a:off x="0" y="4853400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44"/>
          <p:cNvSpPr txBox="1"/>
          <p:nvPr/>
        </p:nvSpPr>
        <p:spPr>
          <a:xfrm>
            <a:off x="793200" y="92400"/>
            <a:ext cx="755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Power writers want </a:t>
            </a:r>
            <a:r>
              <a:rPr lang="en" sz="18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action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Action comes from </a:t>
            </a:r>
            <a:r>
              <a:rPr lang="en" sz="18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emotion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2" name="Google Shape;34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538" y="1459875"/>
            <a:ext cx="6342927" cy="22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5"/>
          <p:cNvSpPr txBox="1"/>
          <p:nvPr>
            <p:ph type="ctrTitle"/>
          </p:nvPr>
        </p:nvSpPr>
        <p:spPr>
          <a:xfrm>
            <a:off x="311708" y="-9473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This is </a:t>
            </a:r>
            <a:r>
              <a:rPr lang="en" sz="4300">
                <a:solidFill>
                  <a:srgbClr val="0066DE"/>
                </a:solidFill>
              </a:rPr>
              <a:t>not</a:t>
            </a:r>
            <a:r>
              <a:rPr lang="en" sz="4300"/>
              <a:t> your audience.</a:t>
            </a:r>
            <a:endParaRPr sz="4300"/>
          </a:p>
        </p:txBody>
      </p:sp>
      <p:pic>
        <p:nvPicPr>
          <p:cNvPr id="349" name="Google Shape;349;p45"/>
          <p:cNvPicPr preferRelativeResize="0"/>
          <p:nvPr/>
        </p:nvPicPr>
        <p:blipFill rotWithShape="1">
          <a:blip r:embed="rId3">
            <a:alphaModFix/>
          </a:blip>
          <a:srcRect b="0" l="36664" r="0" t="0"/>
          <a:stretch/>
        </p:blipFill>
        <p:spPr>
          <a:xfrm>
            <a:off x="4531050" y="1333875"/>
            <a:ext cx="4004777" cy="28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5"/>
          <p:cNvSpPr txBox="1"/>
          <p:nvPr/>
        </p:nvSpPr>
        <p:spPr>
          <a:xfrm>
            <a:off x="4398938" y="4353725"/>
            <a:ext cx="42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School Teacher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51" name="Google Shape;35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33875"/>
            <a:ext cx="4235900" cy="28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5"/>
          <p:cNvSpPr txBox="1"/>
          <p:nvPr/>
        </p:nvSpPr>
        <p:spPr>
          <a:xfrm>
            <a:off x="135850" y="4353725"/>
            <a:ext cx="42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Literary Critic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3" name="Google Shape;353;p45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29/36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6"/>
          <p:cNvSpPr txBox="1"/>
          <p:nvPr>
            <p:ph type="ctrTitle"/>
          </p:nvPr>
        </p:nvSpPr>
        <p:spPr>
          <a:xfrm>
            <a:off x="311700" y="-9748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</a:rPr>
              <a:t>This is.</a:t>
            </a:r>
            <a:endParaRPr>
              <a:solidFill>
                <a:srgbClr val="0066DE"/>
              </a:solidFill>
            </a:endParaRPr>
          </a:p>
        </p:txBody>
      </p:sp>
      <p:pic>
        <p:nvPicPr>
          <p:cNvPr id="360" name="Google Shape;36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125" y="1308500"/>
            <a:ext cx="3143225" cy="29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6"/>
          <p:cNvPicPr preferRelativeResize="0"/>
          <p:nvPr/>
        </p:nvPicPr>
        <p:blipFill rotWithShape="1">
          <a:blip r:embed="rId4">
            <a:alphaModFix/>
          </a:blip>
          <a:srcRect b="0" l="0" r="-28650" t="0"/>
          <a:stretch/>
        </p:blipFill>
        <p:spPr>
          <a:xfrm>
            <a:off x="5074800" y="1308500"/>
            <a:ext cx="4431924" cy="295462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6"/>
          <p:cNvSpPr txBox="1"/>
          <p:nvPr/>
        </p:nvSpPr>
        <p:spPr>
          <a:xfrm>
            <a:off x="323238" y="4353725"/>
            <a:ext cx="42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Debbie at her Desk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4680421" y="4353725"/>
            <a:ext cx="42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Jenny in her bedroom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30/36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7"/>
          <p:cNvSpPr txBox="1"/>
          <p:nvPr>
            <p:ph type="ctrTitle"/>
          </p:nvPr>
        </p:nvSpPr>
        <p:spPr>
          <a:xfrm>
            <a:off x="233529" y="152400"/>
            <a:ext cx="4260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How </a:t>
            </a: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most people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write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47"/>
          <p:cNvSpPr txBox="1"/>
          <p:nvPr>
            <p:ph type="ctrTitle"/>
          </p:nvPr>
        </p:nvSpPr>
        <p:spPr>
          <a:xfrm>
            <a:off x="4572004" y="152400"/>
            <a:ext cx="4260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How </a:t>
            </a: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Viral Writers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write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" name="Google Shape;372;p47"/>
          <p:cNvSpPr txBox="1"/>
          <p:nvPr/>
        </p:nvSpPr>
        <p:spPr>
          <a:xfrm>
            <a:off x="769475" y="2868700"/>
            <a:ext cx="3188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“ Hmmm.. What do i want to say?”</a:t>
            </a:r>
            <a:endParaRPr sz="25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3" name="Google Shape;373;p47"/>
          <p:cNvSpPr txBox="1"/>
          <p:nvPr/>
        </p:nvSpPr>
        <p:spPr>
          <a:xfrm>
            <a:off x="4842150" y="2571750"/>
            <a:ext cx="372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“ Hmmm.. what reaction do I want the reader to have?”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That’s what gets Jenny in her bedroom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Want to </a:t>
            </a:r>
            <a:r>
              <a:rPr lang="en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share with her friends</a:t>
            </a:r>
            <a:endParaRPr>
              <a:solidFill>
                <a:srgbClr val="0066DE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Spectral"/>
                <a:ea typeface="Spectral"/>
                <a:cs typeface="Spectral"/>
                <a:sym typeface="Spectral"/>
              </a:rPr>
            </a:br>
            <a:r>
              <a:rPr lang="en">
                <a:latin typeface="Spectral"/>
                <a:ea typeface="Spectral"/>
                <a:cs typeface="Spectral"/>
                <a:sym typeface="Spectral"/>
              </a:rPr>
              <a:t>That’s what gets Debbie who’s bored at her desk, </a:t>
            </a:r>
            <a:r>
              <a:rPr lang="en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share with her coworkers</a:t>
            </a:r>
            <a:endParaRPr>
              <a:solidFill>
                <a:srgbClr val="0066DE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4" name="Google Shape;374;p47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30/36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8"/>
          <p:cNvSpPr txBox="1"/>
          <p:nvPr>
            <p:ph type="ctrTitle"/>
          </p:nvPr>
        </p:nvSpPr>
        <p:spPr>
          <a:xfrm>
            <a:off x="311708" y="191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Most people </a:t>
            </a: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think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writing is about words &amp; information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That’s true, </a:t>
            </a: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for encyclopedias</a:t>
            </a:r>
            <a:endParaRPr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30/36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9"/>
          <p:cNvSpPr txBox="1"/>
          <p:nvPr>
            <p:ph type="ctrTitle"/>
          </p:nvPr>
        </p:nvSpPr>
        <p:spPr>
          <a:xfrm>
            <a:off x="1260000" y="1634650"/>
            <a:ext cx="2661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Normal writers</a:t>
            </a:r>
            <a:endParaRPr sz="288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/>
          </a:p>
        </p:txBody>
      </p:sp>
      <p:pic>
        <p:nvPicPr>
          <p:cNvPr id="388" name="Google Shape;38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785" y="1580700"/>
            <a:ext cx="1662025" cy="169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9"/>
          <p:cNvSpPr txBox="1"/>
          <p:nvPr>
            <p:ph type="ctrTitle"/>
          </p:nvPr>
        </p:nvSpPr>
        <p:spPr>
          <a:xfrm>
            <a:off x="5222400" y="1634650"/>
            <a:ext cx="2661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Power </a:t>
            </a:r>
            <a:r>
              <a:rPr lang="en" sz="288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writers</a:t>
            </a:r>
            <a:endParaRPr sz="288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/>
          </a:p>
        </p:txBody>
      </p:sp>
      <p:pic>
        <p:nvPicPr>
          <p:cNvPr id="390" name="Google Shape;39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185" y="1456250"/>
            <a:ext cx="2608010" cy="20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9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34/36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2" name="Google Shape;392;p49"/>
          <p:cNvPicPr preferRelativeResize="0"/>
          <p:nvPr/>
        </p:nvPicPr>
        <p:blipFill rotWithShape="1">
          <a:blip r:embed="rId5">
            <a:alphaModFix/>
          </a:blip>
          <a:srcRect b="0" l="0" r="0" t="12395"/>
          <a:stretch/>
        </p:blipFill>
        <p:spPr>
          <a:xfrm>
            <a:off x="1402600" y="3560425"/>
            <a:ext cx="6481399" cy="12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0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0"/>
          <p:cNvSpPr txBox="1"/>
          <p:nvPr>
            <p:ph type="ctrTitle"/>
          </p:nvPr>
        </p:nvSpPr>
        <p:spPr>
          <a:xfrm>
            <a:off x="1260000" y="1634650"/>
            <a:ext cx="71145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>
                <a:latin typeface="Lato"/>
                <a:ea typeface="Lato"/>
                <a:cs typeface="Lato"/>
                <a:sym typeface="Lato"/>
              </a:rPr>
              <a:t>“95% of decision making takes place in the </a:t>
            </a:r>
            <a:r>
              <a:rPr lang="en" sz="2880">
                <a:latin typeface="Lato"/>
                <a:ea typeface="Lato"/>
                <a:cs typeface="Lato"/>
                <a:sym typeface="Lato"/>
              </a:rPr>
              <a:t>subconscious</a:t>
            </a:r>
            <a:r>
              <a:rPr lang="en" sz="2880">
                <a:latin typeface="Lato"/>
                <a:ea typeface="Lato"/>
                <a:cs typeface="Lato"/>
                <a:sym typeface="Lato"/>
              </a:rPr>
              <a:t> mind - from emotions not rational logic” -</a:t>
            </a:r>
            <a:r>
              <a:rPr lang="en" sz="288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Harvard Business School</a:t>
            </a:r>
            <a:endParaRPr sz="2880">
              <a:solidFill>
                <a:schemeClr val="accent1"/>
              </a:solidFill>
            </a:endParaRPr>
          </a:p>
        </p:txBody>
      </p:sp>
      <p:sp>
        <p:nvSpPr>
          <p:cNvPr id="399" name="Google Shape;399;p50"/>
          <p:cNvSpPr txBox="1"/>
          <p:nvPr>
            <p:ph type="ctrTitle"/>
          </p:nvPr>
        </p:nvSpPr>
        <p:spPr>
          <a:xfrm>
            <a:off x="3241200" y="0"/>
            <a:ext cx="2661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Why go for emotion?</a:t>
            </a:r>
            <a:endParaRPr sz="2880"/>
          </a:p>
        </p:txBody>
      </p:sp>
      <p:sp>
        <p:nvSpPr>
          <p:cNvPr id="400" name="Google Shape;400;p50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34/36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1"/>
          <p:cNvSpPr txBox="1"/>
          <p:nvPr>
            <p:ph idx="4294967295" type="ctrTitle"/>
          </p:nvPr>
        </p:nvSpPr>
        <p:spPr>
          <a:xfrm>
            <a:off x="0" y="4853400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7" name="Google Shape;40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937" y="1501649"/>
            <a:ext cx="6542123" cy="21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2"/>
          <p:cNvSpPr txBox="1"/>
          <p:nvPr>
            <p:ph type="ctrTitle"/>
          </p:nvPr>
        </p:nvSpPr>
        <p:spPr>
          <a:xfrm>
            <a:off x="311700" y="-871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So.. how do I do it?</a:t>
            </a:r>
            <a:endParaRPr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52"/>
          <p:cNvSpPr txBox="1"/>
          <p:nvPr>
            <p:ph idx="1" type="subTitle"/>
          </p:nvPr>
        </p:nvSpPr>
        <p:spPr>
          <a:xfrm>
            <a:off x="437700" y="1233275"/>
            <a:ext cx="8520600" cy="31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There are 8 core emotions that power writers target: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sp>
        <p:nvSpPr>
          <p:cNvPr id="415" name="Google Shape;415;p52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6" name="Google Shape;41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125" y="1859400"/>
            <a:ext cx="56388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3"/>
          <p:cNvSpPr/>
          <p:nvPr/>
        </p:nvSpPr>
        <p:spPr>
          <a:xfrm>
            <a:off x="975450" y="568800"/>
            <a:ext cx="7193100" cy="4005900"/>
          </a:xfrm>
          <a:prstGeom prst="roundRect">
            <a:avLst>
              <a:gd fmla="val 2266" name="adj"/>
            </a:avLst>
          </a:prstGeom>
          <a:solidFill>
            <a:schemeClr val="lt1"/>
          </a:solidFill>
          <a:ln cap="flat" cmpd="sng" w="9525">
            <a:solidFill>
              <a:srgbClr val="006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3"/>
          <p:cNvSpPr txBox="1"/>
          <p:nvPr>
            <p:ph idx="4294967295" type="ctrTitle"/>
          </p:nvPr>
        </p:nvSpPr>
        <p:spPr>
          <a:xfrm>
            <a:off x="0" y="4853400"/>
            <a:ext cx="9144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1716450" y="92400"/>
            <a:ext cx="571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 you should use this framework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5" name="Google Shape;42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90" y="588725"/>
            <a:ext cx="6691220" cy="39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50" y="1162550"/>
            <a:ext cx="4553850" cy="317757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4"/>
          <p:cNvSpPr txBox="1"/>
          <p:nvPr/>
        </p:nvSpPr>
        <p:spPr>
          <a:xfrm>
            <a:off x="202950" y="224825"/>
            <a:ext cx="87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="1" lang="en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xample: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This is my draft for the clubhouse thread I wrote that went super viral (10M+ views)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3" name="Google Shape;43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8837" y="1162550"/>
            <a:ext cx="3928124" cy="17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4"/>
          <p:cNvSpPr/>
          <p:nvPr/>
        </p:nvSpPr>
        <p:spPr>
          <a:xfrm>
            <a:off x="7214900" y="1445400"/>
            <a:ext cx="1528500" cy="666900"/>
          </a:xfrm>
          <a:prstGeom prst="ellipse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6203" y="3322025"/>
            <a:ext cx="4350747" cy="10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4"/>
          <p:cNvSpPr/>
          <p:nvPr/>
        </p:nvSpPr>
        <p:spPr>
          <a:xfrm>
            <a:off x="5235650" y="3398450"/>
            <a:ext cx="1608300" cy="730500"/>
          </a:xfrm>
          <a:prstGeom prst="ellipse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4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5"/>
          <p:cNvSpPr txBox="1"/>
          <p:nvPr>
            <p:ph type="ctrTitle"/>
          </p:nvPr>
        </p:nvSpPr>
        <p:spPr>
          <a:xfrm>
            <a:off x="311708" y="-484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Even though you know the technique</a:t>
            </a:r>
            <a:endParaRPr sz="44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You’ll </a:t>
            </a:r>
            <a:r>
              <a:rPr lang="en" sz="44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suck at first.</a:t>
            </a:r>
            <a:endParaRPr sz="44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p55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55"/>
          <p:cNvSpPr txBox="1"/>
          <p:nvPr>
            <p:ph idx="1" type="subTitle"/>
          </p:nvPr>
        </p:nvSpPr>
        <p:spPr>
          <a:xfrm>
            <a:off x="471500" y="13690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It takes practice to be able to hit those emotions. 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446" name="Google Shape;44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051" y="2241200"/>
            <a:ext cx="5221902" cy="230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6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6"/>
          <p:cNvSpPr txBox="1"/>
          <p:nvPr>
            <p:ph type="ctrTitle"/>
          </p:nvPr>
        </p:nvSpPr>
        <p:spPr>
          <a:xfrm>
            <a:off x="413008" y="-1037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ato"/>
                <a:ea typeface="Lato"/>
                <a:cs typeface="Lato"/>
                <a:sym typeface="Lato"/>
              </a:rPr>
              <a:t>Nope. I tried to go viral. 20 attempts, </a:t>
            </a:r>
            <a:r>
              <a:rPr lang="en" sz="3400">
                <a:solidFill>
                  <a:srgbClr val="1F8FFF"/>
                </a:solidFill>
                <a:latin typeface="Lato"/>
                <a:ea typeface="Lato"/>
                <a:cs typeface="Lato"/>
                <a:sym typeface="Lato"/>
              </a:rPr>
              <a:t>5 Hits</a:t>
            </a:r>
            <a:endParaRPr sz="3400">
              <a:solidFill>
                <a:srgbClr val="1F8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56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4/36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" name="Google Shape;454;p56"/>
          <p:cNvSpPr txBox="1"/>
          <p:nvPr/>
        </p:nvSpPr>
        <p:spPr>
          <a:xfrm>
            <a:off x="110925" y="4534050"/>
            <a:ext cx="39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6B2B3"/>
                </a:solidFill>
                <a:latin typeface="Spectral"/>
                <a:ea typeface="Spectral"/>
                <a:cs typeface="Spectral"/>
                <a:sym typeface="Spectral"/>
              </a:rPr>
              <a:t>*Click on the tweets to view in Twitter</a:t>
            </a:r>
            <a:endParaRPr sz="1000">
              <a:solidFill>
                <a:srgbClr val="B6B2B3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455" name="Google Shape;455;p5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811" y="1191250"/>
            <a:ext cx="3000424" cy="1518850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6" name="Google Shape;456;p56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8189" y="2982176"/>
            <a:ext cx="3000426" cy="1092600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7" name="Google Shape;457;p56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81280" y="1490250"/>
            <a:ext cx="2416474" cy="2367501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8" name="Google Shape;458;p56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5354" y="2954009"/>
            <a:ext cx="3030200" cy="119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6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1547825" y="995625"/>
            <a:ext cx="1085700" cy="4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"/>
          <p:cNvSpPr/>
          <p:nvPr/>
        </p:nvSpPr>
        <p:spPr>
          <a:xfrm>
            <a:off x="0" y="9646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7"/>
          <p:cNvSpPr txBox="1"/>
          <p:nvPr>
            <p:ph type="ctrTitle"/>
          </p:nvPr>
        </p:nvSpPr>
        <p:spPr>
          <a:xfrm>
            <a:off x="0" y="2819400"/>
            <a:ext cx="4678200" cy="14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pectral"/>
                <a:ea typeface="Spectral"/>
                <a:cs typeface="Spectral"/>
                <a:sym typeface="Spectral"/>
              </a:rPr>
              <a:t>That didn’t come from constantly tweeting 10x a day.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66" name="Google Shape;466;p57"/>
          <p:cNvSpPr txBox="1"/>
          <p:nvPr>
            <p:ph type="ctrTitle"/>
          </p:nvPr>
        </p:nvSpPr>
        <p:spPr>
          <a:xfrm>
            <a:off x="4471686" y="2819400"/>
            <a:ext cx="4678200" cy="14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pectral"/>
                <a:ea typeface="Spectral"/>
                <a:cs typeface="Spectral"/>
                <a:sym typeface="Spectral"/>
              </a:rPr>
              <a:t>It came from </a:t>
            </a:r>
            <a:r>
              <a:rPr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5</a:t>
            </a:r>
            <a:r>
              <a:rPr lang="en" sz="2000"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threads</a:t>
            </a:r>
            <a:r>
              <a:rPr lang="en" sz="2000">
                <a:latin typeface="Spectral"/>
                <a:ea typeface="Spectral"/>
                <a:cs typeface="Spectral"/>
                <a:sym typeface="Spectral"/>
              </a:rPr>
              <a:t>, </a:t>
            </a:r>
            <a:r>
              <a:rPr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1x a month</a:t>
            </a:r>
            <a:r>
              <a:rPr lang="en" sz="2000">
                <a:latin typeface="Spectral"/>
                <a:ea typeface="Spectral"/>
                <a:cs typeface="Spectral"/>
                <a:sym typeface="Spectral"/>
              </a:rPr>
              <a:t>.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467" name="Google Shape;46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275" y="1346525"/>
            <a:ext cx="2973658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3696" y="1346525"/>
            <a:ext cx="2974176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7"/>
          <p:cNvSpPr txBox="1"/>
          <p:nvPr>
            <p:ph type="ctrTitle"/>
          </p:nvPr>
        </p:nvSpPr>
        <p:spPr>
          <a:xfrm>
            <a:off x="413008" y="-1037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Let that sink in</a:t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0" name="Google Shape;470;p57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5/36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57"/>
          <p:cNvSpPr/>
          <p:nvPr/>
        </p:nvSpPr>
        <p:spPr>
          <a:xfrm>
            <a:off x="2141325" y="1210525"/>
            <a:ext cx="294175" cy="699300"/>
          </a:xfrm>
          <a:custGeom>
            <a:rect b="b" l="l" r="r" t="t"/>
            <a:pathLst>
              <a:path extrusionOk="0" h="27972" w="11767">
                <a:moveTo>
                  <a:pt x="11767" y="27972"/>
                </a:moveTo>
                <a:cubicBezTo>
                  <a:pt x="10160" y="25014"/>
                  <a:pt x="4083" y="14886"/>
                  <a:pt x="2122" y="10224"/>
                </a:cubicBezTo>
                <a:cubicBezTo>
                  <a:pt x="161" y="5562"/>
                  <a:pt x="354" y="1704"/>
                  <a:pt x="0" y="0"/>
                </a:cubicBezTo>
              </a:path>
            </a:pathLst>
          </a:custGeom>
          <a:noFill/>
          <a:ln cap="flat" cmpd="sng" w="9525">
            <a:solidFill>
              <a:srgbClr val="1F8FFF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472" name="Google Shape;472;p57"/>
          <p:cNvSpPr/>
          <p:nvPr/>
        </p:nvSpPr>
        <p:spPr>
          <a:xfrm>
            <a:off x="1540619" y="1008626"/>
            <a:ext cx="1286100" cy="201900"/>
          </a:xfrm>
          <a:prstGeom prst="roundRect">
            <a:avLst>
              <a:gd fmla="val 16667" name="adj"/>
            </a:avLst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Don’t </a:t>
            </a: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 this guy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" name="Google Shape;473;p57"/>
          <p:cNvSpPr/>
          <p:nvPr/>
        </p:nvSpPr>
        <p:spPr>
          <a:xfrm>
            <a:off x="6646019" y="1015376"/>
            <a:ext cx="1286100" cy="201900"/>
          </a:xfrm>
          <a:prstGeom prst="roundRect">
            <a:avLst>
              <a:gd fmla="val 16667" name="adj"/>
            </a:avLst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 </a:t>
            </a: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guy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6751900" y="1224975"/>
            <a:ext cx="501575" cy="670375"/>
          </a:xfrm>
          <a:custGeom>
            <a:rect b="b" l="l" r="r" t="t"/>
            <a:pathLst>
              <a:path extrusionOk="0" h="26815" w="20063">
                <a:moveTo>
                  <a:pt x="20063" y="0"/>
                </a:moveTo>
                <a:cubicBezTo>
                  <a:pt x="19356" y="3055"/>
                  <a:pt x="19163" y="13858"/>
                  <a:pt x="15819" y="18327"/>
                </a:cubicBezTo>
                <a:cubicBezTo>
                  <a:pt x="12475" y="22796"/>
                  <a:pt x="2637" y="25400"/>
                  <a:pt x="0" y="26815"/>
                </a:cubicBezTo>
              </a:path>
            </a:pathLst>
          </a:custGeom>
          <a:noFill/>
          <a:ln cap="flat" cmpd="sng" w="9525">
            <a:solidFill>
              <a:srgbClr val="1F8F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5" name="Google Shape;475;p57"/>
          <p:cNvSpPr txBox="1"/>
          <p:nvPr>
            <p:ph type="ctrTitle"/>
          </p:nvPr>
        </p:nvSpPr>
        <p:spPr>
          <a:xfrm>
            <a:off x="497850" y="4153825"/>
            <a:ext cx="8148300" cy="79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ato"/>
                <a:ea typeface="Lato"/>
                <a:cs typeface="Lato"/>
                <a:sym typeface="Lato"/>
              </a:rPr>
              <a:t>That’s the power of viral content</a:t>
            </a:r>
            <a:endParaRPr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8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2" name="Google Shape;48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624" y="595102"/>
            <a:ext cx="5798750" cy="368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9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9" name="Google Shape;489;p59"/>
          <p:cNvSpPr txBox="1"/>
          <p:nvPr/>
        </p:nvSpPr>
        <p:spPr>
          <a:xfrm>
            <a:off x="1384625" y="522750"/>
            <a:ext cx="62091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Going viral on Twitter..</a:t>
            </a:r>
            <a:endParaRPr b="1" sz="4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Need a brave volunteer</a:t>
            </a:r>
            <a:endParaRPr b="1" sz="4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0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60"/>
          <p:cNvSpPr txBox="1"/>
          <p:nvPr/>
        </p:nvSpPr>
        <p:spPr>
          <a:xfrm>
            <a:off x="3274425" y="1576275"/>
            <a:ext cx="27693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THE HOOK</a:t>
            </a:r>
            <a:endParaRPr b="1" sz="47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1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" name="Google Shape;503;p61"/>
          <p:cNvSpPr txBox="1"/>
          <p:nvPr/>
        </p:nvSpPr>
        <p:spPr>
          <a:xfrm>
            <a:off x="1850550" y="897000"/>
            <a:ext cx="54429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What is the goal of the 1st tweet you write?</a:t>
            </a:r>
            <a:endParaRPr b="1" sz="47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2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62"/>
          <p:cNvSpPr txBox="1"/>
          <p:nvPr/>
        </p:nvSpPr>
        <p:spPr>
          <a:xfrm>
            <a:off x="2068275" y="461575"/>
            <a:ext cx="54429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The goal of tweet 1</a:t>
            </a:r>
            <a:endParaRPr b="1" sz="4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Is to get you to read tweet 2</a:t>
            </a:r>
            <a:endParaRPr b="1" sz="47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3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7" name="Google Shape;517;p63"/>
          <p:cNvSpPr txBox="1"/>
          <p:nvPr/>
        </p:nvSpPr>
        <p:spPr>
          <a:xfrm>
            <a:off x="2068275" y="461575"/>
            <a:ext cx="54429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The goal of tweet 2</a:t>
            </a:r>
            <a:endParaRPr b="1" sz="4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/>
              <a:t>Is to get you to read tweet 3</a:t>
            </a:r>
            <a:endParaRPr b="1" sz="47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4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4" name="Google Shape;524;p64"/>
          <p:cNvSpPr txBox="1"/>
          <p:nvPr/>
        </p:nvSpPr>
        <p:spPr>
          <a:xfrm>
            <a:off x="1693825" y="217725"/>
            <a:ext cx="63615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This creates a slippery slope. </a:t>
            </a:r>
            <a:br>
              <a:rPr b="1" lang="en" sz="3700"/>
            </a:br>
            <a:br>
              <a:rPr b="1" lang="en" sz="3700"/>
            </a:br>
            <a:r>
              <a:rPr b="1" lang="en" sz="3700"/>
              <a:t>Instead of begging people to read</a:t>
            </a:r>
            <a:endParaRPr b="1" sz="3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3700"/>
            </a:br>
            <a:r>
              <a:rPr b="1" lang="en" sz="3700"/>
              <a:t>Readers are begging you for the payoff</a:t>
            </a:r>
            <a:endParaRPr b="1" sz="37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5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" name="Google Shape;531;p65"/>
          <p:cNvSpPr txBox="1"/>
          <p:nvPr/>
        </p:nvSpPr>
        <p:spPr>
          <a:xfrm>
            <a:off x="1598025" y="-156750"/>
            <a:ext cx="6361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Let’s re-write the thread</a:t>
            </a:r>
            <a:endParaRPr b="1"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00"/>
          </a:p>
        </p:txBody>
      </p:sp>
      <p:pic>
        <p:nvPicPr>
          <p:cNvPr id="532" name="Google Shape;53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49" y="656275"/>
            <a:ext cx="3538799" cy="46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5"/>
          <p:cNvSpPr txBox="1"/>
          <p:nvPr/>
        </p:nvSpPr>
        <p:spPr>
          <a:xfrm>
            <a:off x="4640250" y="843675"/>
            <a:ext cx="416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haven’t talked about this publicly ever..but finally, I’m ready to do it. </a:t>
            </a:r>
            <a:br>
              <a:rPr lang="en"/>
            </a:br>
            <a:br>
              <a:rPr lang="en"/>
            </a:br>
            <a:r>
              <a:rPr lang="en"/>
              <a:t>This is the crazy story of how I raised $3M on kickstart for just an idea in my head…and screwed myself into an “Impossible Situation”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6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6"/>
          <p:cNvSpPr txBox="1"/>
          <p:nvPr>
            <p:ph type="ctrTitle"/>
          </p:nvPr>
        </p:nvSpPr>
        <p:spPr>
          <a:xfrm>
            <a:off x="1776550" y="-653125"/>
            <a:ext cx="48681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Examples of Great Hooks</a:t>
            </a:r>
            <a:endParaRPr sz="2880"/>
          </a:p>
        </p:txBody>
      </p:sp>
      <p:sp>
        <p:nvSpPr>
          <p:cNvPr id="540" name="Google Shape;540;p66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34/36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41" name="Google Shape;54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648" y="1535750"/>
            <a:ext cx="3091550" cy="3807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551" y="1477854"/>
            <a:ext cx="2377000" cy="1884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0600" y="2918855"/>
            <a:ext cx="3000001" cy="2012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3663" y="628850"/>
            <a:ext cx="3513875" cy="123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673" y="587825"/>
            <a:ext cx="3794974" cy="368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0625" y="1221375"/>
            <a:ext cx="2415350" cy="283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8"/>
          <p:cNvSpPr txBox="1"/>
          <p:nvPr>
            <p:ph type="ctrTitle"/>
          </p:nvPr>
        </p:nvSpPr>
        <p:spPr>
          <a:xfrm>
            <a:off x="405558" y="-904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DE"/>
                </a:solidFill>
              </a:rPr>
              <a:t>Summary: </a:t>
            </a:r>
            <a:endParaRPr>
              <a:solidFill>
                <a:srgbClr val="0066DE"/>
              </a:solidFill>
            </a:endParaRPr>
          </a:p>
        </p:txBody>
      </p:sp>
      <p:sp>
        <p:nvSpPr>
          <p:cNvPr id="558" name="Google Shape;558;p68"/>
          <p:cNvSpPr txBox="1"/>
          <p:nvPr>
            <p:ph idx="1" type="subTitle"/>
          </p:nvPr>
        </p:nvSpPr>
        <p:spPr>
          <a:xfrm>
            <a:off x="405550" y="1264236"/>
            <a:ext cx="8520600" cy="30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ectral"/>
              <a:buAutoNum type="arabicParenR"/>
            </a:pP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Writing is more fun &amp; valuable when you have a big audience. Invest in learning how to grow your audience thru viral content.</a:t>
            </a:r>
            <a:endParaRPr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arenR"/>
            </a:pP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To go viral, </a:t>
            </a:r>
            <a:r>
              <a:rPr b="1"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generate interesting ideas</a:t>
            </a: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and slingshot it with </a:t>
            </a:r>
            <a:r>
              <a:rPr b="1"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emotion</a:t>
            </a: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</a:t>
            </a:r>
            <a:endParaRPr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ectral"/>
              <a:buAutoNum type="arabicParenR"/>
            </a:pP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To find interesting things, </a:t>
            </a:r>
            <a:r>
              <a:rPr b="1"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look inwards</a:t>
            </a: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(personal experiences) or </a:t>
            </a:r>
            <a:r>
              <a:rPr b="1"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mine the internet for gold you can remix</a:t>
            </a:r>
            <a:r>
              <a:rPr b="1"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 </a:t>
            </a:r>
            <a:endParaRPr b="1"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ectral"/>
              <a:buAutoNum type="arabicParenR"/>
            </a:pP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When it’s time to write, </a:t>
            </a:r>
            <a:r>
              <a:rPr lang="en" sz="2000">
                <a:solidFill>
                  <a:srgbClr val="0066DE"/>
                </a:solidFill>
                <a:latin typeface="Spectral"/>
                <a:ea typeface="Spectral"/>
                <a:cs typeface="Spectral"/>
                <a:sym typeface="Spectral"/>
              </a:rPr>
              <a:t>start with the end reaction</a:t>
            </a:r>
            <a:r>
              <a:rPr lang="en" sz="20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you want your reader to have.</a:t>
            </a:r>
            <a:endParaRPr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66DE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59" name="Google Shape;559;p68"/>
          <p:cNvSpPr txBox="1"/>
          <p:nvPr>
            <p:ph type="ctrTitle"/>
          </p:nvPr>
        </p:nvSpPr>
        <p:spPr>
          <a:xfrm>
            <a:off x="0" y="4624800"/>
            <a:ext cx="91440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2/36								            SHAANPURI.COM						   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0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0"/>
          <p:cNvSpPr/>
          <p:nvPr/>
        </p:nvSpPr>
        <p:spPr>
          <a:xfrm>
            <a:off x="0" y="4823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0"/>
          <p:cNvSpPr txBox="1"/>
          <p:nvPr>
            <p:ph type="ctrTitle"/>
          </p:nvPr>
        </p:nvSpPr>
        <p:spPr>
          <a:xfrm>
            <a:off x="443750" y="397782"/>
            <a:ext cx="8520600" cy="10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ato"/>
                <a:ea typeface="Lato"/>
                <a:cs typeface="Lato"/>
                <a:sym typeface="Lato"/>
              </a:rPr>
              <a:t>My intern grew from </a:t>
            </a:r>
            <a:r>
              <a:rPr lang="en" sz="38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2k → 48k in 3 months doing the same thing</a:t>
            </a:r>
            <a:endParaRPr sz="38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71" name="Google Shape;571;p7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4400" y="1498612"/>
            <a:ext cx="5635375" cy="2963650"/>
          </a:xfrm>
          <a:prstGeom prst="rect">
            <a:avLst/>
          </a:prstGeom>
          <a:noFill/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2" name="Google Shape;572;p70"/>
          <p:cNvSpPr txBox="1"/>
          <p:nvPr/>
        </p:nvSpPr>
        <p:spPr>
          <a:xfrm>
            <a:off x="0" y="4872740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6/36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71"/>
          <p:cNvSpPr txBox="1"/>
          <p:nvPr>
            <p:ph type="ctrTitle"/>
          </p:nvPr>
        </p:nvSpPr>
        <p:spPr>
          <a:xfrm>
            <a:off x="413008" y="3999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ato"/>
                <a:ea typeface="Lato"/>
                <a:cs typeface="Lato"/>
                <a:sym typeface="Lato"/>
              </a:rPr>
              <a:t>I wanted an audience. </a:t>
            </a:r>
            <a:endParaRPr sz="3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4 months later</a:t>
            </a:r>
            <a:r>
              <a:rPr lang="en" sz="3000">
                <a:latin typeface="Lato"/>
                <a:ea typeface="Lato"/>
                <a:cs typeface="Lato"/>
                <a:sym typeface="Lato"/>
              </a:rPr>
              <a:t> I had </a:t>
            </a:r>
            <a:r>
              <a:rPr lang="en" sz="30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100k</a:t>
            </a:r>
            <a:r>
              <a:rPr lang="en" sz="3000">
                <a:latin typeface="Lato"/>
                <a:ea typeface="Lato"/>
                <a:cs typeface="Lato"/>
                <a:sym typeface="Lato"/>
              </a:rPr>
              <a:t> new followers. How?</a:t>
            </a:r>
            <a:endParaRPr sz="3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9" name="Google Shape;579;p71"/>
          <p:cNvSpPr txBox="1"/>
          <p:nvPr/>
        </p:nvSpPr>
        <p:spPr>
          <a:xfrm>
            <a:off x="0" y="4887209"/>
            <a:ext cx="9144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6B2B3"/>
                </a:solidFill>
                <a:latin typeface="Lato"/>
                <a:ea typeface="Lato"/>
                <a:cs typeface="Lato"/>
                <a:sym typeface="Lato"/>
              </a:rPr>
              <a:t>    3/36								            SHAANPURI.COM			 			       POWER WRITING COURSE</a:t>
            </a:r>
            <a:endParaRPr b="1" sz="900">
              <a:solidFill>
                <a:srgbClr val="B6B2B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0" name="Google Shape;580;p71"/>
          <p:cNvPicPr preferRelativeResize="0"/>
          <p:nvPr/>
        </p:nvPicPr>
        <p:blipFill rotWithShape="1">
          <a:blip r:embed="rId3">
            <a:alphaModFix/>
          </a:blip>
          <a:srcRect b="0" l="0" r="348" t="0"/>
          <a:stretch/>
        </p:blipFill>
        <p:spPr>
          <a:xfrm>
            <a:off x="251912" y="1522075"/>
            <a:ext cx="8640176" cy="29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71"/>
          <p:cNvSpPr/>
          <p:nvPr/>
        </p:nvSpPr>
        <p:spPr>
          <a:xfrm>
            <a:off x="7706695" y="3209201"/>
            <a:ext cx="748810" cy="389730"/>
          </a:xfrm>
          <a:custGeom>
            <a:rect b="b" l="l" r="r" t="t"/>
            <a:pathLst>
              <a:path extrusionOk="0" h="13503" w="27972">
                <a:moveTo>
                  <a:pt x="0" y="0"/>
                </a:moveTo>
                <a:cubicBezTo>
                  <a:pt x="2347" y="1415"/>
                  <a:pt x="9421" y="6238"/>
                  <a:pt x="14083" y="8488"/>
                </a:cubicBezTo>
                <a:cubicBezTo>
                  <a:pt x="18745" y="10739"/>
                  <a:pt x="25657" y="12667"/>
                  <a:pt x="27972" y="13503"/>
                </a:cubicBezTo>
              </a:path>
            </a:pathLst>
          </a:custGeom>
          <a:noFill/>
          <a:ln cap="flat" cmpd="sng" w="9525">
            <a:solidFill>
              <a:srgbClr val="0066DE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82" name="Google Shape;582;p71"/>
          <p:cNvSpPr/>
          <p:nvPr/>
        </p:nvSpPr>
        <p:spPr>
          <a:xfrm>
            <a:off x="7038594" y="3007276"/>
            <a:ext cx="1286100" cy="201900"/>
          </a:xfrm>
          <a:prstGeom prst="roundRect">
            <a:avLst>
              <a:gd fmla="val 16667" name="adj"/>
            </a:avLst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 “decided” to grow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3" name="Google Shape;58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9697" y="2370275"/>
            <a:ext cx="21771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25" y="-33337"/>
            <a:ext cx="9262525" cy="521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