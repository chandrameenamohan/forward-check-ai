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Lst>
  <p:sldSz cy="5143500" cx="9144000"/>
  <p:notesSz cx="6858000" cy="9144000"/>
  <p:embeddedFontLst>
    <p:embeddedFont>
      <p:font typeface="Proxima Nova"/>
      <p:regular r:id="rId72"/>
      <p:bold r:id="rId73"/>
      <p:italic r:id="rId74"/>
      <p:boldItalic r:id="rId75"/>
    </p:embeddedFont>
    <p:embeddedFont>
      <p:font typeface="Lato"/>
      <p:regular r:id="rId76"/>
      <p:bold r:id="rId77"/>
      <p:italic r:id="rId78"/>
      <p:boldItalic r:id="rId79"/>
    </p:embeddedFont>
    <p:embeddedFont>
      <p:font typeface="Spectral"/>
      <p:regular r:id="rId80"/>
      <p:bold r:id="rId81"/>
      <p:italic r:id="rId82"/>
      <p:boldItalic r:id="rId8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3" Type="http://schemas.openxmlformats.org/officeDocument/2006/relationships/font" Target="fonts/Spectral-boldItalic.fntdata"/><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font" Target="fonts/Spectral-regular.fntdata"/><Relationship Id="rId82" Type="http://schemas.openxmlformats.org/officeDocument/2006/relationships/font" Target="fonts/Spectral-italic.fntdata"/><Relationship Id="rId81" Type="http://schemas.openxmlformats.org/officeDocument/2006/relationships/font" Target="fonts/Spectral-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ProximaNova-bold.fntdata"/><Relationship Id="rId72" Type="http://schemas.openxmlformats.org/officeDocument/2006/relationships/font" Target="fonts/ProximaNova-regular.fntdata"/><Relationship Id="rId31" Type="http://schemas.openxmlformats.org/officeDocument/2006/relationships/slide" Target="slides/slide26.xml"/><Relationship Id="rId75" Type="http://schemas.openxmlformats.org/officeDocument/2006/relationships/font" Target="fonts/ProximaNova-boldItalic.fntdata"/><Relationship Id="rId30" Type="http://schemas.openxmlformats.org/officeDocument/2006/relationships/slide" Target="slides/slide25.xml"/><Relationship Id="rId74" Type="http://schemas.openxmlformats.org/officeDocument/2006/relationships/font" Target="fonts/ProximaNova-italic.fntdata"/><Relationship Id="rId33" Type="http://schemas.openxmlformats.org/officeDocument/2006/relationships/slide" Target="slides/slide28.xml"/><Relationship Id="rId77" Type="http://schemas.openxmlformats.org/officeDocument/2006/relationships/font" Target="fonts/Lato-bold.fntdata"/><Relationship Id="rId32" Type="http://schemas.openxmlformats.org/officeDocument/2006/relationships/slide" Target="slides/slide27.xml"/><Relationship Id="rId76" Type="http://schemas.openxmlformats.org/officeDocument/2006/relationships/font" Target="fonts/Lato-regular.fntdata"/><Relationship Id="rId35" Type="http://schemas.openxmlformats.org/officeDocument/2006/relationships/slide" Target="slides/slide30.xml"/><Relationship Id="rId79" Type="http://schemas.openxmlformats.org/officeDocument/2006/relationships/font" Target="fonts/Lato-boldItalic.fntdata"/><Relationship Id="rId34" Type="http://schemas.openxmlformats.org/officeDocument/2006/relationships/slide" Target="slides/slide29.xml"/><Relationship Id="rId78" Type="http://schemas.openxmlformats.org/officeDocument/2006/relationships/font" Target="fonts/Lato-italic.fntdata"/><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5" name="Google Shape;5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df3ebe291d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df3ebe291d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df3ebe291d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df3ebe291d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dd98af50e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dd98af50e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df3ebe291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df3ebe291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df3ebe291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df3ebe291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dd9a757757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dd9a757757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df3ebe291d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df3ebe291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e199c7e66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e199c7e66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df3ebe291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df3ebe291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df3ebe291d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df3ebe291d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e04ca99ba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e04ca99ba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dfc1e06d9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dfc1e06d9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df3ebe291d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df3ebe291d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df3ebe291d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df3ebe291d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df3ebe291d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df3ebe291d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df3ebe291d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df3ebe291d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de9a49c8af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de9a49c8a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df3ebe291d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df3ebe291d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df3ebe291d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df3ebe291d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114b37d4eb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114b37d4eb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de9a49c8af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de9a49c8af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dfc1e06d9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dfc1e06d9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dd9a757757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dd9a757757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df3ebe291d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df3ebe291d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e01db7677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e01db7677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dd9a75775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dd9a75775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e19f49318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e19f49318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e19f493183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e19f493183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e975bcd43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e975bcd43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dda804956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dda804956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df3ebe291d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df3ebe291d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e965274442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e96527444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e96527444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e96527444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e965274442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e96527444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e965274442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e965274442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e965274442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e965274442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e965274442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e965274442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e965274442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e965274442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e975bcd439_1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e975bcd439_1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e975bcd439_1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e975bcd439_1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e965274442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e965274442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e965274442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e965274442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e975bcd439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e975bcd439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e965274442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e965274442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e965274442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e965274442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e965274442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e965274442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e965274442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e965274442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e965274442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e965274442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e965274442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e965274442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e965274442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e965274442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e965274442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e965274442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e965274442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e965274442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e965274442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e965274442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e965274442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e965274442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e965274442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e965274442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e965274442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e965274442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e965274442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e965274442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116f819784e_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116f819784e_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e965274442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e965274442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e965274442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e965274442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e965274442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e965274442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e965274442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e965274442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e965274442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e965274442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e965274442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e965274442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e965274442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e965274442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 name="Google Shape;14;p2"/>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15" name="Google Shape;15;p2"/>
          <p:cNvSpPr/>
          <p:nvPr/>
        </p:nvSpPr>
        <p:spPr>
          <a:xfrm>
            <a:off x="0" y="0"/>
            <a:ext cx="9144000" cy="5143500"/>
          </a:xfrm>
          <a:prstGeom prst="rect">
            <a:avLst/>
          </a:prstGeom>
          <a:solidFill>
            <a:srgbClr val="F7F1F1"/>
          </a:solidFill>
          <a:ln cap="flat" cmpd="sng" w="9525">
            <a:solidFill>
              <a:srgbClr val="F7F1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5" name="Shape 35"/>
        <p:cNvGrpSpPr/>
        <p:nvPr/>
      </p:nvGrpSpPr>
      <p:grpSpPr>
        <a:xfrm>
          <a:off x="0" y="0"/>
          <a:ext cx="0" cy="0"/>
          <a:chOff x="0" y="0"/>
          <a:chExt cx="0" cy="0"/>
        </a:xfrm>
      </p:grpSpPr>
      <p:sp>
        <p:nvSpPr>
          <p:cNvPr id="36" name="Google Shape;36;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1" name="Google Shape;41;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3" name="Google Shape;43;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6" name="Google Shape;46;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9" name="Google Shape;49;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0" name="Google Shape;50;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1" name="Shape 51"/>
        <p:cNvGrpSpPr/>
        <p:nvPr/>
      </p:nvGrpSpPr>
      <p:grpSpPr>
        <a:xfrm>
          <a:off x="0" y="0"/>
          <a:ext cx="0" cy="0"/>
          <a:chOff x="0" y="0"/>
          <a:chExt cx="0" cy="0"/>
        </a:xfrm>
      </p:grpSpPr>
      <p:sp>
        <p:nvSpPr>
          <p:cNvPr id="52" name="Google Shape;52;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p:nvPr/>
        </p:nvSpPr>
        <p:spPr>
          <a:xfrm>
            <a:off x="0" y="0"/>
            <a:ext cx="9144000" cy="5143500"/>
          </a:xfrm>
          <a:prstGeom prst="rect">
            <a:avLst/>
          </a:prstGeom>
          <a:solidFill>
            <a:srgbClr val="F7F1F1"/>
          </a:solidFill>
          <a:ln cap="flat" cmpd="sng" w="9525">
            <a:solidFill>
              <a:srgbClr val="F7F1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s://dilbertblog.typepad.com/the_dilbert_blog/2007/06/the_day_you_bec.html" TargetMode="External"/><Relationship Id="rId4" Type="http://schemas.openxmlformats.org/officeDocument/2006/relationships/hyperlink" Target="https://www.linkedin.com/pulse/amp-up-frank-slootman/" TargetMode="External"/><Relationship Id="rId9" Type="http://schemas.openxmlformats.org/officeDocument/2006/relationships/hyperlink" Target="http://www.paulgraham.com/hs.html" TargetMode="External"/><Relationship Id="rId5" Type="http://schemas.openxmlformats.org/officeDocument/2006/relationships/hyperlink" Target="https://medium.com/@stewart/we-dont-sell-saddles-here-4c59524d650d" TargetMode="External"/><Relationship Id="rId6" Type="http://schemas.openxmlformats.org/officeDocument/2006/relationships/hyperlink" Target="https://morgancrozier.com/boron-letters/" TargetMode="External"/><Relationship Id="rId7" Type="http://schemas.openxmlformats.org/officeDocument/2006/relationships/hyperlink" Target="http://www.theantimba.com/copywriting-skills/" TargetMode="External"/><Relationship Id="rId8" Type="http://schemas.openxmlformats.org/officeDocument/2006/relationships/hyperlink" Target="https://twitter.com/naval/status/1002103360646823936?lang=en"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6.png"/><Relationship Id="rId4" Type="http://schemas.openxmlformats.org/officeDocument/2006/relationships/hyperlink" Target="http://byronm.com/13sentences.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hyperlink" Target="https://hemingwayapp.com/" TargetMode="External"/><Relationship Id="rId4" Type="http://schemas.openxmlformats.org/officeDocument/2006/relationships/hyperlink" Target="https://hemingwayapp.com/"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5.xml"/><Relationship Id="rId3" Type="http://schemas.openxmlformats.org/officeDocument/2006/relationships/image" Target="../media/image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5.png"/><Relationship Id="rId4" Type="http://schemas.openxmlformats.org/officeDocument/2006/relationships/image" Target="../media/image1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13"/>
          <p:cNvSpPr/>
          <p:nvPr/>
        </p:nvSpPr>
        <p:spPr>
          <a:xfrm>
            <a:off x="0" y="0"/>
            <a:ext cx="9144000" cy="5143500"/>
          </a:xfrm>
          <a:prstGeom prst="rect">
            <a:avLst/>
          </a:prstGeom>
          <a:solidFill>
            <a:srgbClr val="1F8FFF"/>
          </a:solidFill>
          <a:ln cap="flat" cmpd="sng" w="9525">
            <a:solidFill>
              <a:srgbClr val="1F8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3"/>
          <p:cNvSpPr txBox="1"/>
          <p:nvPr>
            <p:ph type="ctrTitle"/>
          </p:nvPr>
        </p:nvSpPr>
        <p:spPr>
          <a:xfrm>
            <a:off x="311700" y="591550"/>
            <a:ext cx="3332400" cy="2096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t/>
            </a:r>
            <a:endParaRPr sz="3880" u="sng">
              <a:solidFill>
                <a:schemeClr val="lt1"/>
              </a:solidFill>
              <a:latin typeface="Lato"/>
              <a:ea typeface="Lato"/>
              <a:cs typeface="Lato"/>
              <a:sym typeface="Lato"/>
            </a:endParaRPr>
          </a:p>
          <a:p>
            <a:pPr indent="0" lvl="0" marL="0" rtl="0" algn="ctr">
              <a:spcBef>
                <a:spcPts val="0"/>
              </a:spcBef>
              <a:spcAft>
                <a:spcPts val="0"/>
              </a:spcAft>
              <a:buSzPts val="990"/>
              <a:buNone/>
            </a:pPr>
            <a:r>
              <a:rPr lang="en" sz="3880">
                <a:solidFill>
                  <a:schemeClr val="lt1"/>
                </a:solidFill>
                <a:latin typeface="Lato"/>
                <a:ea typeface="Lato"/>
                <a:cs typeface="Lato"/>
                <a:sym typeface="Lato"/>
              </a:rPr>
              <a:t>Habits of a Power Writer</a:t>
            </a:r>
            <a:endParaRPr sz="3880">
              <a:solidFill>
                <a:schemeClr val="lt1"/>
              </a:solidFill>
              <a:latin typeface="Lato"/>
              <a:ea typeface="Lato"/>
              <a:cs typeface="Lato"/>
              <a:sym typeface="Lato"/>
            </a:endParaRPr>
          </a:p>
        </p:txBody>
      </p:sp>
      <p:sp>
        <p:nvSpPr>
          <p:cNvPr id="59" name="Google Shape;59;p13"/>
          <p:cNvSpPr txBox="1"/>
          <p:nvPr>
            <p:ph type="ctrTitle"/>
          </p:nvPr>
        </p:nvSpPr>
        <p:spPr>
          <a:xfrm>
            <a:off x="311700" y="2984250"/>
            <a:ext cx="3137700" cy="11544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sz="2300">
                <a:solidFill>
                  <a:schemeClr val="lt1"/>
                </a:solidFill>
                <a:latin typeface="Lato"/>
                <a:ea typeface="Lato"/>
                <a:cs typeface="Lato"/>
                <a:sym typeface="Lato"/>
              </a:rPr>
              <a:t>Aka how to get good at this stuff. </a:t>
            </a:r>
            <a:endParaRPr b="1" sz="2300">
              <a:solidFill>
                <a:schemeClr val="lt1"/>
              </a:solidFill>
              <a:latin typeface="Lato"/>
              <a:ea typeface="Lato"/>
              <a:cs typeface="Lato"/>
              <a:sym typeface="Lato"/>
            </a:endParaRPr>
          </a:p>
        </p:txBody>
      </p:sp>
      <p:pic>
        <p:nvPicPr>
          <p:cNvPr id="60" name="Google Shape;60;p13"/>
          <p:cNvPicPr preferRelativeResize="0"/>
          <p:nvPr/>
        </p:nvPicPr>
        <p:blipFill>
          <a:blip r:embed="rId3">
            <a:alphaModFix/>
          </a:blip>
          <a:stretch>
            <a:fillRect/>
          </a:stretch>
        </p:blipFill>
        <p:spPr>
          <a:xfrm>
            <a:off x="4124300" y="759148"/>
            <a:ext cx="4518800" cy="36252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p:nvPr/>
        </p:nvSpPr>
        <p:spPr>
          <a:xfrm>
            <a:off x="0" y="0"/>
            <a:ext cx="9144000" cy="5143500"/>
          </a:xfrm>
          <a:prstGeom prst="rect">
            <a:avLst/>
          </a:prstGeom>
          <a:solidFill>
            <a:srgbClr val="F7F1F1"/>
          </a:solidFill>
          <a:ln cap="flat" cmpd="sng" w="9525">
            <a:solidFill>
              <a:srgbClr val="F7F1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a:latin typeface="Lato"/>
                <a:ea typeface="Lato"/>
                <a:cs typeface="Lato"/>
                <a:sym typeface="Lato"/>
              </a:rPr>
              <a:t>How do I get better at writing?</a:t>
            </a:r>
            <a:endParaRPr b="1">
              <a:latin typeface="Lato"/>
              <a:ea typeface="Lato"/>
              <a:cs typeface="Lato"/>
              <a:sym typeface="Lato"/>
            </a:endParaRPr>
          </a:p>
        </p:txBody>
      </p:sp>
      <p:sp>
        <p:nvSpPr>
          <p:cNvPr id="67" name="Google Shape;67;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379730" lvl="0" marL="457200" rtl="0" algn="ctr">
              <a:spcBef>
                <a:spcPts val="0"/>
              </a:spcBef>
              <a:spcAft>
                <a:spcPts val="0"/>
              </a:spcAft>
              <a:buSzPct val="100000"/>
              <a:buFont typeface="Lato"/>
              <a:buAutoNum type="arabicParenR"/>
            </a:pPr>
            <a:r>
              <a:rPr lang="en">
                <a:latin typeface="Lato"/>
                <a:ea typeface="Lato"/>
                <a:cs typeface="Lato"/>
                <a:sym typeface="Lato"/>
              </a:rPr>
              <a:t>Practicing</a:t>
            </a:r>
            <a:endParaRPr>
              <a:latin typeface="Lato"/>
              <a:ea typeface="Lato"/>
              <a:cs typeface="Lato"/>
              <a:sym typeface="Lato"/>
            </a:endParaRPr>
          </a:p>
          <a:p>
            <a:pPr indent="-379730" lvl="0" marL="457200" rtl="0" algn="ctr">
              <a:spcBef>
                <a:spcPts val="0"/>
              </a:spcBef>
              <a:spcAft>
                <a:spcPts val="0"/>
              </a:spcAft>
              <a:buSzPct val="100000"/>
              <a:buFont typeface="Lato"/>
              <a:buAutoNum type="arabicParenR"/>
            </a:pPr>
            <a:r>
              <a:rPr lang="en">
                <a:latin typeface="Lato"/>
                <a:ea typeface="Lato"/>
                <a:cs typeface="Lato"/>
                <a:sym typeface="Lato"/>
              </a:rPr>
              <a:t>Noticing</a:t>
            </a:r>
            <a:endParaRPr>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ctrTitle"/>
          </p:nvPr>
        </p:nvSpPr>
        <p:spPr>
          <a:xfrm>
            <a:off x="311700" y="744575"/>
            <a:ext cx="8520600" cy="25257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b="1" lang="en">
                <a:latin typeface="Lato"/>
                <a:ea typeface="Lato"/>
                <a:cs typeface="Lato"/>
                <a:sym typeface="Lato"/>
              </a:rPr>
              <a:t>PRACTICING. </a:t>
            </a:r>
            <a:endParaRPr b="1">
              <a:latin typeface="Lato"/>
              <a:ea typeface="Lato"/>
              <a:cs typeface="Lato"/>
              <a:sym typeface="Lato"/>
            </a:endParaRPr>
          </a:p>
          <a:p>
            <a:pPr indent="0" lvl="0" marL="0" rtl="0" algn="ctr">
              <a:spcBef>
                <a:spcPts val="0"/>
              </a:spcBef>
              <a:spcAft>
                <a:spcPts val="0"/>
              </a:spcAft>
              <a:buNone/>
            </a:pPr>
            <a:r>
              <a:t/>
            </a:r>
            <a:endParaRPr>
              <a:latin typeface="Lato"/>
              <a:ea typeface="Lato"/>
              <a:cs typeface="Lato"/>
              <a:sym typeface="Lato"/>
            </a:endParaRPr>
          </a:p>
          <a:p>
            <a:pPr indent="0" lvl="0" marL="0" rtl="0" algn="ctr">
              <a:spcBef>
                <a:spcPts val="0"/>
              </a:spcBef>
              <a:spcAft>
                <a:spcPts val="0"/>
              </a:spcAft>
              <a:buNone/>
            </a:pPr>
            <a:r>
              <a:rPr lang="en">
                <a:latin typeface="Lato"/>
                <a:ea typeface="Lato"/>
                <a:cs typeface="Lato"/>
                <a:sym typeface="Lato"/>
              </a:rPr>
              <a:t>That’s obvious.</a:t>
            </a:r>
            <a:endParaRPr>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a:latin typeface="Lato"/>
                <a:ea typeface="Lato"/>
                <a:cs typeface="Lato"/>
                <a:sym typeface="Lato"/>
              </a:rPr>
              <a:t>But...</a:t>
            </a:r>
            <a:endParaRPr b="1">
              <a:latin typeface="Lato"/>
              <a:ea typeface="Lato"/>
              <a:cs typeface="Lato"/>
              <a:sym typeface="Lato"/>
            </a:endParaRPr>
          </a:p>
        </p:txBody>
      </p:sp>
      <p:sp>
        <p:nvSpPr>
          <p:cNvPr id="78" name="Google Shape;78;p1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latin typeface="Lato"/>
                <a:ea typeface="Lato"/>
                <a:cs typeface="Lato"/>
                <a:sym typeface="Lato"/>
              </a:rPr>
              <a:t>Writing original content is exhausting… how do you practice? </a:t>
            </a:r>
            <a:endParaRPr>
              <a:latin typeface="Lato"/>
              <a:ea typeface="Lato"/>
              <a:cs typeface="Lato"/>
              <a:sym typeface="Lato"/>
            </a:endParaRPr>
          </a:p>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latin typeface="Lato"/>
                <a:ea typeface="Lato"/>
                <a:cs typeface="Lato"/>
                <a:sym typeface="Lato"/>
              </a:rPr>
              <a:t>Learning writing is like learning guitar.</a:t>
            </a:r>
            <a:endParaRPr>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p18"/>
          <p:cNvPicPr preferRelativeResize="0"/>
          <p:nvPr/>
        </p:nvPicPr>
        <p:blipFill>
          <a:blip r:embed="rId3">
            <a:alphaModFix/>
          </a:blip>
          <a:stretch>
            <a:fillRect/>
          </a:stretch>
        </p:blipFill>
        <p:spPr>
          <a:xfrm>
            <a:off x="962560" y="124525"/>
            <a:ext cx="7218875" cy="48944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type="ctrTitle"/>
          </p:nvPr>
        </p:nvSpPr>
        <p:spPr>
          <a:xfrm>
            <a:off x="1514275" y="3129050"/>
            <a:ext cx="6313200" cy="572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b="1" lang="en" sz="2680">
                <a:latin typeface="Lato"/>
                <a:ea typeface="Lato"/>
                <a:cs typeface="Lato"/>
                <a:sym typeface="Lato"/>
              </a:rPr>
              <a:t>Learn to cook?</a:t>
            </a:r>
            <a:r>
              <a:rPr lang="en" sz="2680">
                <a:latin typeface="Lato"/>
                <a:ea typeface="Lato"/>
                <a:cs typeface="Lato"/>
                <a:sym typeface="Lato"/>
              </a:rPr>
              <a:t> Follow recipes</a:t>
            </a:r>
            <a:endParaRPr sz="2680">
              <a:latin typeface="Lato"/>
              <a:ea typeface="Lato"/>
              <a:cs typeface="Lato"/>
              <a:sym typeface="Lato"/>
            </a:endParaRPr>
          </a:p>
          <a:p>
            <a:pPr indent="0" lvl="0" marL="0" rtl="0" algn="ctr">
              <a:spcBef>
                <a:spcPts val="0"/>
              </a:spcBef>
              <a:spcAft>
                <a:spcPts val="0"/>
              </a:spcAft>
              <a:buSzPts val="990"/>
              <a:buNone/>
            </a:pPr>
            <a:r>
              <a:t/>
            </a:r>
            <a:endParaRPr sz="2680">
              <a:latin typeface="Lato"/>
              <a:ea typeface="Lato"/>
              <a:cs typeface="Lato"/>
              <a:sym typeface="Lato"/>
            </a:endParaRPr>
          </a:p>
          <a:p>
            <a:pPr indent="0" lvl="0" marL="0" rtl="0" algn="ctr">
              <a:spcBef>
                <a:spcPts val="0"/>
              </a:spcBef>
              <a:spcAft>
                <a:spcPts val="0"/>
              </a:spcAft>
              <a:buSzPts val="990"/>
              <a:buNone/>
            </a:pPr>
            <a:r>
              <a:rPr b="1" lang="en" sz="2680">
                <a:latin typeface="Lato"/>
                <a:ea typeface="Lato"/>
                <a:cs typeface="Lato"/>
                <a:sym typeface="Lato"/>
              </a:rPr>
              <a:t>Learn guitar?</a:t>
            </a:r>
            <a:r>
              <a:rPr lang="en" sz="2680">
                <a:latin typeface="Lato"/>
                <a:ea typeface="Lato"/>
                <a:cs typeface="Lato"/>
                <a:sym typeface="Lato"/>
              </a:rPr>
              <a:t> Play popular songs</a:t>
            </a:r>
            <a:endParaRPr sz="2680">
              <a:latin typeface="Lato"/>
              <a:ea typeface="Lato"/>
              <a:cs typeface="Lato"/>
              <a:sym typeface="Lato"/>
            </a:endParaRPr>
          </a:p>
          <a:p>
            <a:pPr indent="0" lvl="0" marL="0" rtl="0" algn="ctr">
              <a:spcBef>
                <a:spcPts val="0"/>
              </a:spcBef>
              <a:spcAft>
                <a:spcPts val="0"/>
              </a:spcAft>
              <a:buSzPts val="990"/>
              <a:buNone/>
            </a:pPr>
            <a:r>
              <a:t/>
            </a:r>
            <a:endParaRPr sz="2680">
              <a:latin typeface="Lato"/>
              <a:ea typeface="Lato"/>
              <a:cs typeface="Lato"/>
              <a:sym typeface="Lato"/>
            </a:endParaRPr>
          </a:p>
          <a:p>
            <a:pPr indent="0" lvl="0" marL="0" rtl="0" algn="ctr">
              <a:spcBef>
                <a:spcPts val="0"/>
              </a:spcBef>
              <a:spcAft>
                <a:spcPts val="0"/>
              </a:spcAft>
              <a:buSzPts val="990"/>
              <a:buNone/>
            </a:pPr>
            <a:r>
              <a:rPr b="1" lang="en" sz="2680">
                <a:latin typeface="Lato"/>
                <a:ea typeface="Lato"/>
                <a:cs typeface="Lato"/>
                <a:sym typeface="Lato"/>
              </a:rPr>
              <a:t>Learn to draw?</a:t>
            </a:r>
            <a:r>
              <a:rPr lang="en" sz="2680">
                <a:latin typeface="Lato"/>
                <a:ea typeface="Lato"/>
                <a:cs typeface="Lato"/>
                <a:sym typeface="Lato"/>
              </a:rPr>
              <a:t> Start by tracing</a:t>
            </a:r>
            <a:endParaRPr sz="2680">
              <a:latin typeface="Lato"/>
              <a:ea typeface="Lato"/>
              <a:cs typeface="Lato"/>
              <a:sym typeface="Lato"/>
            </a:endParaRPr>
          </a:p>
          <a:p>
            <a:pPr indent="0" lvl="0" marL="0" rtl="0" algn="ctr">
              <a:spcBef>
                <a:spcPts val="0"/>
              </a:spcBef>
              <a:spcAft>
                <a:spcPts val="0"/>
              </a:spcAft>
              <a:buSzPts val="990"/>
              <a:buNone/>
            </a:pPr>
            <a:r>
              <a:t/>
            </a:r>
            <a:endParaRPr sz="2680">
              <a:latin typeface="Lato"/>
              <a:ea typeface="Lato"/>
              <a:cs typeface="Lato"/>
              <a:sym typeface="Lato"/>
            </a:endParaRPr>
          </a:p>
          <a:p>
            <a:pPr indent="0" lvl="0" marL="0" rtl="0" algn="ctr">
              <a:spcBef>
                <a:spcPts val="0"/>
              </a:spcBef>
              <a:spcAft>
                <a:spcPts val="0"/>
              </a:spcAft>
              <a:buSzPts val="990"/>
              <a:buNone/>
            </a:pPr>
            <a:r>
              <a:rPr b="1" lang="en" sz="2680">
                <a:latin typeface="Lato"/>
                <a:ea typeface="Lato"/>
                <a:cs typeface="Lato"/>
                <a:sym typeface="Lato"/>
              </a:rPr>
              <a:t>Learn to write? </a:t>
            </a:r>
            <a:r>
              <a:rPr lang="en" sz="2680">
                <a:latin typeface="Lato"/>
                <a:ea typeface="Lato"/>
                <a:cs typeface="Lato"/>
                <a:sym typeface="Lato"/>
              </a:rPr>
              <a:t>Copy great writing</a:t>
            </a:r>
            <a:endParaRPr sz="2680">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latin typeface="Lato"/>
                <a:ea typeface="Lato"/>
                <a:cs typeface="Lato"/>
                <a:sym typeface="Lato"/>
              </a:rPr>
              <a:t>It’s called:</a:t>
            </a:r>
            <a:endParaRPr>
              <a:latin typeface="Lato"/>
              <a:ea typeface="Lato"/>
              <a:cs typeface="Lato"/>
              <a:sym typeface="Lato"/>
            </a:endParaRPr>
          </a:p>
          <a:p>
            <a:pPr indent="0" lvl="0" marL="0" rtl="0" algn="ctr">
              <a:spcBef>
                <a:spcPts val="0"/>
              </a:spcBef>
              <a:spcAft>
                <a:spcPts val="0"/>
              </a:spcAft>
              <a:buNone/>
            </a:pPr>
            <a:r>
              <a:rPr lang="en">
                <a:latin typeface="Lato"/>
                <a:ea typeface="Lato"/>
                <a:cs typeface="Lato"/>
                <a:sym typeface="Lato"/>
              </a:rPr>
              <a:t> </a:t>
            </a:r>
            <a:r>
              <a:rPr lang="en">
                <a:latin typeface="Lato"/>
                <a:ea typeface="Lato"/>
                <a:cs typeface="Lato"/>
                <a:sym typeface="Lato"/>
              </a:rPr>
              <a:t>“copywork”</a:t>
            </a:r>
            <a:endParaRPr>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pic>
        <p:nvPicPr>
          <p:cNvPr id="103" name="Google Shape;103;p21"/>
          <p:cNvPicPr preferRelativeResize="0"/>
          <p:nvPr/>
        </p:nvPicPr>
        <p:blipFill>
          <a:blip r:embed="rId3">
            <a:alphaModFix/>
          </a:blip>
          <a:stretch>
            <a:fillRect/>
          </a:stretch>
        </p:blipFill>
        <p:spPr>
          <a:xfrm>
            <a:off x="1162088" y="886777"/>
            <a:ext cx="6819825" cy="33699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nvSpPr>
        <p:spPr>
          <a:xfrm>
            <a:off x="484175" y="1152100"/>
            <a:ext cx="8241600" cy="295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latin typeface="Lato"/>
                <a:ea typeface="Lato"/>
                <a:cs typeface="Lato"/>
                <a:sym typeface="Lato"/>
              </a:rPr>
              <a:t>Hunter S. Thompson</a:t>
            </a:r>
            <a:r>
              <a:rPr lang="en" sz="1800">
                <a:latin typeface="Lato"/>
                <a:ea typeface="Lato"/>
                <a:cs typeface="Lato"/>
                <a:sym typeface="Lato"/>
              </a:rPr>
              <a:t> used to re-write the Great Gatsby before he wrote his books.</a:t>
            </a:r>
            <a:endParaRPr sz="1800">
              <a:latin typeface="Lato"/>
              <a:ea typeface="Lato"/>
              <a:cs typeface="Lato"/>
              <a:sym typeface="Lato"/>
            </a:endParaRPr>
          </a:p>
          <a:p>
            <a:pPr indent="0" lvl="0" marL="0" rtl="0" algn="l">
              <a:spcBef>
                <a:spcPts val="0"/>
              </a:spcBef>
              <a:spcAft>
                <a:spcPts val="0"/>
              </a:spcAft>
              <a:buNone/>
            </a:pPr>
            <a:r>
              <a:t/>
            </a:r>
            <a:endParaRPr sz="1800">
              <a:latin typeface="Lato"/>
              <a:ea typeface="Lato"/>
              <a:cs typeface="Lato"/>
              <a:sym typeface="Lato"/>
            </a:endParaRPr>
          </a:p>
          <a:p>
            <a:pPr indent="0" lvl="0" marL="0" rtl="0" algn="l">
              <a:spcBef>
                <a:spcPts val="0"/>
              </a:spcBef>
              <a:spcAft>
                <a:spcPts val="0"/>
              </a:spcAft>
              <a:buNone/>
            </a:pPr>
            <a:r>
              <a:t/>
            </a:r>
            <a:endParaRPr b="1" sz="1800">
              <a:latin typeface="Lato"/>
              <a:ea typeface="Lato"/>
              <a:cs typeface="Lato"/>
              <a:sym typeface="Lato"/>
            </a:endParaRPr>
          </a:p>
          <a:p>
            <a:pPr indent="0" lvl="0" marL="0" rtl="0" algn="l">
              <a:spcBef>
                <a:spcPts val="0"/>
              </a:spcBef>
              <a:spcAft>
                <a:spcPts val="0"/>
              </a:spcAft>
              <a:buNone/>
            </a:pPr>
            <a:r>
              <a:rPr b="1" lang="en" sz="1800">
                <a:latin typeface="Lato"/>
                <a:ea typeface="Lato"/>
                <a:cs typeface="Lato"/>
                <a:sym typeface="Lato"/>
              </a:rPr>
              <a:t>Ben Franklin</a:t>
            </a:r>
            <a:r>
              <a:rPr lang="en" sz="1800">
                <a:latin typeface="Lato"/>
                <a:ea typeface="Lato"/>
                <a:cs typeface="Lato"/>
                <a:sym typeface="Lato"/>
              </a:rPr>
              <a:t> loved The Spectator. So he re-wrote it to improve his </a:t>
            </a:r>
            <a:r>
              <a:rPr lang="en" sz="1800">
                <a:latin typeface="Lato"/>
                <a:ea typeface="Lato"/>
                <a:cs typeface="Lato"/>
                <a:sym typeface="Lato"/>
              </a:rPr>
              <a:t>writing</a:t>
            </a:r>
            <a:r>
              <a:rPr lang="en" sz="1800">
                <a:latin typeface="Lato"/>
                <a:ea typeface="Lato"/>
                <a:cs typeface="Lato"/>
                <a:sym typeface="Lato"/>
              </a:rPr>
              <a:t>. </a:t>
            </a:r>
            <a:br>
              <a:rPr lang="en" sz="1800">
                <a:latin typeface="Lato"/>
                <a:ea typeface="Lato"/>
                <a:cs typeface="Lato"/>
                <a:sym typeface="Lato"/>
              </a:rPr>
            </a:br>
            <a:br>
              <a:rPr lang="en" sz="1800">
                <a:latin typeface="Lato"/>
                <a:ea typeface="Lato"/>
                <a:cs typeface="Lato"/>
                <a:sym typeface="Lato"/>
              </a:rPr>
            </a:br>
            <a:endParaRPr sz="1800">
              <a:latin typeface="Lato"/>
              <a:ea typeface="Lato"/>
              <a:cs typeface="Lato"/>
              <a:sym typeface="Lato"/>
            </a:endParaRPr>
          </a:p>
          <a:p>
            <a:pPr indent="0" lvl="0" marL="0" rtl="0" algn="l">
              <a:spcBef>
                <a:spcPts val="0"/>
              </a:spcBef>
              <a:spcAft>
                <a:spcPts val="0"/>
              </a:spcAft>
              <a:buNone/>
            </a:pPr>
            <a:r>
              <a:rPr b="1" lang="en" sz="1800">
                <a:latin typeface="Lato"/>
                <a:ea typeface="Lato"/>
                <a:cs typeface="Lato"/>
                <a:sym typeface="Lato"/>
              </a:rPr>
              <a:t>Naval </a:t>
            </a:r>
            <a:r>
              <a:rPr lang="en" sz="1800">
                <a:latin typeface="Lato"/>
                <a:ea typeface="Lato"/>
                <a:cs typeface="Lato"/>
                <a:sym typeface="Lato"/>
              </a:rPr>
              <a:t>talks about reading “The Day You Became a Better Writer” before writing. </a:t>
            </a:r>
            <a:endParaRPr sz="1800">
              <a:latin typeface="Lato"/>
              <a:ea typeface="Lato"/>
              <a:cs typeface="Lato"/>
              <a:sym typeface="Lato"/>
            </a:endParaRPr>
          </a:p>
          <a:p>
            <a:pPr indent="0" lvl="0" marL="0" rtl="0" algn="l">
              <a:spcBef>
                <a:spcPts val="0"/>
              </a:spcBef>
              <a:spcAft>
                <a:spcPts val="0"/>
              </a:spcAft>
              <a:buNone/>
            </a:pPr>
            <a:r>
              <a:t/>
            </a:r>
            <a:endParaRPr sz="1800">
              <a:latin typeface="Lato"/>
              <a:ea typeface="Lato"/>
              <a:cs typeface="Lato"/>
              <a:sym typeface="Lato"/>
            </a:endParaRPr>
          </a:p>
          <a:p>
            <a:pPr indent="0" lvl="0" marL="0" rtl="0" algn="l">
              <a:spcBef>
                <a:spcPts val="0"/>
              </a:spcBef>
              <a:spcAft>
                <a:spcPts val="0"/>
              </a:spcAft>
              <a:buNone/>
            </a:pPr>
            <a:r>
              <a:t/>
            </a:r>
            <a:endParaRPr sz="1800">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3"/>
          <p:cNvSpPr txBox="1"/>
          <p:nvPr>
            <p:ph type="ctrTitle"/>
          </p:nvPr>
        </p:nvSpPr>
        <p:spPr>
          <a:xfrm>
            <a:off x="426208" y="-858500"/>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a:latin typeface="Lato"/>
                <a:ea typeface="Lato"/>
                <a:cs typeface="Lato"/>
                <a:sym typeface="Lato"/>
              </a:rPr>
              <a:t>My Go-To for Copywork</a:t>
            </a:r>
            <a:endParaRPr b="1">
              <a:latin typeface="Lato"/>
              <a:ea typeface="Lato"/>
              <a:cs typeface="Lato"/>
              <a:sym typeface="Lato"/>
            </a:endParaRPr>
          </a:p>
        </p:txBody>
      </p:sp>
      <p:sp>
        <p:nvSpPr>
          <p:cNvPr id="114" name="Google Shape;114;p23"/>
          <p:cNvSpPr txBox="1"/>
          <p:nvPr>
            <p:ph idx="1" type="subTitle"/>
          </p:nvPr>
        </p:nvSpPr>
        <p:spPr>
          <a:xfrm>
            <a:off x="218982" y="1407397"/>
            <a:ext cx="8520600" cy="3185700"/>
          </a:xfrm>
          <a:prstGeom prst="rect">
            <a:avLst/>
          </a:prstGeom>
        </p:spPr>
        <p:txBody>
          <a:bodyPr anchorCtr="0" anchor="t" bIns="91425" lIns="91425" spcFirstLastPara="1" rIns="91425" wrap="square" tIns="91425">
            <a:normAutofit fontScale="62500" lnSpcReduction="10000"/>
          </a:bodyPr>
          <a:lstStyle/>
          <a:p>
            <a:pPr indent="0" lvl="0" marL="0" rtl="0" algn="l">
              <a:spcBef>
                <a:spcPts val="0"/>
              </a:spcBef>
              <a:spcAft>
                <a:spcPts val="0"/>
              </a:spcAft>
              <a:buNone/>
            </a:pPr>
            <a:r>
              <a:rPr b="1" lang="en">
                <a:latin typeface="Lato"/>
                <a:ea typeface="Lato"/>
                <a:cs typeface="Lato"/>
                <a:sym typeface="Lato"/>
              </a:rPr>
              <a:t>For short business writing: </a:t>
            </a:r>
            <a:endParaRPr b="1">
              <a:latin typeface="Lato"/>
              <a:ea typeface="Lato"/>
              <a:cs typeface="Lato"/>
              <a:sym typeface="Lato"/>
            </a:endParaRPr>
          </a:p>
          <a:p>
            <a:pPr indent="-339725" lvl="0" marL="457200" rtl="0" algn="l">
              <a:spcBef>
                <a:spcPts val="0"/>
              </a:spcBef>
              <a:spcAft>
                <a:spcPts val="0"/>
              </a:spcAft>
              <a:buSzPct val="100000"/>
              <a:buFont typeface="Lato"/>
              <a:buChar char="●"/>
            </a:pPr>
            <a:r>
              <a:rPr lang="en" u="sng">
                <a:solidFill>
                  <a:schemeClr val="hlink"/>
                </a:solidFill>
                <a:latin typeface="Lato"/>
                <a:ea typeface="Lato"/>
                <a:cs typeface="Lato"/>
                <a:sym typeface="Lato"/>
                <a:hlinkClick r:id="rId3"/>
              </a:rPr>
              <a:t>The Day You Became A Better Writer</a:t>
            </a:r>
            <a:endParaRPr>
              <a:latin typeface="Lato"/>
              <a:ea typeface="Lato"/>
              <a:cs typeface="Lato"/>
              <a:sym typeface="Lato"/>
            </a:endParaRPr>
          </a:p>
          <a:p>
            <a:pPr indent="-339725" lvl="0" marL="457200" rtl="0" algn="l">
              <a:spcBef>
                <a:spcPts val="0"/>
              </a:spcBef>
              <a:spcAft>
                <a:spcPts val="0"/>
              </a:spcAft>
              <a:buSzPct val="100000"/>
              <a:buFont typeface="Lato"/>
              <a:buChar char="●"/>
            </a:pPr>
            <a:r>
              <a:rPr lang="en" u="sng">
                <a:solidFill>
                  <a:schemeClr val="hlink"/>
                </a:solidFill>
                <a:latin typeface="Lato"/>
                <a:ea typeface="Lato"/>
                <a:cs typeface="Lato"/>
                <a:sym typeface="Lato"/>
                <a:hlinkClick r:id="rId4"/>
              </a:rPr>
              <a:t>Frank Slootman’s memo</a:t>
            </a:r>
            <a:endParaRPr>
              <a:latin typeface="Lato"/>
              <a:ea typeface="Lato"/>
              <a:cs typeface="Lato"/>
              <a:sym typeface="Lato"/>
            </a:endParaRPr>
          </a:p>
          <a:p>
            <a:pPr indent="-339725" lvl="0" marL="457200" rtl="0" algn="l">
              <a:spcBef>
                <a:spcPts val="0"/>
              </a:spcBef>
              <a:spcAft>
                <a:spcPts val="0"/>
              </a:spcAft>
              <a:buSzPct val="100000"/>
              <a:buFont typeface="Lato"/>
              <a:buChar char="●"/>
            </a:pPr>
            <a:r>
              <a:rPr lang="en" u="sng">
                <a:solidFill>
                  <a:schemeClr val="hlink"/>
                </a:solidFill>
                <a:latin typeface="Lato"/>
                <a:ea typeface="Lato"/>
                <a:cs typeface="Lato"/>
                <a:sym typeface="Lato"/>
                <a:hlinkClick r:id="rId5"/>
              </a:rPr>
              <a:t>We don’t sell saddles here</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b="1" lang="en">
                <a:latin typeface="Lato"/>
                <a:ea typeface="Lato"/>
                <a:cs typeface="Lato"/>
                <a:sym typeface="Lato"/>
              </a:rPr>
              <a:t>If I want to be loose, charming, charismatic</a:t>
            </a:r>
            <a:endParaRPr b="1">
              <a:latin typeface="Lato"/>
              <a:ea typeface="Lato"/>
              <a:cs typeface="Lato"/>
              <a:sym typeface="Lato"/>
            </a:endParaRPr>
          </a:p>
          <a:p>
            <a:pPr indent="-339725" lvl="0" marL="457200" rtl="0" algn="l">
              <a:spcBef>
                <a:spcPts val="0"/>
              </a:spcBef>
              <a:spcAft>
                <a:spcPts val="0"/>
              </a:spcAft>
              <a:buSzPct val="100000"/>
              <a:buFont typeface="Lato"/>
              <a:buChar char="●"/>
            </a:pPr>
            <a:r>
              <a:rPr lang="en" u="sng">
                <a:solidFill>
                  <a:schemeClr val="hlink"/>
                </a:solidFill>
                <a:latin typeface="Lato"/>
                <a:ea typeface="Lato"/>
                <a:cs typeface="Lato"/>
                <a:sym typeface="Lato"/>
                <a:hlinkClick r:id="rId6"/>
              </a:rPr>
              <a:t>The Boron Letters</a:t>
            </a:r>
            <a:r>
              <a:rPr lang="en">
                <a:latin typeface="Lato"/>
                <a:ea typeface="Lato"/>
                <a:cs typeface="Lato"/>
                <a:sym typeface="Lato"/>
              </a:rPr>
              <a:t> - (all of them) </a:t>
            </a:r>
            <a:endParaRPr>
              <a:latin typeface="Lato"/>
              <a:ea typeface="Lato"/>
              <a:cs typeface="Lato"/>
              <a:sym typeface="Lato"/>
            </a:endParaRPr>
          </a:p>
          <a:p>
            <a:pPr indent="-339725" lvl="0" marL="457200" rtl="0" algn="l">
              <a:spcBef>
                <a:spcPts val="0"/>
              </a:spcBef>
              <a:spcAft>
                <a:spcPts val="0"/>
              </a:spcAft>
              <a:buSzPct val="100000"/>
              <a:buFont typeface="Lato"/>
              <a:buChar char="●"/>
            </a:pPr>
            <a:r>
              <a:rPr lang="en" u="sng">
                <a:solidFill>
                  <a:schemeClr val="hlink"/>
                </a:solidFill>
                <a:latin typeface="Lato"/>
                <a:ea typeface="Lato"/>
                <a:cs typeface="Lato"/>
                <a:sym typeface="Lato"/>
                <a:hlinkClick r:id="rId7"/>
              </a:rPr>
              <a:t>How to use words to get people to do what you want them to do</a:t>
            </a:r>
            <a:r>
              <a:rPr lang="en">
                <a:latin typeface="Lato"/>
                <a:ea typeface="Lato"/>
                <a:cs typeface="Lato"/>
                <a:sym typeface="Lato"/>
              </a:rPr>
              <a:t> - sam parr</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b="1" lang="en">
                <a:latin typeface="Lato"/>
                <a:ea typeface="Lato"/>
                <a:cs typeface="Lato"/>
                <a:sym typeface="Lato"/>
              </a:rPr>
              <a:t>If i want to write something thoughtful, about life:</a:t>
            </a:r>
            <a:endParaRPr b="1">
              <a:latin typeface="Lato"/>
              <a:ea typeface="Lato"/>
              <a:cs typeface="Lato"/>
              <a:sym typeface="Lato"/>
            </a:endParaRPr>
          </a:p>
          <a:p>
            <a:pPr indent="-339725" lvl="0" marL="457200" rtl="0" algn="l">
              <a:spcBef>
                <a:spcPts val="0"/>
              </a:spcBef>
              <a:spcAft>
                <a:spcPts val="0"/>
              </a:spcAft>
              <a:buSzPct val="100000"/>
              <a:buFont typeface="Lato"/>
              <a:buChar char="●"/>
            </a:pPr>
            <a:r>
              <a:rPr lang="en" u="sng">
                <a:solidFill>
                  <a:schemeClr val="hlink"/>
                </a:solidFill>
                <a:latin typeface="Lato"/>
                <a:ea typeface="Lato"/>
                <a:cs typeface="Lato"/>
                <a:sym typeface="Lato"/>
                <a:hlinkClick r:id="rId8"/>
              </a:rPr>
              <a:t>How to get Rich without Getting Lucky</a:t>
            </a:r>
            <a:r>
              <a:rPr lang="en">
                <a:latin typeface="Lato"/>
                <a:ea typeface="Lato"/>
                <a:cs typeface="Lato"/>
                <a:sym typeface="Lato"/>
              </a:rPr>
              <a:t> - Naval </a:t>
            </a:r>
            <a:endParaRPr>
              <a:latin typeface="Lato"/>
              <a:ea typeface="Lato"/>
              <a:cs typeface="Lato"/>
              <a:sym typeface="Lato"/>
            </a:endParaRPr>
          </a:p>
          <a:p>
            <a:pPr indent="-339725" lvl="0" marL="457200" rtl="0" algn="l">
              <a:spcBef>
                <a:spcPts val="0"/>
              </a:spcBef>
              <a:spcAft>
                <a:spcPts val="0"/>
              </a:spcAft>
              <a:buSzPct val="100000"/>
              <a:buFont typeface="Lato"/>
              <a:buChar char="●"/>
            </a:pPr>
            <a:r>
              <a:rPr lang="en" u="sng">
                <a:solidFill>
                  <a:schemeClr val="hlink"/>
                </a:solidFill>
                <a:latin typeface="Lato"/>
                <a:ea typeface="Lato"/>
                <a:cs typeface="Lato"/>
                <a:sym typeface="Lato"/>
                <a:hlinkClick r:id="rId9"/>
              </a:rPr>
              <a:t>What you’ll wish you’d known </a:t>
            </a:r>
            <a:r>
              <a:rPr lang="en">
                <a:latin typeface="Lato"/>
                <a:ea typeface="Lato"/>
                <a:cs typeface="Lato"/>
                <a:sym typeface="Lato"/>
              </a:rPr>
              <a:t>- paul graham</a:t>
            </a:r>
            <a:endParaRPr>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4"/>
          <p:cNvSpPr txBox="1"/>
          <p:nvPr>
            <p:ph type="ctrTitle"/>
          </p:nvPr>
        </p:nvSpPr>
        <p:spPr>
          <a:xfrm>
            <a:off x="354808" y="1369550"/>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b="1" lang="en">
                <a:latin typeface="Lato"/>
                <a:ea typeface="Lato"/>
                <a:cs typeface="Lato"/>
                <a:sym typeface="Lato"/>
              </a:rPr>
              <a:t>Pick 1.</a:t>
            </a:r>
            <a:endParaRPr b="1">
              <a:latin typeface="Lato"/>
              <a:ea typeface="Lato"/>
              <a:cs typeface="Lato"/>
              <a:sym typeface="Lato"/>
            </a:endParaRPr>
          </a:p>
          <a:p>
            <a:pPr indent="0" lvl="0" marL="0" rtl="0" algn="ctr">
              <a:spcBef>
                <a:spcPts val="0"/>
              </a:spcBef>
              <a:spcAft>
                <a:spcPts val="0"/>
              </a:spcAft>
              <a:buNone/>
            </a:pPr>
            <a:r>
              <a:rPr b="1" lang="en">
                <a:latin typeface="Lato"/>
                <a:ea typeface="Lato"/>
                <a:cs typeface="Lato"/>
                <a:sym typeface="Lato"/>
              </a:rPr>
              <a:t>Read it.</a:t>
            </a:r>
            <a:endParaRPr b="1">
              <a:latin typeface="Lato"/>
              <a:ea typeface="Lato"/>
              <a:cs typeface="Lato"/>
              <a:sym typeface="Lato"/>
            </a:endParaRPr>
          </a:p>
          <a:p>
            <a:pPr indent="0" lvl="0" marL="0" rtl="0" algn="ctr">
              <a:spcBef>
                <a:spcPts val="0"/>
              </a:spcBef>
              <a:spcAft>
                <a:spcPts val="0"/>
              </a:spcAft>
              <a:buNone/>
            </a:pPr>
            <a:r>
              <a:rPr b="1" lang="en">
                <a:latin typeface="Lato"/>
                <a:ea typeface="Lato"/>
                <a:cs typeface="Lato"/>
                <a:sym typeface="Lato"/>
              </a:rPr>
              <a:t>Rewrite it.</a:t>
            </a:r>
            <a:endParaRPr b="1">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a:latin typeface="Lato"/>
                <a:ea typeface="Lato"/>
                <a:cs typeface="Lato"/>
                <a:sym typeface="Lato"/>
              </a:rPr>
              <a:t>It’s weird but it works.</a:t>
            </a:r>
            <a:endParaRPr b="1">
              <a:latin typeface="Lato"/>
              <a:ea typeface="Lato"/>
              <a:cs typeface="Lato"/>
              <a:sym typeface="Lato"/>
            </a:endParaRPr>
          </a:p>
        </p:txBody>
      </p:sp>
      <p:sp>
        <p:nvSpPr>
          <p:cNvPr id="125" name="Google Shape;125;p2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latin typeface="Lato"/>
                <a:ea typeface="Lato"/>
                <a:cs typeface="Lato"/>
                <a:sym typeface="Lato"/>
              </a:rPr>
              <a:t>Ok got it. Practicing… next...Noticing.</a:t>
            </a:r>
            <a:endParaRPr>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7"/>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latin typeface="Lato"/>
                <a:ea typeface="Lato"/>
                <a:cs typeface="Lato"/>
                <a:sym typeface="Lato"/>
              </a:rPr>
              <a:t>Noticing Test</a:t>
            </a:r>
            <a:endParaRPr>
              <a:latin typeface="Lato"/>
              <a:ea typeface="Lato"/>
              <a:cs typeface="Lato"/>
              <a:sym typeface="Lato"/>
            </a:endParaRPr>
          </a:p>
        </p:txBody>
      </p:sp>
      <p:sp>
        <p:nvSpPr>
          <p:cNvPr id="136" name="Google Shape;136;p2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latin typeface="Lato"/>
                <a:ea typeface="Lato"/>
                <a:cs typeface="Lato"/>
                <a:sym typeface="Lato"/>
              </a:rPr>
              <a:t>What do you mean..</a:t>
            </a:r>
            <a:endParaRPr>
              <a:latin typeface="Lato"/>
              <a:ea typeface="Lato"/>
              <a:cs typeface="Lato"/>
              <a:sym typeface="La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8"/>
          <p:cNvSpPr txBox="1"/>
          <p:nvPr>
            <p:ph type="ctrTitle"/>
          </p:nvPr>
        </p:nvSpPr>
        <p:spPr>
          <a:xfrm>
            <a:off x="311708" y="7445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b="1" lang="en">
                <a:latin typeface="Lato"/>
                <a:ea typeface="Lato"/>
                <a:cs typeface="Lato"/>
                <a:sym typeface="Lato"/>
              </a:rPr>
              <a:t>You want to start keeping an eye out for effective writing. </a:t>
            </a:r>
            <a:endParaRPr b="1">
              <a:latin typeface="Lato"/>
              <a:ea typeface="Lato"/>
              <a:cs typeface="Lato"/>
              <a:sym typeface="Lato"/>
            </a:endParaRPr>
          </a:p>
        </p:txBody>
      </p:sp>
      <p:sp>
        <p:nvSpPr>
          <p:cNvPr id="142" name="Google Shape;142;p2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latin typeface="Lato"/>
                <a:ea typeface="Lato"/>
                <a:cs typeface="Lato"/>
                <a:sym typeface="Lato"/>
              </a:rPr>
              <a:t>Then stashing what you see, for future use. </a:t>
            </a:r>
            <a:endParaRPr>
              <a:latin typeface="Lato"/>
              <a:ea typeface="Lato"/>
              <a:cs typeface="Lato"/>
              <a:sym typeface="La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9"/>
          <p:cNvSpPr txBox="1"/>
          <p:nvPr>
            <p:ph type="ctrTitle"/>
          </p:nvPr>
        </p:nvSpPr>
        <p:spPr>
          <a:xfrm>
            <a:off x="311700" y="851375"/>
            <a:ext cx="8520600" cy="25749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latin typeface="Lato"/>
                <a:ea typeface="Lato"/>
                <a:cs typeface="Lato"/>
                <a:sym typeface="Lato"/>
              </a:rPr>
              <a:t>Your stash is called a </a:t>
            </a:r>
            <a:endParaRPr>
              <a:latin typeface="Lato"/>
              <a:ea typeface="Lato"/>
              <a:cs typeface="Lato"/>
              <a:sym typeface="Lato"/>
            </a:endParaRPr>
          </a:p>
          <a:p>
            <a:pPr indent="0" lvl="0" marL="0" rtl="0" algn="ctr">
              <a:spcBef>
                <a:spcPts val="0"/>
              </a:spcBef>
              <a:spcAft>
                <a:spcPts val="0"/>
              </a:spcAft>
              <a:buNone/>
            </a:pPr>
            <a:r>
              <a:t/>
            </a:r>
            <a:endParaRPr b="1">
              <a:latin typeface="Lato"/>
              <a:ea typeface="Lato"/>
              <a:cs typeface="Lato"/>
              <a:sym typeface="Lato"/>
            </a:endParaRPr>
          </a:p>
          <a:p>
            <a:pPr indent="0" lvl="0" marL="0" rtl="0" algn="ctr">
              <a:spcBef>
                <a:spcPts val="0"/>
              </a:spcBef>
              <a:spcAft>
                <a:spcPts val="0"/>
              </a:spcAft>
              <a:buNone/>
            </a:pPr>
            <a:r>
              <a:rPr b="1" lang="en">
                <a:latin typeface="Lato"/>
                <a:ea typeface="Lato"/>
                <a:cs typeface="Lato"/>
                <a:sym typeface="Lato"/>
              </a:rPr>
              <a:t>swipe file</a:t>
            </a:r>
            <a:endParaRPr>
              <a:latin typeface="Lato"/>
              <a:ea typeface="Lato"/>
              <a:cs typeface="Lato"/>
              <a:sym typeface="La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30"/>
          <p:cNvSpPr txBox="1"/>
          <p:nvPr>
            <p:ph type="ctrTitle"/>
          </p:nvPr>
        </p:nvSpPr>
        <p:spPr>
          <a:xfrm>
            <a:off x="687150" y="998650"/>
            <a:ext cx="7769700" cy="390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3280">
                <a:latin typeface="Lato"/>
                <a:ea typeface="Lato"/>
                <a:cs typeface="Lato"/>
                <a:sym typeface="Lato"/>
              </a:rPr>
              <a:t>A fancy one - from my friend neville (swipefile.com) </a:t>
            </a:r>
            <a:endParaRPr sz="3280">
              <a:latin typeface="Lato"/>
              <a:ea typeface="Lato"/>
              <a:cs typeface="Lato"/>
              <a:sym typeface="Lato"/>
            </a:endParaRPr>
          </a:p>
        </p:txBody>
      </p:sp>
      <p:pic>
        <p:nvPicPr>
          <p:cNvPr id="153" name="Google Shape;153;p30"/>
          <p:cNvPicPr preferRelativeResize="0"/>
          <p:nvPr/>
        </p:nvPicPr>
        <p:blipFill>
          <a:blip r:embed="rId3">
            <a:alphaModFix/>
          </a:blip>
          <a:stretch>
            <a:fillRect/>
          </a:stretch>
        </p:blipFill>
        <p:spPr>
          <a:xfrm>
            <a:off x="957850" y="1388650"/>
            <a:ext cx="7498998" cy="360667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1"/>
          <p:cNvSpPr txBox="1"/>
          <p:nvPr>
            <p:ph type="ctrTitle"/>
          </p:nvPr>
        </p:nvSpPr>
        <p:spPr>
          <a:xfrm>
            <a:off x="311700" y="744575"/>
            <a:ext cx="8520600" cy="586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b="1" lang="en" sz="4780">
                <a:latin typeface="Lato"/>
                <a:ea typeface="Lato"/>
                <a:cs typeface="Lato"/>
                <a:sym typeface="Lato"/>
              </a:rPr>
              <a:t>My swipe files </a:t>
            </a:r>
            <a:endParaRPr b="1" sz="4780">
              <a:latin typeface="Lato"/>
              <a:ea typeface="Lato"/>
              <a:cs typeface="Lato"/>
              <a:sym typeface="Lato"/>
            </a:endParaRPr>
          </a:p>
        </p:txBody>
      </p:sp>
      <p:sp>
        <p:nvSpPr>
          <p:cNvPr id="159" name="Google Shape;159;p31"/>
          <p:cNvSpPr txBox="1"/>
          <p:nvPr>
            <p:ph idx="1" type="subTitle"/>
          </p:nvPr>
        </p:nvSpPr>
        <p:spPr>
          <a:xfrm>
            <a:off x="665550" y="1700275"/>
            <a:ext cx="8043600" cy="1363500"/>
          </a:xfrm>
          <a:prstGeom prst="rect">
            <a:avLst/>
          </a:prstGeom>
        </p:spPr>
        <p:txBody>
          <a:bodyPr anchorCtr="0" anchor="t" bIns="91425" lIns="91425" spcFirstLastPara="1" rIns="91425" wrap="square" tIns="91425">
            <a:noAutofit/>
          </a:bodyPr>
          <a:lstStyle/>
          <a:p>
            <a:pPr indent="-389255" lvl="0" marL="457200" rtl="0" algn="l">
              <a:lnSpc>
                <a:spcPct val="80000"/>
              </a:lnSpc>
              <a:spcBef>
                <a:spcPts val="0"/>
              </a:spcBef>
              <a:spcAft>
                <a:spcPts val="0"/>
              </a:spcAft>
              <a:buSzPts val="2530"/>
              <a:buFont typeface="Lato"/>
              <a:buChar char="●"/>
            </a:pPr>
            <a:r>
              <a:rPr lang="en" sz="2530">
                <a:latin typeface="Lato"/>
                <a:ea typeface="Lato"/>
                <a:cs typeface="Lato"/>
                <a:sym typeface="Lato"/>
              </a:rPr>
              <a:t>Openers</a:t>
            </a:r>
            <a:endParaRPr sz="2530">
              <a:latin typeface="Lato"/>
              <a:ea typeface="Lato"/>
              <a:cs typeface="Lato"/>
              <a:sym typeface="Lato"/>
            </a:endParaRPr>
          </a:p>
          <a:p>
            <a:pPr indent="-389255" lvl="0" marL="457200" rtl="0" algn="l">
              <a:lnSpc>
                <a:spcPct val="80000"/>
              </a:lnSpc>
              <a:spcBef>
                <a:spcPts val="0"/>
              </a:spcBef>
              <a:spcAft>
                <a:spcPts val="0"/>
              </a:spcAft>
              <a:buSzPts val="2530"/>
              <a:buFont typeface="Lato"/>
              <a:buChar char="●"/>
            </a:pPr>
            <a:r>
              <a:rPr lang="en" sz="2530">
                <a:latin typeface="Lato"/>
                <a:ea typeface="Lato"/>
                <a:cs typeface="Lato"/>
                <a:sym typeface="Lato"/>
              </a:rPr>
              <a:t>Closers</a:t>
            </a:r>
            <a:endParaRPr sz="2530">
              <a:latin typeface="Lato"/>
              <a:ea typeface="Lato"/>
              <a:cs typeface="Lato"/>
              <a:sym typeface="Lato"/>
            </a:endParaRPr>
          </a:p>
          <a:p>
            <a:pPr indent="-389255" lvl="0" marL="457200" rtl="0" algn="l">
              <a:lnSpc>
                <a:spcPct val="80000"/>
              </a:lnSpc>
              <a:spcBef>
                <a:spcPts val="0"/>
              </a:spcBef>
              <a:spcAft>
                <a:spcPts val="0"/>
              </a:spcAft>
              <a:buSzPts val="2530"/>
              <a:buFont typeface="Lato"/>
              <a:buChar char="●"/>
            </a:pPr>
            <a:r>
              <a:rPr lang="en" sz="2530">
                <a:latin typeface="Lato"/>
                <a:ea typeface="Lato"/>
                <a:cs typeface="Lato"/>
                <a:sym typeface="Lato"/>
              </a:rPr>
              <a:t>Transition words</a:t>
            </a:r>
            <a:endParaRPr sz="2530">
              <a:latin typeface="Lato"/>
              <a:ea typeface="Lato"/>
              <a:cs typeface="Lato"/>
              <a:sym typeface="Lato"/>
            </a:endParaRPr>
          </a:p>
          <a:p>
            <a:pPr indent="-389255" lvl="0" marL="457200" rtl="0" algn="l">
              <a:lnSpc>
                <a:spcPct val="80000"/>
              </a:lnSpc>
              <a:spcBef>
                <a:spcPts val="0"/>
              </a:spcBef>
              <a:spcAft>
                <a:spcPts val="0"/>
              </a:spcAft>
              <a:buSzPts val="2530"/>
              <a:buFont typeface="Lato"/>
              <a:buChar char="●"/>
            </a:pPr>
            <a:r>
              <a:rPr lang="en" sz="2530">
                <a:latin typeface="Lato"/>
                <a:ea typeface="Lato"/>
                <a:cs typeface="Lato"/>
                <a:sym typeface="Lato"/>
              </a:rPr>
              <a:t>Phrases / analogies</a:t>
            </a:r>
            <a:endParaRPr sz="2530">
              <a:latin typeface="Lato"/>
              <a:ea typeface="Lato"/>
              <a:cs typeface="Lato"/>
              <a:sym typeface="Lato"/>
            </a:endParaRPr>
          </a:p>
          <a:p>
            <a:pPr indent="-389255" lvl="0" marL="457200" rtl="0" algn="l">
              <a:lnSpc>
                <a:spcPct val="80000"/>
              </a:lnSpc>
              <a:spcBef>
                <a:spcPts val="0"/>
              </a:spcBef>
              <a:spcAft>
                <a:spcPts val="0"/>
              </a:spcAft>
              <a:buSzPts val="2530"/>
              <a:buFont typeface="Lato"/>
              <a:buChar char="●"/>
            </a:pPr>
            <a:r>
              <a:rPr lang="en" sz="2530">
                <a:latin typeface="Lato"/>
                <a:ea typeface="Lato"/>
                <a:cs typeface="Lato"/>
                <a:sym typeface="Lato"/>
              </a:rPr>
              <a:t>Diagrams</a:t>
            </a:r>
            <a:endParaRPr sz="2530">
              <a:latin typeface="Lato"/>
              <a:ea typeface="Lato"/>
              <a:cs typeface="Lato"/>
              <a:sym typeface="Lato"/>
            </a:endParaRPr>
          </a:p>
          <a:p>
            <a:pPr indent="-389255" lvl="0" marL="457200" rtl="0" algn="l">
              <a:lnSpc>
                <a:spcPct val="80000"/>
              </a:lnSpc>
              <a:spcBef>
                <a:spcPts val="0"/>
              </a:spcBef>
              <a:spcAft>
                <a:spcPts val="0"/>
              </a:spcAft>
              <a:buSzPts val="2530"/>
              <a:buFont typeface="Lato"/>
              <a:buChar char="●"/>
            </a:pPr>
            <a:r>
              <a:rPr lang="en" sz="2530">
                <a:latin typeface="Lato"/>
                <a:ea typeface="Lato"/>
                <a:cs typeface="Lato"/>
                <a:sym typeface="Lato"/>
              </a:rPr>
              <a:t>Hero Images</a:t>
            </a:r>
            <a:endParaRPr sz="2530">
              <a:latin typeface="Lato"/>
              <a:ea typeface="Lato"/>
              <a:cs typeface="Lato"/>
              <a:sym typeface="Lato"/>
            </a:endParaRPr>
          </a:p>
          <a:p>
            <a:pPr indent="-389255" lvl="0" marL="457200" rtl="0" algn="l">
              <a:lnSpc>
                <a:spcPct val="80000"/>
              </a:lnSpc>
              <a:spcBef>
                <a:spcPts val="0"/>
              </a:spcBef>
              <a:spcAft>
                <a:spcPts val="0"/>
              </a:spcAft>
              <a:buSzPts val="2530"/>
              <a:buFont typeface="Lato"/>
              <a:buChar char="●"/>
            </a:pPr>
            <a:r>
              <a:rPr lang="en" sz="2530">
                <a:latin typeface="Lato"/>
                <a:ea typeface="Lato"/>
                <a:cs typeface="Lato"/>
                <a:sym typeface="Lato"/>
              </a:rPr>
              <a:t>Great facebook ads</a:t>
            </a:r>
            <a:endParaRPr sz="2530">
              <a:latin typeface="Lato"/>
              <a:ea typeface="Lato"/>
              <a:cs typeface="Lato"/>
              <a:sym typeface="Lato"/>
            </a:endParaRPr>
          </a:p>
          <a:p>
            <a:pPr indent="0" lvl="0" marL="457200" rtl="0" algn="l">
              <a:lnSpc>
                <a:spcPct val="80000"/>
              </a:lnSpc>
              <a:spcBef>
                <a:spcPts val="0"/>
              </a:spcBef>
              <a:spcAft>
                <a:spcPts val="0"/>
              </a:spcAft>
              <a:buSzPts val="523"/>
              <a:buNone/>
            </a:pPr>
            <a:r>
              <a:t/>
            </a:r>
            <a:endParaRPr sz="2530">
              <a:latin typeface="Lato"/>
              <a:ea typeface="Lato"/>
              <a:cs typeface="Lato"/>
              <a:sym typeface="La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2"/>
          <p:cNvSpPr txBox="1"/>
          <p:nvPr>
            <p:ph type="ctrTitle"/>
          </p:nvPr>
        </p:nvSpPr>
        <p:spPr>
          <a:xfrm>
            <a:off x="458883" y="-9241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sz="5000">
                <a:latin typeface="Lato"/>
                <a:ea typeface="Lato"/>
                <a:cs typeface="Lato"/>
                <a:sym typeface="Lato"/>
              </a:rPr>
              <a:t>My Openers Swipe</a:t>
            </a:r>
            <a:endParaRPr b="1" sz="5000">
              <a:latin typeface="Lato"/>
              <a:ea typeface="Lato"/>
              <a:cs typeface="Lato"/>
              <a:sym typeface="Lato"/>
            </a:endParaRPr>
          </a:p>
        </p:txBody>
      </p:sp>
      <p:pic>
        <p:nvPicPr>
          <p:cNvPr id="165" name="Google Shape;165;p32"/>
          <p:cNvPicPr preferRelativeResize="0"/>
          <p:nvPr/>
        </p:nvPicPr>
        <p:blipFill>
          <a:blip r:embed="rId3">
            <a:alphaModFix/>
          </a:blip>
          <a:stretch>
            <a:fillRect/>
          </a:stretch>
        </p:blipFill>
        <p:spPr>
          <a:xfrm>
            <a:off x="2878563" y="1433213"/>
            <a:ext cx="3681214" cy="371027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pic>
        <p:nvPicPr>
          <p:cNvPr id="170" name="Google Shape;170;p33"/>
          <p:cNvPicPr preferRelativeResize="0"/>
          <p:nvPr/>
        </p:nvPicPr>
        <p:blipFill rotWithShape="1">
          <a:blip r:embed="rId3">
            <a:alphaModFix/>
          </a:blip>
          <a:srcRect b="34049" l="0" r="0" t="0"/>
          <a:stretch/>
        </p:blipFill>
        <p:spPr>
          <a:xfrm>
            <a:off x="3004238" y="1162300"/>
            <a:ext cx="3135525" cy="3981200"/>
          </a:xfrm>
          <a:prstGeom prst="rect">
            <a:avLst/>
          </a:prstGeom>
          <a:noFill/>
          <a:ln>
            <a:noFill/>
          </a:ln>
        </p:spPr>
      </p:pic>
      <p:sp>
        <p:nvSpPr>
          <p:cNvPr id="171" name="Google Shape;171;p33"/>
          <p:cNvSpPr txBox="1"/>
          <p:nvPr>
            <p:ph type="ctrTitle"/>
          </p:nvPr>
        </p:nvSpPr>
        <p:spPr>
          <a:xfrm>
            <a:off x="458883" y="-9241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sz="5000">
                <a:latin typeface="Lato"/>
                <a:ea typeface="Lato"/>
                <a:cs typeface="Lato"/>
                <a:sym typeface="Lato"/>
              </a:rPr>
              <a:t>My “Fun Phrases” Swipe</a:t>
            </a:r>
            <a:endParaRPr b="1" sz="5000">
              <a:latin typeface="Lato"/>
              <a:ea typeface="Lato"/>
              <a:cs typeface="Lato"/>
              <a:sym typeface="La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4"/>
          <p:cNvSpPr txBox="1"/>
          <p:nvPr>
            <p:ph idx="1" type="subTitle"/>
          </p:nvPr>
        </p:nvSpPr>
        <p:spPr>
          <a:xfrm>
            <a:off x="379950" y="25197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solidFill>
                  <a:schemeClr val="dk1"/>
                </a:solidFill>
                <a:latin typeface="Lato"/>
                <a:ea typeface="Lato"/>
                <a:cs typeface="Lato"/>
                <a:sym typeface="Lato"/>
              </a:rPr>
              <a:t>Doesn’t need to be fancy. I use slack &amp; notes app.</a:t>
            </a:r>
            <a:endParaRPr b="1">
              <a:solidFill>
                <a:schemeClr val="dk1"/>
              </a:solidFill>
              <a:latin typeface="Lato"/>
              <a:ea typeface="Lato"/>
              <a:cs typeface="Lato"/>
              <a:sym typeface="Lato"/>
            </a:endParaRPr>
          </a:p>
        </p:txBody>
      </p:sp>
      <p:pic>
        <p:nvPicPr>
          <p:cNvPr id="177" name="Google Shape;177;p34"/>
          <p:cNvPicPr preferRelativeResize="0"/>
          <p:nvPr/>
        </p:nvPicPr>
        <p:blipFill>
          <a:blip r:embed="rId3">
            <a:alphaModFix/>
          </a:blip>
          <a:stretch>
            <a:fillRect/>
          </a:stretch>
        </p:blipFill>
        <p:spPr>
          <a:xfrm>
            <a:off x="2219849" y="1254275"/>
            <a:ext cx="4840800" cy="36756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5"/>
          <p:cNvSpPr txBox="1"/>
          <p:nvPr>
            <p:ph type="ctrTitle"/>
          </p:nvPr>
        </p:nvSpPr>
        <p:spPr>
          <a:xfrm>
            <a:off x="407275" y="93225"/>
            <a:ext cx="8520600" cy="1123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sz="4700">
                <a:latin typeface="Lato"/>
                <a:ea typeface="Lato"/>
                <a:cs typeface="Lato"/>
                <a:sym typeface="Lato"/>
              </a:rPr>
              <a:t>Make Your Swipe File</a:t>
            </a:r>
            <a:endParaRPr b="1" sz="4700">
              <a:latin typeface="Lato"/>
              <a:ea typeface="Lato"/>
              <a:cs typeface="Lato"/>
              <a:sym typeface="Lato"/>
            </a:endParaRPr>
          </a:p>
        </p:txBody>
      </p:sp>
      <p:sp>
        <p:nvSpPr>
          <p:cNvPr id="183" name="Google Shape;183;p35"/>
          <p:cNvSpPr txBox="1"/>
          <p:nvPr>
            <p:ph type="ctrTitle"/>
          </p:nvPr>
        </p:nvSpPr>
        <p:spPr>
          <a:xfrm>
            <a:off x="206200" y="584875"/>
            <a:ext cx="8520600" cy="1123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2800">
                <a:latin typeface="Lato"/>
                <a:ea typeface="Lato"/>
                <a:cs typeface="Lato"/>
                <a:sym typeface="Lato"/>
              </a:rPr>
              <a:t>And add these 3 </a:t>
            </a:r>
            <a:endParaRPr sz="2800">
              <a:latin typeface="Lato"/>
              <a:ea typeface="Lato"/>
              <a:cs typeface="Lato"/>
              <a:sym typeface="Lato"/>
            </a:endParaRPr>
          </a:p>
        </p:txBody>
      </p:sp>
      <p:pic>
        <p:nvPicPr>
          <p:cNvPr id="184" name="Google Shape;184;p35"/>
          <p:cNvPicPr preferRelativeResize="0"/>
          <p:nvPr/>
        </p:nvPicPr>
        <p:blipFill>
          <a:blip r:embed="rId3">
            <a:alphaModFix/>
          </a:blip>
          <a:stretch>
            <a:fillRect/>
          </a:stretch>
        </p:blipFill>
        <p:spPr>
          <a:xfrm>
            <a:off x="152400" y="2393725"/>
            <a:ext cx="2707123" cy="2597375"/>
          </a:xfrm>
          <a:prstGeom prst="rect">
            <a:avLst/>
          </a:prstGeom>
          <a:noFill/>
          <a:ln>
            <a:noFill/>
          </a:ln>
        </p:spPr>
      </p:pic>
      <p:pic>
        <p:nvPicPr>
          <p:cNvPr id="185" name="Google Shape;185;p35"/>
          <p:cNvPicPr preferRelativeResize="0"/>
          <p:nvPr/>
        </p:nvPicPr>
        <p:blipFill>
          <a:blip r:embed="rId4">
            <a:alphaModFix/>
          </a:blip>
          <a:stretch>
            <a:fillRect/>
          </a:stretch>
        </p:blipFill>
        <p:spPr>
          <a:xfrm>
            <a:off x="3467311" y="2320500"/>
            <a:ext cx="1998388" cy="2597375"/>
          </a:xfrm>
          <a:prstGeom prst="rect">
            <a:avLst/>
          </a:prstGeom>
          <a:noFill/>
          <a:ln>
            <a:noFill/>
          </a:ln>
        </p:spPr>
      </p:pic>
      <p:sp>
        <p:nvSpPr>
          <p:cNvPr id="186" name="Google Shape;186;p35"/>
          <p:cNvSpPr txBox="1"/>
          <p:nvPr>
            <p:ph type="ctrTitle"/>
          </p:nvPr>
        </p:nvSpPr>
        <p:spPr>
          <a:xfrm>
            <a:off x="-2614825" y="1161300"/>
            <a:ext cx="8520600" cy="1123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1800">
                <a:latin typeface="Lato"/>
                <a:ea typeface="Lato"/>
                <a:cs typeface="Lato"/>
                <a:sym typeface="Lato"/>
              </a:rPr>
              <a:t>Ad Swipe</a:t>
            </a:r>
            <a:endParaRPr sz="1800">
              <a:latin typeface="Lato"/>
              <a:ea typeface="Lato"/>
              <a:cs typeface="Lato"/>
              <a:sym typeface="Lato"/>
            </a:endParaRPr>
          </a:p>
        </p:txBody>
      </p:sp>
      <p:sp>
        <p:nvSpPr>
          <p:cNvPr id="187" name="Google Shape;187;p35"/>
          <p:cNvSpPr txBox="1"/>
          <p:nvPr>
            <p:ph type="ctrTitle"/>
          </p:nvPr>
        </p:nvSpPr>
        <p:spPr>
          <a:xfrm>
            <a:off x="3544300" y="1771200"/>
            <a:ext cx="1844400" cy="549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1700">
                <a:latin typeface="Lato"/>
                <a:ea typeface="Lato"/>
                <a:cs typeface="Lato"/>
                <a:sym typeface="Lato"/>
              </a:rPr>
              <a:t>Headline Swipe</a:t>
            </a:r>
            <a:endParaRPr sz="1700">
              <a:latin typeface="Lato"/>
              <a:ea typeface="Lato"/>
              <a:cs typeface="Lato"/>
              <a:sym typeface="Lato"/>
            </a:endParaRPr>
          </a:p>
        </p:txBody>
      </p:sp>
      <p:pic>
        <p:nvPicPr>
          <p:cNvPr id="188" name="Google Shape;188;p35"/>
          <p:cNvPicPr preferRelativeResize="0"/>
          <p:nvPr/>
        </p:nvPicPr>
        <p:blipFill>
          <a:blip r:embed="rId5">
            <a:alphaModFix/>
          </a:blip>
          <a:stretch>
            <a:fillRect/>
          </a:stretch>
        </p:blipFill>
        <p:spPr>
          <a:xfrm>
            <a:off x="5905787" y="2651025"/>
            <a:ext cx="3085812" cy="2059922"/>
          </a:xfrm>
          <a:prstGeom prst="rect">
            <a:avLst/>
          </a:prstGeom>
          <a:noFill/>
          <a:ln>
            <a:noFill/>
          </a:ln>
        </p:spPr>
      </p:pic>
      <p:sp>
        <p:nvSpPr>
          <p:cNvPr id="189" name="Google Shape;189;p35"/>
          <p:cNvSpPr txBox="1"/>
          <p:nvPr>
            <p:ph type="ctrTitle"/>
          </p:nvPr>
        </p:nvSpPr>
        <p:spPr>
          <a:xfrm>
            <a:off x="6595175" y="1695000"/>
            <a:ext cx="1844400" cy="5493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sz="1700">
                <a:latin typeface="Lato"/>
                <a:ea typeface="Lato"/>
                <a:cs typeface="Lato"/>
                <a:sym typeface="Lato"/>
              </a:rPr>
              <a:t>Hero Image Swipe</a:t>
            </a:r>
            <a:endParaRPr sz="1700">
              <a:latin typeface="Lato"/>
              <a:ea typeface="Lato"/>
              <a:cs typeface="Lato"/>
              <a:sym typeface="La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6"/>
          <p:cNvSpPr txBox="1"/>
          <p:nvPr>
            <p:ph idx="1" type="subTitle"/>
          </p:nvPr>
        </p:nvSpPr>
        <p:spPr>
          <a:xfrm>
            <a:off x="429025" y="21754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latin typeface="Lato"/>
                <a:ea typeface="Lato"/>
                <a:cs typeface="Lato"/>
                <a:sym typeface="Lato"/>
              </a:rPr>
              <a:t>OK.. what writing process do you recommend? </a:t>
            </a:r>
            <a:endParaRPr>
              <a:latin typeface="Lato"/>
              <a:ea typeface="Lato"/>
              <a:cs typeface="Lato"/>
              <a:sym typeface="La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pic>
        <p:nvPicPr>
          <p:cNvPr id="199" name="Google Shape;199;p37"/>
          <p:cNvPicPr preferRelativeResize="0"/>
          <p:nvPr/>
        </p:nvPicPr>
        <p:blipFill rotWithShape="1">
          <a:blip r:embed="rId3">
            <a:alphaModFix/>
          </a:blip>
          <a:srcRect b="0" l="0" r="754" t="14733"/>
          <a:stretch/>
        </p:blipFill>
        <p:spPr>
          <a:xfrm>
            <a:off x="898150" y="1339275"/>
            <a:ext cx="7203275" cy="2062825"/>
          </a:xfrm>
          <a:prstGeom prst="rect">
            <a:avLst/>
          </a:prstGeom>
          <a:noFill/>
          <a:ln>
            <a:noFill/>
          </a:ln>
        </p:spPr>
      </p:pic>
      <p:sp>
        <p:nvSpPr>
          <p:cNvPr id="200" name="Google Shape;200;p37"/>
          <p:cNvSpPr txBox="1"/>
          <p:nvPr/>
        </p:nvSpPr>
        <p:spPr>
          <a:xfrm>
            <a:off x="2627925" y="3627750"/>
            <a:ext cx="5388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4"/>
              </a:rPr>
              <a:t>http://byronm.com/13sentences.html</a:t>
            </a:r>
            <a:endParaRPr/>
          </a:p>
          <a:p>
            <a:pPr indent="0" lvl="0" marL="0" rtl="0" algn="l">
              <a:spcBef>
                <a:spcPts val="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8"/>
          <p:cNvSpPr txBox="1"/>
          <p:nvPr>
            <p:ph type="ctrTitle"/>
          </p:nvPr>
        </p:nvSpPr>
        <p:spPr>
          <a:xfrm>
            <a:off x="448183" y="-696000"/>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latin typeface="Lato"/>
                <a:ea typeface="Lato"/>
                <a:cs typeface="Lato"/>
                <a:sym typeface="Lato"/>
              </a:rPr>
              <a:t>Tools I Use</a:t>
            </a:r>
            <a:endParaRPr>
              <a:latin typeface="Lato"/>
              <a:ea typeface="Lato"/>
              <a:cs typeface="Lato"/>
              <a:sym typeface="Lato"/>
            </a:endParaRPr>
          </a:p>
        </p:txBody>
      </p:sp>
      <p:sp>
        <p:nvSpPr>
          <p:cNvPr id="206" name="Google Shape;206;p38"/>
          <p:cNvSpPr txBox="1"/>
          <p:nvPr/>
        </p:nvSpPr>
        <p:spPr>
          <a:xfrm>
            <a:off x="1209150" y="1698350"/>
            <a:ext cx="71304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latin typeface="Lato"/>
                <a:ea typeface="Lato"/>
                <a:cs typeface="Lato"/>
                <a:sym typeface="Lato"/>
                <a:hlinkClick r:id="rId3"/>
              </a:rPr>
              <a:t>Hemingway</a:t>
            </a:r>
            <a:r>
              <a:rPr lang="en" u="sng">
                <a:solidFill>
                  <a:schemeClr val="hlink"/>
                </a:solidFill>
                <a:latin typeface="Lato"/>
                <a:ea typeface="Lato"/>
                <a:cs typeface="Lato"/>
                <a:sym typeface="Lato"/>
                <a:hlinkClick r:id="rId4"/>
              </a:rPr>
              <a:t> App</a:t>
            </a:r>
            <a:r>
              <a:rPr lang="en">
                <a:latin typeface="Lato"/>
                <a:ea typeface="Lato"/>
                <a:cs typeface="Lato"/>
                <a:sym typeface="Lato"/>
              </a:rPr>
              <a:t>  - gives you tips as you write (eg. don’t use fancy words) </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lang="en">
                <a:latin typeface="Lato"/>
                <a:ea typeface="Lato"/>
                <a:cs typeface="Lato"/>
                <a:sym typeface="Lato"/>
              </a:rPr>
              <a:t>HypeFury - the tool I use for writing twitter threads </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lang="en">
                <a:latin typeface="Lato"/>
                <a:ea typeface="Lato"/>
                <a:cs typeface="Lato"/>
                <a:sym typeface="Lato"/>
              </a:rPr>
              <a:t>Other than that … google docs. </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9"/>
          <p:cNvSpPr txBox="1"/>
          <p:nvPr/>
        </p:nvSpPr>
        <p:spPr>
          <a:xfrm>
            <a:off x="4230200" y="2383175"/>
            <a:ext cx="4765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a:ea typeface="Lato"/>
                <a:cs typeface="Lato"/>
                <a:sym typeface="Lato"/>
              </a:rPr>
              <a:t>←- great writing</a:t>
            </a:r>
            <a:r>
              <a:rPr b="1" lang="en">
                <a:latin typeface="Lato"/>
                <a:ea typeface="Lato"/>
                <a:cs typeface="Lato"/>
                <a:sym typeface="Lato"/>
              </a:rPr>
              <a:t> sings</a:t>
            </a:r>
            <a:r>
              <a:rPr lang="en">
                <a:latin typeface="Lato"/>
                <a:ea typeface="Lato"/>
                <a:cs typeface="Lato"/>
                <a:sym typeface="Lato"/>
              </a:rPr>
              <a:t>. Try re-writing your posts using this paragraph structure. </a:t>
            </a:r>
            <a:endParaRPr>
              <a:latin typeface="Lato"/>
              <a:ea typeface="Lato"/>
              <a:cs typeface="Lato"/>
              <a:sym typeface="Lato"/>
            </a:endParaRPr>
          </a:p>
        </p:txBody>
      </p:sp>
      <p:sp>
        <p:nvSpPr>
          <p:cNvPr id="212" name="Google Shape;212;p39"/>
          <p:cNvSpPr txBox="1"/>
          <p:nvPr>
            <p:ph type="ctrTitle"/>
          </p:nvPr>
        </p:nvSpPr>
        <p:spPr>
          <a:xfrm>
            <a:off x="623408" y="-1103850"/>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a:latin typeface="Lato"/>
                <a:ea typeface="Lato"/>
                <a:cs typeface="Lato"/>
                <a:sym typeface="Lato"/>
              </a:rPr>
              <a:t>Writing Hacks</a:t>
            </a:r>
            <a:endParaRPr b="1">
              <a:latin typeface="Lato"/>
              <a:ea typeface="Lato"/>
              <a:cs typeface="Lato"/>
              <a:sym typeface="Lato"/>
            </a:endParaRPr>
          </a:p>
        </p:txBody>
      </p:sp>
      <p:pic>
        <p:nvPicPr>
          <p:cNvPr id="213" name="Google Shape;213;p39"/>
          <p:cNvPicPr preferRelativeResize="0"/>
          <p:nvPr/>
        </p:nvPicPr>
        <p:blipFill>
          <a:blip r:embed="rId3">
            <a:alphaModFix/>
          </a:blip>
          <a:stretch>
            <a:fillRect/>
          </a:stretch>
        </p:blipFill>
        <p:spPr>
          <a:xfrm>
            <a:off x="152400" y="1101150"/>
            <a:ext cx="3842625" cy="38733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40"/>
          <p:cNvSpPr/>
          <p:nvPr/>
        </p:nvSpPr>
        <p:spPr>
          <a:xfrm>
            <a:off x="0" y="0"/>
            <a:ext cx="9144000" cy="5143500"/>
          </a:xfrm>
          <a:prstGeom prst="rect">
            <a:avLst/>
          </a:prstGeom>
          <a:solidFill>
            <a:srgbClr val="F7F1F1"/>
          </a:solidFill>
          <a:ln cap="flat" cmpd="sng" w="9525">
            <a:solidFill>
              <a:srgbClr val="F7F1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4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solidFill>
                  <a:srgbClr val="0066DE"/>
                </a:solidFill>
                <a:latin typeface="Lato"/>
                <a:ea typeface="Lato"/>
                <a:cs typeface="Lato"/>
                <a:sym typeface="Lato"/>
              </a:rPr>
              <a:t>How long should it be? </a:t>
            </a:r>
            <a:endParaRPr>
              <a:solidFill>
                <a:srgbClr val="0066DE"/>
              </a:solidFill>
              <a:latin typeface="Lato"/>
              <a:ea typeface="Lato"/>
              <a:cs typeface="Lato"/>
              <a:sym typeface="Lato"/>
            </a:endParaRPr>
          </a:p>
        </p:txBody>
      </p:sp>
      <p:sp>
        <p:nvSpPr>
          <p:cNvPr id="220" name="Google Shape;220;p40"/>
          <p:cNvSpPr txBox="1"/>
          <p:nvPr>
            <p:ph idx="1" type="subTitle"/>
          </p:nvPr>
        </p:nvSpPr>
        <p:spPr>
          <a:xfrm>
            <a:off x="90350" y="279717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solidFill>
                  <a:schemeClr val="dk1"/>
                </a:solidFill>
                <a:latin typeface="Lato"/>
                <a:ea typeface="Lato"/>
                <a:cs typeface="Lato"/>
                <a:sym typeface="Lato"/>
              </a:rPr>
              <a:t>Shouldn’t it be short? </a:t>
            </a:r>
            <a:endParaRPr>
              <a:solidFill>
                <a:schemeClr val="dk1"/>
              </a:solidFill>
              <a:latin typeface="Lato"/>
              <a:ea typeface="Lato"/>
              <a:cs typeface="Lato"/>
              <a:sym typeface="Lato"/>
            </a:endParaRPr>
          </a:p>
        </p:txBody>
      </p:sp>
      <p:sp>
        <p:nvSpPr>
          <p:cNvPr id="221" name="Google Shape;221;p40"/>
          <p:cNvSpPr txBox="1"/>
          <p:nvPr/>
        </p:nvSpPr>
        <p:spPr>
          <a:xfrm>
            <a:off x="0" y="4887209"/>
            <a:ext cx="9144000" cy="294000"/>
          </a:xfrm>
          <a:prstGeom prst="rect">
            <a:avLst/>
          </a:prstGeom>
          <a:noFill/>
          <a:ln>
            <a:noFill/>
          </a:ln>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sz="900">
                <a:solidFill>
                  <a:srgbClr val="B6B2B3"/>
                </a:solidFill>
                <a:latin typeface="Lato"/>
                <a:ea typeface="Lato"/>
                <a:cs typeface="Lato"/>
                <a:sym typeface="Lato"/>
              </a:rPr>
              <a:t>    6/36								            SHAANPURI.COM			 			       POWER WRITING COURSE</a:t>
            </a:r>
            <a:endParaRPr b="1" sz="900">
              <a:solidFill>
                <a:srgbClr val="B6B2B3"/>
              </a:solidFill>
              <a:latin typeface="Lato"/>
              <a:ea typeface="Lato"/>
              <a:cs typeface="Lato"/>
              <a:sym typeface="La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41"/>
          <p:cNvSpPr/>
          <p:nvPr/>
        </p:nvSpPr>
        <p:spPr>
          <a:xfrm>
            <a:off x="0" y="0"/>
            <a:ext cx="9144000" cy="5143500"/>
          </a:xfrm>
          <a:prstGeom prst="rect">
            <a:avLst/>
          </a:prstGeom>
          <a:solidFill>
            <a:srgbClr val="F7F1F1"/>
          </a:solidFill>
          <a:ln cap="flat" cmpd="sng" w="9525">
            <a:solidFill>
              <a:srgbClr val="F7F1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41"/>
          <p:cNvSpPr txBox="1"/>
          <p:nvPr>
            <p:ph type="ctrTitle"/>
          </p:nvPr>
        </p:nvSpPr>
        <p:spPr>
          <a:xfrm>
            <a:off x="-1306472" y="1075750"/>
            <a:ext cx="5378400" cy="46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b="1" lang="en" sz="2580">
                <a:solidFill>
                  <a:srgbClr val="0066DE"/>
                </a:solidFill>
                <a:latin typeface="Spectral"/>
                <a:ea typeface="Spectral"/>
                <a:cs typeface="Spectral"/>
                <a:sym typeface="Spectral"/>
              </a:rPr>
              <a:t>Short</a:t>
            </a:r>
            <a:endParaRPr b="1" sz="2580">
              <a:solidFill>
                <a:srgbClr val="0066DE"/>
              </a:solidFill>
              <a:latin typeface="Spectral"/>
              <a:ea typeface="Spectral"/>
              <a:cs typeface="Spectral"/>
              <a:sym typeface="Spectral"/>
            </a:endParaRPr>
          </a:p>
        </p:txBody>
      </p:sp>
      <p:sp>
        <p:nvSpPr>
          <p:cNvPr id="228" name="Google Shape;228;p41"/>
          <p:cNvSpPr txBox="1"/>
          <p:nvPr>
            <p:ph idx="1" type="subTitle"/>
          </p:nvPr>
        </p:nvSpPr>
        <p:spPr>
          <a:xfrm>
            <a:off x="137875" y="1278675"/>
            <a:ext cx="24897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1018"/>
              <a:buNone/>
            </a:pPr>
            <a:r>
              <a:rPr lang="en" sz="1290">
                <a:solidFill>
                  <a:schemeClr val="dk1"/>
                </a:solidFill>
                <a:latin typeface="Lato"/>
                <a:ea typeface="Lato"/>
                <a:cs typeface="Lato"/>
                <a:sym typeface="Lato"/>
              </a:rPr>
              <a:t>This is short, but uninteresting. I finished reading, but I won’t do anything. </a:t>
            </a:r>
            <a:endParaRPr sz="1290">
              <a:solidFill>
                <a:schemeClr val="dk1"/>
              </a:solidFill>
              <a:latin typeface="Lato"/>
              <a:ea typeface="Lato"/>
              <a:cs typeface="Lato"/>
              <a:sym typeface="Lato"/>
            </a:endParaRPr>
          </a:p>
        </p:txBody>
      </p:sp>
      <p:sp>
        <p:nvSpPr>
          <p:cNvPr id="229" name="Google Shape;229;p41"/>
          <p:cNvSpPr txBox="1"/>
          <p:nvPr>
            <p:ph idx="1" type="subTitle"/>
          </p:nvPr>
        </p:nvSpPr>
        <p:spPr>
          <a:xfrm>
            <a:off x="5345476" y="1175775"/>
            <a:ext cx="2932200" cy="3657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1018"/>
              <a:buNone/>
            </a:pPr>
            <a:r>
              <a:rPr lang="en" sz="1400">
                <a:solidFill>
                  <a:schemeClr val="dk1"/>
                </a:solidFill>
                <a:latin typeface="Lato"/>
                <a:ea typeface="Lato"/>
                <a:cs typeface="Lato"/>
                <a:sym typeface="Lato"/>
              </a:rPr>
              <a:t>If I drive around, I sometimes notice the houses and buildings all around. There are also pieces of farm land that are very large. Houses can be built from different kinds of materials. The most common types are brick, wood, and vinyl or synthetic siding. Houses have lawns that need to be tended. Lawns need to be mowed regularly. Most people use riding lawnmowers to do this. You can also use a push mower. These come in two varieties: gas-powered and manual</a:t>
            </a:r>
            <a:r>
              <a:rPr lang="en" sz="1590">
                <a:solidFill>
                  <a:schemeClr val="dk1"/>
                </a:solidFill>
                <a:latin typeface="Lato"/>
                <a:ea typeface="Lato"/>
                <a:cs typeface="Lato"/>
                <a:sym typeface="Lato"/>
              </a:rPr>
              <a:t> </a:t>
            </a:r>
            <a:endParaRPr sz="1590">
              <a:solidFill>
                <a:schemeClr val="dk1"/>
              </a:solidFill>
              <a:latin typeface="Lato"/>
              <a:ea typeface="Lato"/>
              <a:cs typeface="Lato"/>
              <a:sym typeface="Lato"/>
            </a:endParaRPr>
          </a:p>
        </p:txBody>
      </p:sp>
      <p:sp>
        <p:nvSpPr>
          <p:cNvPr id="230" name="Google Shape;230;p41"/>
          <p:cNvSpPr txBox="1"/>
          <p:nvPr>
            <p:ph type="ctrTitle"/>
          </p:nvPr>
        </p:nvSpPr>
        <p:spPr>
          <a:xfrm>
            <a:off x="4010578" y="1075750"/>
            <a:ext cx="5378400" cy="46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b="1" lang="en" sz="2580">
                <a:solidFill>
                  <a:srgbClr val="0066DE"/>
                </a:solidFill>
                <a:latin typeface="Spectral"/>
                <a:ea typeface="Spectral"/>
                <a:cs typeface="Spectral"/>
                <a:sym typeface="Spectral"/>
              </a:rPr>
              <a:t>Loooong</a:t>
            </a:r>
            <a:endParaRPr b="1" sz="2580">
              <a:solidFill>
                <a:srgbClr val="0066DE"/>
              </a:solidFill>
              <a:latin typeface="Spectral"/>
              <a:ea typeface="Spectral"/>
              <a:cs typeface="Spectral"/>
              <a:sym typeface="Spectral"/>
            </a:endParaRPr>
          </a:p>
        </p:txBody>
      </p:sp>
      <p:sp>
        <p:nvSpPr>
          <p:cNvPr id="231" name="Google Shape;231;p41"/>
          <p:cNvSpPr txBox="1"/>
          <p:nvPr>
            <p:ph type="ctrTitle"/>
          </p:nvPr>
        </p:nvSpPr>
        <p:spPr>
          <a:xfrm>
            <a:off x="976650" y="203075"/>
            <a:ext cx="7190700" cy="326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1180">
                <a:latin typeface="Lato"/>
                <a:ea typeface="Lato"/>
                <a:cs typeface="Lato"/>
                <a:sym typeface="Lato"/>
              </a:rPr>
              <a:t>It’s not about making it “as short as can be”. It’s about making it “</a:t>
            </a:r>
            <a:r>
              <a:rPr lang="en" sz="1180">
                <a:solidFill>
                  <a:srgbClr val="0066DE"/>
                </a:solidFill>
                <a:latin typeface="Lato"/>
                <a:ea typeface="Lato"/>
                <a:cs typeface="Lato"/>
                <a:sym typeface="Lato"/>
              </a:rPr>
              <a:t>as long as it is interesting</a:t>
            </a:r>
            <a:r>
              <a:rPr lang="en" sz="1180">
                <a:latin typeface="Lato"/>
                <a:ea typeface="Lato"/>
                <a:cs typeface="Lato"/>
                <a:sym typeface="Lato"/>
              </a:rPr>
              <a:t>”</a:t>
            </a:r>
            <a:endParaRPr sz="1180">
              <a:latin typeface="Lato"/>
              <a:ea typeface="Lato"/>
              <a:cs typeface="Lato"/>
              <a:sym typeface="Lato"/>
            </a:endParaRPr>
          </a:p>
        </p:txBody>
      </p:sp>
      <p:sp>
        <p:nvSpPr>
          <p:cNvPr id="232" name="Google Shape;232;p41"/>
          <p:cNvSpPr txBox="1"/>
          <p:nvPr/>
        </p:nvSpPr>
        <p:spPr>
          <a:xfrm>
            <a:off x="0" y="4887209"/>
            <a:ext cx="9144000" cy="294000"/>
          </a:xfrm>
          <a:prstGeom prst="rect">
            <a:avLst/>
          </a:prstGeom>
          <a:noFill/>
          <a:ln>
            <a:noFill/>
          </a:ln>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sz="900">
                <a:solidFill>
                  <a:srgbClr val="B6B2B3"/>
                </a:solidFill>
                <a:latin typeface="Lato"/>
                <a:ea typeface="Lato"/>
                <a:cs typeface="Lato"/>
                <a:sym typeface="Lato"/>
              </a:rPr>
              <a:t>    7/36								            SHAANPURI.COM			 			       POWER WRITING COURSE</a:t>
            </a:r>
            <a:endParaRPr b="1" sz="900">
              <a:solidFill>
                <a:srgbClr val="B6B2B3"/>
              </a:solidFill>
              <a:latin typeface="Lato"/>
              <a:ea typeface="Lato"/>
              <a:cs typeface="Lato"/>
              <a:sym typeface="La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42"/>
          <p:cNvSpPr txBox="1"/>
          <p:nvPr>
            <p:ph type="ctrTitle"/>
          </p:nvPr>
        </p:nvSpPr>
        <p:spPr>
          <a:xfrm>
            <a:off x="976650" y="203075"/>
            <a:ext cx="7190700" cy="326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1180">
                <a:latin typeface="Lato"/>
                <a:ea typeface="Lato"/>
                <a:cs typeface="Lato"/>
                <a:sym typeface="Lato"/>
              </a:rPr>
              <a:t>It’s not about making it “as short as can be”. It’s about making it “</a:t>
            </a:r>
            <a:r>
              <a:rPr lang="en" sz="1180">
                <a:solidFill>
                  <a:srgbClr val="0066DE"/>
                </a:solidFill>
                <a:latin typeface="Lato"/>
                <a:ea typeface="Lato"/>
                <a:cs typeface="Lato"/>
                <a:sym typeface="Lato"/>
              </a:rPr>
              <a:t>as long as it is interesting</a:t>
            </a:r>
            <a:r>
              <a:rPr lang="en" sz="1180">
                <a:latin typeface="Lato"/>
                <a:ea typeface="Lato"/>
                <a:cs typeface="Lato"/>
                <a:sym typeface="Lato"/>
              </a:rPr>
              <a:t>”</a:t>
            </a:r>
            <a:endParaRPr sz="1180">
              <a:latin typeface="Lato"/>
              <a:ea typeface="Lato"/>
              <a:cs typeface="Lato"/>
              <a:sym typeface="Lato"/>
            </a:endParaRPr>
          </a:p>
        </p:txBody>
      </p:sp>
      <p:sp>
        <p:nvSpPr>
          <p:cNvPr id="238" name="Google Shape;238;p42"/>
          <p:cNvSpPr txBox="1"/>
          <p:nvPr/>
        </p:nvSpPr>
        <p:spPr>
          <a:xfrm>
            <a:off x="0" y="4887209"/>
            <a:ext cx="9144000" cy="294000"/>
          </a:xfrm>
          <a:prstGeom prst="rect">
            <a:avLst/>
          </a:prstGeom>
          <a:noFill/>
          <a:ln>
            <a:noFill/>
          </a:ln>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sz="900">
                <a:solidFill>
                  <a:srgbClr val="B6B2B3"/>
                </a:solidFill>
                <a:latin typeface="Lato"/>
                <a:ea typeface="Lato"/>
                <a:cs typeface="Lato"/>
                <a:sym typeface="Lato"/>
              </a:rPr>
              <a:t>    7/36								            SHAANPURI.COM			 			       POWER WRITING COURSE</a:t>
            </a:r>
            <a:endParaRPr b="1" sz="900">
              <a:solidFill>
                <a:srgbClr val="B6B2B3"/>
              </a:solidFill>
              <a:latin typeface="Lato"/>
              <a:ea typeface="Lato"/>
              <a:cs typeface="Lato"/>
              <a:sym typeface="Lato"/>
            </a:endParaRPr>
          </a:p>
        </p:txBody>
      </p:sp>
      <p:sp>
        <p:nvSpPr>
          <p:cNvPr id="239" name="Google Shape;239;p42"/>
          <p:cNvSpPr txBox="1"/>
          <p:nvPr>
            <p:ph idx="1" type="subTitle"/>
          </p:nvPr>
        </p:nvSpPr>
        <p:spPr>
          <a:xfrm>
            <a:off x="3493150" y="1229300"/>
            <a:ext cx="2733600" cy="3657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1018"/>
              <a:buNone/>
            </a:pPr>
            <a:r>
              <a:rPr lang="en" sz="1290">
                <a:solidFill>
                  <a:schemeClr val="dk1"/>
                </a:solidFill>
                <a:latin typeface="Lato"/>
                <a:ea typeface="Lato"/>
                <a:cs typeface="Lato"/>
                <a:sym typeface="Lato"/>
              </a:rPr>
              <a:t>Let’s make one thing perfectly clear. </a:t>
            </a:r>
            <a:br>
              <a:rPr lang="en" sz="1290">
                <a:solidFill>
                  <a:schemeClr val="dk1"/>
                </a:solidFill>
                <a:latin typeface="Lato"/>
                <a:ea typeface="Lato"/>
                <a:cs typeface="Lato"/>
                <a:sym typeface="Lato"/>
              </a:rPr>
            </a:br>
            <a:br>
              <a:rPr lang="en" sz="1290">
                <a:solidFill>
                  <a:schemeClr val="dk1"/>
                </a:solidFill>
                <a:latin typeface="Lato"/>
                <a:ea typeface="Lato"/>
                <a:cs typeface="Lato"/>
                <a:sym typeface="Lato"/>
              </a:rPr>
            </a:br>
            <a:r>
              <a:rPr lang="en" sz="1290">
                <a:solidFill>
                  <a:schemeClr val="dk1"/>
                </a:solidFill>
                <a:latin typeface="Lato"/>
                <a:ea typeface="Lato"/>
                <a:cs typeface="Lato"/>
                <a:sym typeface="Lato"/>
              </a:rPr>
              <a:t>You’re reading these words because I want you to. </a:t>
            </a:r>
            <a:endParaRPr sz="1290">
              <a:solidFill>
                <a:schemeClr val="dk1"/>
              </a:solidFill>
              <a:latin typeface="Lato"/>
              <a:ea typeface="Lato"/>
              <a:cs typeface="Lato"/>
              <a:sym typeface="Lato"/>
            </a:endParaRPr>
          </a:p>
          <a:p>
            <a:pPr indent="0" lvl="0" marL="0" rtl="0" algn="l">
              <a:spcBef>
                <a:spcPts val="0"/>
              </a:spcBef>
              <a:spcAft>
                <a:spcPts val="0"/>
              </a:spcAft>
              <a:buSzPts val="1018"/>
              <a:buNone/>
            </a:pPr>
            <a:br>
              <a:rPr lang="en" sz="1290">
                <a:solidFill>
                  <a:schemeClr val="dk1"/>
                </a:solidFill>
                <a:latin typeface="Lato"/>
                <a:ea typeface="Lato"/>
                <a:cs typeface="Lato"/>
                <a:sym typeface="Lato"/>
              </a:rPr>
            </a:br>
            <a:r>
              <a:rPr lang="en" sz="1290">
                <a:solidFill>
                  <a:schemeClr val="dk1"/>
                </a:solidFill>
                <a:latin typeface="Lato"/>
                <a:ea typeface="Lato"/>
                <a:cs typeface="Lato"/>
                <a:sym typeface="Lato"/>
              </a:rPr>
              <a:t>It’s like I’m casting a spell. </a:t>
            </a:r>
            <a:br>
              <a:rPr lang="en" sz="1290">
                <a:solidFill>
                  <a:schemeClr val="dk1"/>
                </a:solidFill>
                <a:latin typeface="Lato"/>
                <a:ea typeface="Lato"/>
                <a:cs typeface="Lato"/>
                <a:sym typeface="Lato"/>
              </a:rPr>
            </a:br>
            <a:br>
              <a:rPr lang="en" sz="1290">
                <a:solidFill>
                  <a:schemeClr val="dk1"/>
                </a:solidFill>
                <a:latin typeface="Lato"/>
                <a:ea typeface="Lato"/>
                <a:cs typeface="Lato"/>
                <a:sym typeface="Lato"/>
              </a:rPr>
            </a:br>
            <a:r>
              <a:rPr lang="en" sz="1290">
                <a:solidFill>
                  <a:schemeClr val="dk1"/>
                </a:solidFill>
                <a:latin typeface="Lato"/>
                <a:ea typeface="Lato"/>
                <a:cs typeface="Lato"/>
                <a:sym typeface="Lato"/>
              </a:rPr>
              <a:t>The spell makes you slowly keep reading more and more. </a:t>
            </a:r>
            <a:endParaRPr sz="1290">
              <a:solidFill>
                <a:schemeClr val="dk1"/>
              </a:solidFill>
              <a:latin typeface="Lato"/>
              <a:ea typeface="Lato"/>
              <a:cs typeface="Lato"/>
              <a:sym typeface="Lato"/>
            </a:endParaRPr>
          </a:p>
          <a:p>
            <a:pPr indent="0" lvl="0" marL="0" rtl="0" algn="l">
              <a:spcBef>
                <a:spcPts val="0"/>
              </a:spcBef>
              <a:spcAft>
                <a:spcPts val="0"/>
              </a:spcAft>
              <a:buSzPts val="1018"/>
              <a:buNone/>
            </a:pPr>
            <a:r>
              <a:t/>
            </a:r>
            <a:endParaRPr sz="1290">
              <a:solidFill>
                <a:schemeClr val="dk1"/>
              </a:solidFill>
              <a:latin typeface="Lato"/>
              <a:ea typeface="Lato"/>
              <a:cs typeface="Lato"/>
              <a:sym typeface="Lato"/>
            </a:endParaRPr>
          </a:p>
          <a:p>
            <a:pPr indent="0" lvl="0" marL="0" rtl="0" algn="l">
              <a:spcBef>
                <a:spcPts val="0"/>
              </a:spcBef>
              <a:spcAft>
                <a:spcPts val="0"/>
              </a:spcAft>
              <a:buSzPts val="1018"/>
              <a:buNone/>
            </a:pPr>
            <a:r>
              <a:rPr lang="en" sz="1290">
                <a:solidFill>
                  <a:schemeClr val="dk1"/>
                </a:solidFill>
                <a:latin typeface="Lato"/>
                <a:ea typeface="Lato"/>
                <a:cs typeface="Lato"/>
                <a:sym typeface="Lato"/>
              </a:rPr>
              <a:t>Not because you’re forced to, but because you want to. You’re intrigued. </a:t>
            </a:r>
            <a:endParaRPr sz="1290">
              <a:solidFill>
                <a:schemeClr val="dk1"/>
              </a:solidFill>
              <a:latin typeface="Lato"/>
              <a:ea typeface="Lato"/>
              <a:cs typeface="Lato"/>
              <a:sym typeface="Lato"/>
            </a:endParaRPr>
          </a:p>
          <a:p>
            <a:pPr indent="0" lvl="0" marL="0" rtl="0" algn="l">
              <a:spcBef>
                <a:spcPts val="0"/>
              </a:spcBef>
              <a:spcAft>
                <a:spcPts val="0"/>
              </a:spcAft>
              <a:buSzPts val="1018"/>
              <a:buNone/>
            </a:pPr>
            <a:br>
              <a:rPr lang="en" sz="1290">
                <a:solidFill>
                  <a:schemeClr val="dk1"/>
                </a:solidFill>
                <a:latin typeface="Lato"/>
                <a:ea typeface="Lato"/>
                <a:cs typeface="Lato"/>
                <a:sym typeface="Lato"/>
              </a:rPr>
            </a:br>
            <a:r>
              <a:rPr lang="en" sz="1290">
                <a:solidFill>
                  <a:schemeClr val="dk1"/>
                </a:solidFill>
                <a:latin typeface="Lato"/>
                <a:ea typeface="Lato"/>
                <a:cs typeface="Lato"/>
                <a:sym typeface="Lato"/>
              </a:rPr>
              <a:t>Would you like to learn the spell? So you can get people to hang onto every word you write? </a:t>
            </a:r>
            <a:endParaRPr sz="1290">
              <a:solidFill>
                <a:schemeClr val="dk1"/>
              </a:solidFill>
              <a:latin typeface="Lato"/>
              <a:ea typeface="Lato"/>
              <a:cs typeface="Lato"/>
              <a:sym typeface="Lato"/>
            </a:endParaRPr>
          </a:p>
        </p:txBody>
      </p:sp>
      <p:sp>
        <p:nvSpPr>
          <p:cNvPr id="240" name="Google Shape;240;p42"/>
          <p:cNvSpPr txBox="1"/>
          <p:nvPr>
            <p:ph type="ctrTitle"/>
          </p:nvPr>
        </p:nvSpPr>
        <p:spPr>
          <a:xfrm>
            <a:off x="2142400" y="471150"/>
            <a:ext cx="5378400" cy="69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b="1" lang="en" sz="2580">
                <a:solidFill>
                  <a:srgbClr val="0066DE"/>
                </a:solidFill>
                <a:latin typeface="Spectral"/>
                <a:ea typeface="Spectral"/>
                <a:cs typeface="Spectral"/>
                <a:sym typeface="Spectral"/>
              </a:rPr>
              <a:t>Interesting Long</a:t>
            </a:r>
            <a:endParaRPr b="1" sz="2580">
              <a:solidFill>
                <a:srgbClr val="0066DE"/>
              </a:solidFill>
              <a:latin typeface="Spectral"/>
              <a:ea typeface="Spectral"/>
              <a:cs typeface="Spectral"/>
              <a:sym typeface="Spectr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3"/>
          <p:cNvSpPr txBox="1"/>
          <p:nvPr/>
        </p:nvSpPr>
        <p:spPr>
          <a:xfrm>
            <a:off x="468350" y="576300"/>
            <a:ext cx="7781100" cy="427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#1 - Write at </a:t>
            </a:r>
            <a:r>
              <a:rPr b="1" lang="en">
                <a:solidFill>
                  <a:schemeClr val="dk1"/>
                </a:solidFill>
              </a:rPr>
              <a:t>5th  - 8th grade reading level</a:t>
            </a:r>
            <a:br>
              <a:rPr lang="en">
                <a:solidFill>
                  <a:schemeClr val="dk1"/>
                </a:solidFill>
              </a:rPr>
            </a:br>
            <a:br>
              <a:rPr lang="en">
                <a:solidFill>
                  <a:schemeClr val="dk1"/>
                </a:solidFill>
              </a:rPr>
            </a:br>
            <a:r>
              <a:rPr lang="en">
                <a:solidFill>
                  <a:schemeClr val="dk1"/>
                </a:solidFill>
              </a:rPr>
              <a:t>#2 - </a:t>
            </a:r>
            <a:r>
              <a:rPr b="1" lang="en">
                <a:solidFill>
                  <a:schemeClr val="dk1"/>
                </a:solidFill>
              </a:rPr>
              <a:t>Don’t use adverbs</a:t>
            </a:r>
            <a:r>
              <a:rPr lang="en">
                <a:solidFill>
                  <a:schemeClr val="dk1"/>
                </a:solidFill>
              </a:rPr>
              <a:t> (things that end in -ly)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#3 - Put the </a:t>
            </a:r>
            <a:r>
              <a:rPr b="1" lang="en">
                <a:solidFill>
                  <a:schemeClr val="dk1"/>
                </a:solidFill>
              </a:rPr>
              <a:t>subject </a:t>
            </a:r>
            <a:r>
              <a:rPr b="1" lang="en">
                <a:solidFill>
                  <a:schemeClr val="dk1"/>
                </a:solidFill>
              </a:rPr>
              <a:t>first in a sentence</a:t>
            </a:r>
            <a:r>
              <a:rPr lang="en">
                <a:solidFill>
                  <a:schemeClr val="dk1"/>
                </a:solidFill>
              </a:rPr>
              <a:t> (“the boy hit the ball” instead of “the ball was hit by the boy”)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#4 - Use </a:t>
            </a:r>
            <a:r>
              <a:rPr b="1" lang="en">
                <a:solidFill>
                  <a:schemeClr val="dk1"/>
                </a:solidFill>
              </a:rPr>
              <a:t>visual </a:t>
            </a:r>
            <a:r>
              <a:rPr lang="en">
                <a:solidFill>
                  <a:schemeClr val="dk1"/>
                </a:solidFill>
              </a:rPr>
              <a:t>language</a:t>
            </a:r>
            <a:r>
              <a:rPr lang="en">
                <a:solidFill>
                  <a:schemeClr val="dk1"/>
                </a:solidFill>
              </a:rPr>
              <a:t> (eg. “we’re going to build a </a:t>
            </a:r>
            <a:r>
              <a:rPr b="1" lang="en">
                <a:solidFill>
                  <a:schemeClr val="dk1"/>
                </a:solidFill>
              </a:rPr>
              <a:t>huge wall </a:t>
            </a:r>
            <a:r>
              <a:rPr lang="en">
                <a:solidFill>
                  <a:schemeClr val="dk1"/>
                </a:solidFill>
              </a:rPr>
              <a:t>at the border” vs. “improve national border security”)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#5 - </a:t>
            </a:r>
            <a:r>
              <a:rPr b="1" lang="en">
                <a:solidFill>
                  <a:schemeClr val="dk1"/>
                </a:solidFill>
              </a:rPr>
              <a:t>rhymes and alliteration work</a:t>
            </a:r>
            <a:r>
              <a:rPr lang="en">
                <a:solidFill>
                  <a:schemeClr val="dk1"/>
                </a:solidFill>
              </a:rPr>
              <a:t>. Feel free to rhyme anytime.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#6 - keep it personal (</a:t>
            </a:r>
            <a:r>
              <a:rPr b="1" lang="en">
                <a:solidFill>
                  <a:schemeClr val="dk1"/>
                </a:solidFill>
              </a:rPr>
              <a:t>“I” or “you” not “we” or “one”</a:t>
            </a:r>
            <a:r>
              <a:rPr lang="en">
                <a:solidFill>
                  <a:schemeClr val="dk1"/>
                </a:solidFill>
              </a:rPr>
              <a:t>)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#7 -</a:t>
            </a:r>
            <a:r>
              <a:rPr b="1" lang="en">
                <a:solidFill>
                  <a:schemeClr val="dk1"/>
                </a:solidFill>
              </a:rPr>
              <a:t> Spend 20%+ of your time</a:t>
            </a:r>
            <a:r>
              <a:rPr lang="en">
                <a:solidFill>
                  <a:schemeClr val="dk1"/>
                </a:solidFill>
              </a:rPr>
              <a:t> on the first line, last line, and formatting (readability for mobile)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BONUS:</a:t>
            </a:r>
            <a:r>
              <a:rPr lang="en">
                <a:solidFill>
                  <a:schemeClr val="dk1"/>
                </a:solidFill>
              </a:rPr>
              <a:t> Don’t write like you write. Write like you talk. When in doubt. Talk out loud first...THEN write what </a:t>
            </a:r>
            <a:r>
              <a:rPr lang="en">
                <a:solidFill>
                  <a:schemeClr val="dk1"/>
                </a:solidFill>
              </a:rPr>
              <a:t>sounded good! </a:t>
            </a:r>
            <a:endParaRPr>
              <a:solidFill>
                <a:schemeClr val="dk1"/>
              </a:solidFill>
            </a:endParaRPr>
          </a:p>
        </p:txBody>
      </p:sp>
      <p:sp>
        <p:nvSpPr>
          <p:cNvPr id="246" name="Google Shape;246;p43"/>
          <p:cNvSpPr txBox="1"/>
          <p:nvPr/>
        </p:nvSpPr>
        <p:spPr>
          <a:xfrm>
            <a:off x="-41100" y="42300"/>
            <a:ext cx="92262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500">
                <a:solidFill>
                  <a:srgbClr val="0066DE"/>
                </a:solidFill>
                <a:latin typeface="Lato"/>
                <a:ea typeface="Lato"/>
                <a:cs typeface="Lato"/>
                <a:sym typeface="Lato"/>
              </a:rPr>
              <a:t>7 Power Writing Hacks</a:t>
            </a:r>
            <a:endParaRPr b="1" sz="2500">
              <a:solidFill>
                <a:srgbClr val="0066DE"/>
              </a:solidFill>
              <a:latin typeface="Lato"/>
              <a:ea typeface="Lato"/>
              <a:cs typeface="Lato"/>
              <a:sym typeface="La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44"/>
          <p:cNvSpPr txBox="1"/>
          <p:nvPr>
            <p:ph type="ctrTitle"/>
          </p:nvPr>
        </p:nvSpPr>
        <p:spPr>
          <a:xfrm>
            <a:off x="557658" y="-7751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a:latin typeface="Lato"/>
                <a:ea typeface="Lato"/>
                <a:cs typeface="Lato"/>
                <a:sym typeface="Lato"/>
              </a:rPr>
              <a:t>s</a:t>
            </a:r>
            <a:r>
              <a:rPr b="1" lang="en">
                <a:latin typeface="Lato"/>
                <a:ea typeface="Lato"/>
                <a:cs typeface="Lato"/>
                <a:sym typeface="Lato"/>
              </a:rPr>
              <a:t>ummary:</a:t>
            </a:r>
            <a:endParaRPr b="1">
              <a:latin typeface="Lato"/>
              <a:ea typeface="Lato"/>
              <a:cs typeface="Lato"/>
              <a:sym typeface="Lato"/>
            </a:endParaRPr>
          </a:p>
        </p:txBody>
      </p:sp>
      <p:sp>
        <p:nvSpPr>
          <p:cNvPr id="252" name="Google Shape;252;p44"/>
          <p:cNvSpPr txBox="1"/>
          <p:nvPr>
            <p:ph idx="1" type="subTitle"/>
          </p:nvPr>
        </p:nvSpPr>
        <p:spPr>
          <a:xfrm>
            <a:off x="388750" y="1552900"/>
            <a:ext cx="8520600" cy="2309400"/>
          </a:xfrm>
          <a:prstGeom prst="rect">
            <a:avLst/>
          </a:prstGeom>
        </p:spPr>
        <p:txBody>
          <a:bodyPr anchorCtr="0" anchor="t" bIns="91425" lIns="91425" spcFirstLastPara="1" rIns="91425" wrap="square" tIns="91425">
            <a:normAutofit/>
          </a:bodyPr>
          <a:lstStyle/>
          <a:p>
            <a:pPr indent="-406400" lvl="0" marL="457200" rtl="0" algn="l">
              <a:spcBef>
                <a:spcPts val="0"/>
              </a:spcBef>
              <a:spcAft>
                <a:spcPts val="0"/>
              </a:spcAft>
              <a:buSzPts val="2800"/>
              <a:buChar char="●"/>
            </a:pPr>
            <a:r>
              <a:rPr b="1" lang="en">
                <a:latin typeface="Lato"/>
                <a:ea typeface="Lato"/>
                <a:cs typeface="Lato"/>
                <a:sym typeface="Lato"/>
              </a:rPr>
              <a:t>The fastest way to get good is </a:t>
            </a:r>
            <a:r>
              <a:rPr lang="en" u="sng">
                <a:latin typeface="Lato"/>
                <a:ea typeface="Lato"/>
                <a:cs typeface="Lato"/>
                <a:sym typeface="Lato"/>
              </a:rPr>
              <a:t>copywork</a:t>
            </a:r>
            <a:endParaRPr>
              <a:latin typeface="Lato"/>
              <a:ea typeface="Lato"/>
              <a:cs typeface="Lato"/>
              <a:sym typeface="Lato"/>
            </a:endParaRPr>
          </a:p>
          <a:p>
            <a:pPr indent="-406400" lvl="0" marL="457200" rtl="0" algn="l">
              <a:spcBef>
                <a:spcPts val="0"/>
              </a:spcBef>
              <a:spcAft>
                <a:spcPts val="0"/>
              </a:spcAft>
              <a:buSzPts val="2800"/>
              <a:buChar char="●"/>
            </a:pPr>
            <a:r>
              <a:rPr b="1" lang="en">
                <a:latin typeface="Lato"/>
                <a:ea typeface="Lato"/>
                <a:cs typeface="Lato"/>
                <a:sym typeface="Lato"/>
              </a:rPr>
              <a:t>Create a swipefile to </a:t>
            </a:r>
            <a:r>
              <a:rPr lang="en">
                <a:latin typeface="Lato"/>
                <a:ea typeface="Lato"/>
                <a:cs typeface="Lato"/>
                <a:sym typeface="Lato"/>
              </a:rPr>
              <a:t>stash great things you find</a:t>
            </a:r>
            <a:endParaRPr>
              <a:latin typeface="Lato"/>
              <a:ea typeface="Lato"/>
              <a:cs typeface="Lato"/>
              <a:sym typeface="Lato"/>
            </a:endParaRPr>
          </a:p>
          <a:p>
            <a:pPr indent="-406400" lvl="0" marL="457200" rtl="0" algn="l">
              <a:spcBef>
                <a:spcPts val="0"/>
              </a:spcBef>
              <a:spcAft>
                <a:spcPts val="0"/>
              </a:spcAft>
              <a:buSzPts val="2800"/>
              <a:buChar char="●"/>
            </a:pPr>
            <a:r>
              <a:rPr lang="en">
                <a:latin typeface="Lato"/>
                <a:ea typeface="Lato"/>
                <a:cs typeface="Lato"/>
                <a:sym typeface="Lato"/>
              </a:rPr>
              <a:t>Great writing is </a:t>
            </a:r>
            <a:r>
              <a:rPr b="1" lang="en">
                <a:latin typeface="Lato"/>
                <a:ea typeface="Lato"/>
                <a:cs typeface="Lato"/>
                <a:sym typeface="Lato"/>
              </a:rPr>
              <a:t>re-writing</a:t>
            </a:r>
            <a:endParaRPr b="1">
              <a:latin typeface="Lato"/>
              <a:ea typeface="Lato"/>
              <a:cs typeface="Lato"/>
              <a:sym typeface="Lato"/>
            </a:endParaRPr>
          </a:p>
          <a:p>
            <a:pPr indent="-406400" lvl="0" marL="457200" rtl="0" algn="l">
              <a:spcBef>
                <a:spcPts val="0"/>
              </a:spcBef>
              <a:spcAft>
                <a:spcPts val="0"/>
              </a:spcAft>
              <a:buSzPts val="2800"/>
              <a:buChar char="●"/>
            </a:pPr>
            <a:r>
              <a:rPr b="1" lang="en">
                <a:latin typeface="Lato"/>
                <a:ea typeface="Lato"/>
                <a:cs typeface="Lato"/>
                <a:sym typeface="Lato"/>
              </a:rPr>
              <a:t>Remember </a:t>
            </a:r>
            <a:r>
              <a:rPr lang="en">
                <a:latin typeface="Lato"/>
                <a:ea typeface="Lato"/>
                <a:cs typeface="Lato"/>
                <a:sym typeface="Lato"/>
              </a:rPr>
              <a:t>my 7 hacks for power writing</a:t>
            </a:r>
            <a:endParaRPr>
              <a:latin typeface="Lato"/>
              <a:ea typeface="Lato"/>
              <a:cs typeface="Lato"/>
              <a:sym typeface="La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5"/>
          <p:cNvSpPr/>
          <p:nvPr/>
        </p:nvSpPr>
        <p:spPr>
          <a:xfrm>
            <a:off x="0" y="0"/>
            <a:ext cx="9144000" cy="5143500"/>
          </a:xfrm>
          <a:prstGeom prst="rect">
            <a:avLst/>
          </a:prstGeom>
          <a:solidFill>
            <a:srgbClr val="1F8FFF"/>
          </a:solidFill>
          <a:ln cap="flat" cmpd="sng" w="9525">
            <a:solidFill>
              <a:srgbClr val="1F8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45"/>
          <p:cNvSpPr txBox="1"/>
          <p:nvPr>
            <p:ph type="ctrTitle"/>
          </p:nvPr>
        </p:nvSpPr>
        <p:spPr>
          <a:xfrm>
            <a:off x="479679" y="523975"/>
            <a:ext cx="4600200" cy="1650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t/>
            </a:r>
            <a:endParaRPr sz="2200">
              <a:solidFill>
                <a:srgbClr val="0066DE"/>
              </a:solidFill>
              <a:latin typeface="Lato"/>
              <a:ea typeface="Lato"/>
              <a:cs typeface="Lato"/>
              <a:sym typeface="Lato"/>
            </a:endParaRPr>
          </a:p>
          <a:p>
            <a:pPr indent="0" lvl="0" marL="0" rtl="0" algn="l">
              <a:spcBef>
                <a:spcPts val="0"/>
              </a:spcBef>
              <a:spcAft>
                <a:spcPts val="0"/>
              </a:spcAft>
              <a:buNone/>
            </a:pPr>
            <a:r>
              <a:rPr lang="en">
                <a:solidFill>
                  <a:schemeClr val="lt1"/>
                </a:solidFill>
                <a:latin typeface="Lato"/>
                <a:ea typeface="Lato"/>
                <a:cs typeface="Lato"/>
                <a:sym typeface="Lato"/>
              </a:rPr>
              <a:t>Describing what you do</a:t>
            </a:r>
            <a:endParaRPr>
              <a:solidFill>
                <a:schemeClr val="lt1"/>
              </a:solidFill>
              <a:latin typeface="Lato"/>
              <a:ea typeface="Lato"/>
              <a:cs typeface="Lato"/>
              <a:sym typeface="Lato"/>
            </a:endParaRPr>
          </a:p>
        </p:txBody>
      </p:sp>
      <p:sp>
        <p:nvSpPr>
          <p:cNvPr id="259" name="Google Shape;259;p45"/>
          <p:cNvSpPr txBox="1"/>
          <p:nvPr>
            <p:ph type="ctrTitle"/>
          </p:nvPr>
        </p:nvSpPr>
        <p:spPr>
          <a:xfrm>
            <a:off x="500875" y="3428175"/>
            <a:ext cx="6361800" cy="518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2000">
                <a:solidFill>
                  <a:schemeClr val="lt1"/>
                </a:solidFill>
                <a:latin typeface="Lato"/>
                <a:ea typeface="Lato"/>
                <a:cs typeface="Lato"/>
                <a:sym typeface="Lato"/>
              </a:rPr>
              <a:t>By Shaan Puri</a:t>
            </a:r>
            <a:endParaRPr sz="2000">
              <a:solidFill>
                <a:schemeClr val="lt1"/>
              </a:solidFill>
              <a:latin typeface="Lato"/>
              <a:ea typeface="Lato"/>
              <a:cs typeface="Lato"/>
              <a:sym typeface="Lato"/>
            </a:endParaRPr>
          </a:p>
        </p:txBody>
      </p:sp>
      <p:sp>
        <p:nvSpPr>
          <p:cNvPr id="260" name="Google Shape;260;p45"/>
          <p:cNvSpPr txBox="1"/>
          <p:nvPr>
            <p:ph type="ctrTitle"/>
          </p:nvPr>
        </p:nvSpPr>
        <p:spPr>
          <a:xfrm>
            <a:off x="500875" y="4266375"/>
            <a:ext cx="6361800" cy="518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1000">
                <a:solidFill>
                  <a:schemeClr val="lt1"/>
                </a:solidFill>
                <a:latin typeface="Lato"/>
                <a:ea typeface="Lato"/>
                <a:cs typeface="Lato"/>
                <a:sym typeface="Lato"/>
              </a:rPr>
              <a:t>POWER WRITING COURSE</a:t>
            </a:r>
            <a:endParaRPr b="1" sz="1000">
              <a:solidFill>
                <a:schemeClr val="lt1"/>
              </a:solidFill>
              <a:latin typeface="Lato"/>
              <a:ea typeface="Lato"/>
              <a:cs typeface="Lato"/>
              <a:sym typeface="Lato"/>
            </a:endParaRPr>
          </a:p>
        </p:txBody>
      </p:sp>
      <p:pic>
        <p:nvPicPr>
          <p:cNvPr id="261" name="Google Shape;261;p45"/>
          <p:cNvPicPr preferRelativeResize="0"/>
          <p:nvPr/>
        </p:nvPicPr>
        <p:blipFill>
          <a:blip r:embed="rId3">
            <a:alphaModFix/>
          </a:blip>
          <a:stretch>
            <a:fillRect/>
          </a:stretch>
        </p:blipFill>
        <p:spPr>
          <a:xfrm>
            <a:off x="2857248" y="1401325"/>
            <a:ext cx="5691073" cy="346412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6"/>
          <p:cNvSpPr/>
          <p:nvPr/>
        </p:nvSpPr>
        <p:spPr>
          <a:xfrm>
            <a:off x="0" y="0"/>
            <a:ext cx="9144000" cy="5143500"/>
          </a:xfrm>
          <a:prstGeom prst="rect">
            <a:avLst/>
          </a:prstGeom>
          <a:solidFill>
            <a:srgbClr val="1F8FFF"/>
          </a:solidFill>
          <a:ln cap="flat" cmpd="sng" w="9525">
            <a:solidFill>
              <a:srgbClr val="1F8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46"/>
          <p:cNvSpPr txBox="1"/>
          <p:nvPr>
            <p:ph type="ctrTitle"/>
          </p:nvPr>
        </p:nvSpPr>
        <p:spPr>
          <a:xfrm>
            <a:off x="500875" y="4266375"/>
            <a:ext cx="6361800" cy="518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1000">
                <a:solidFill>
                  <a:schemeClr val="lt1"/>
                </a:solidFill>
                <a:latin typeface="Lato"/>
                <a:ea typeface="Lato"/>
                <a:cs typeface="Lato"/>
                <a:sym typeface="Lato"/>
              </a:rPr>
              <a:t>POWER WRITING COURSE</a:t>
            </a:r>
            <a:endParaRPr b="1" sz="1000">
              <a:solidFill>
                <a:schemeClr val="lt1"/>
              </a:solidFill>
              <a:latin typeface="Lato"/>
              <a:ea typeface="Lato"/>
              <a:cs typeface="Lato"/>
              <a:sym typeface="Lato"/>
            </a:endParaRPr>
          </a:p>
        </p:txBody>
      </p:sp>
      <p:pic>
        <p:nvPicPr>
          <p:cNvPr id="268" name="Google Shape;268;p46"/>
          <p:cNvPicPr preferRelativeResize="0"/>
          <p:nvPr/>
        </p:nvPicPr>
        <p:blipFill rotWithShape="1">
          <a:blip r:embed="rId3">
            <a:alphaModFix/>
          </a:blip>
          <a:srcRect b="55179" l="0" r="43908" t="0"/>
          <a:stretch/>
        </p:blipFill>
        <p:spPr>
          <a:xfrm>
            <a:off x="1271726" y="915450"/>
            <a:ext cx="7218525" cy="3510949"/>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7"/>
          <p:cNvSpPr/>
          <p:nvPr/>
        </p:nvSpPr>
        <p:spPr>
          <a:xfrm>
            <a:off x="0" y="0"/>
            <a:ext cx="9144000" cy="5143500"/>
          </a:xfrm>
          <a:prstGeom prst="rect">
            <a:avLst/>
          </a:prstGeom>
          <a:solidFill>
            <a:srgbClr val="F7F1F1"/>
          </a:solidFill>
          <a:ln cap="flat" cmpd="sng" w="9525">
            <a:solidFill>
              <a:srgbClr val="F7F1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47"/>
          <p:cNvSpPr txBox="1"/>
          <p:nvPr>
            <p:ph type="ctrTitle"/>
          </p:nvPr>
        </p:nvSpPr>
        <p:spPr>
          <a:xfrm>
            <a:off x="1084950" y="731850"/>
            <a:ext cx="6974100" cy="32226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br>
              <a:rPr b="1" lang="en" sz="2200"/>
            </a:br>
            <a:r>
              <a:rPr b="1" lang="en" sz="2600">
                <a:latin typeface="Lato"/>
                <a:ea typeface="Lato"/>
                <a:cs typeface="Lato"/>
                <a:sym typeface="Lato"/>
              </a:rPr>
              <a:t>You should be able to </a:t>
            </a:r>
            <a:r>
              <a:rPr b="1" lang="en" sz="2600">
                <a:solidFill>
                  <a:srgbClr val="0066DE"/>
                </a:solidFill>
                <a:latin typeface="Lato"/>
                <a:ea typeface="Lato"/>
                <a:cs typeface="Lato"/>
                <a:sym typeface="Lato"/>
              </a:rPr>
              <a:t>explain</a:t>
            </a:r>
            <a:r>
              <a:rPr b="1" lang="en" sz="2600">
                <a:latin typeface="Lato"/>
                <a:ea typeface="Lato"/>
                <a:cs typeface="Lato"/>
                <a:sym typeface="Lato"/>
              </a:rPr>
              <a:t>:</a:t>
            </a:r>
            <a:r>
              <a:rPr b="1" lang="en" sz="2200">
                <a:latin typeface="Lato"/>
                <a:ea typeface="Lato"/>
                <a:cs typeface="Lato"/>
                <a:sym typeface="Lato"/>
              </a:rPr>
              <a:t> </a:t>
            </a:r>
            <a:endParaRPr b="1" sz="2200">
              <a:latin typeface="Lato"/>
              <a:ea typeface="Lato"/>
              <a:cs typeface="Lato"/>
              <a:sym typeface="Lato"/>
            </a:endParaRPr>
          </a:p>
          <a:p>
            <a:pPr indent="0" lvl="0" marL="0" rtl="0" algn="ctr">
              <a:lnSpc>
                <a:spcPct val="115000"/>
              </a:lnSpc>
              <a:spcBef>
                <a:spcPts val="0"/>
              </a:spcBef>
              <a:spcAft>
                <a:spcPts val="0"/>
              </a:spcAft>
              <a:buNone/>
            </a:pPr>
            <a:r>
              <a:t/>
            </a:r>
            <a:endParaRPr sz="2200">
              <a:latin typeface="Lato"/>
              <a:ea typeface="Lato"/>
              <a:cs typeface="Lato"/>
              <a:sym typeface="Lato"/>
            </a:endParaRPr>
          </a:p>
          <a:p>
            <a:pPr indent="-368300" lvl="0" marL="457200" rtl="0" algn="l">
              <a:lnSpc>
                <a:spcPct val="115000"/>
              </a:lnSpc>
              <a:spcBef>
                <a:spcPts val="0"/>
              </a:spcBef>
              <a:spcAft>
                <a:spcPts val="0"/>
              </a:spcAft>
              <a:buClr>
                <a:srgbClr val="0066DE"/>
              </a:buClr>
              <a:buSzPts val="2200"/>
              <a:buFont typeface="Lato"/>
              <a:buChar char="●"/>
            </a:pPr>
            <a:r>
              <a:rPr lang="en" sz="2200">
                <a:solidFill>
                  <a:srgbClr val="0066DE"/>
                </a:solidFill>
                <a:latin typeface="Lato"/>
                <a:ea typeface="Lato"/>
                <a:cs typeface="Lato"/>
                <a:sym typeface="Lato"/>
              </a:rPr>
              <a:t>What the company does</a:t>
            </a:r>
            <a:endParaRPr sz="2200">
              <a:solidFill>
                <a:srgbClr val="0066DE"/>
              </a:solidFill>
              <a:latin typeface="Lato"/>
              <a:ea typeface="Lato"/>
              <a:cs typeface="Lato"/>
              <a:sym typeface="Lato"/>
            </a:endParaRPr>
          </a:p>
          <a:p>
            <a:pPr indent="-368300" lvl="0" marL="457200" rtl="0" algn="l">
              <a:lnSpc>
                <a:spcPct val="115000"/>
              </a:lnSpc>
              <a:spcBef>
                <a:spcPts val="0"/>
              </a:spcBef>
              <a:spcAft>
                <a:spcPts val="0"/>
              </a:spcAft>
              <a:buClr>
                <a:srgbClr val="0066DE"/>
              </a:buClr>
              <a:buSzPts val="2200"/>
              <a:buFont typeface="Lato"/>
              <a:buChar char="●"/>
            </a:pPr>
            <a:r>
              <a:rPr lang="en" sz="2200">
                <a:solidFill>
                  <a:srgbClr val="0066DE"/>
                </a:solidFill>
                <a:latin typeface="Lato"/>
                <a:ea typeface="Lato"/>
                <a:cs typeface="Lato"/>
                <a:sym typeface="Lato"/>
              </a:rPr>
              <a:t>Who it’s for</a:t>
            </a:r>
            <a:endParaRPr sz="2200">
              <a:solidFill>
                <a:srgbClr val="0066DE"/>
              </a:solidFill>
              <a:latin typeface="Lato"/>
              <a:ea typeface="Lato"/>
              <a:cs typeface="Lato"/>
              <a:sym typeface="Lato"/>
            </a:endParaRPr>
          </a:p>
          <a:p>
            <a:pPr indent="-368300" lvl="0" marL="457200" rtl="0" algn="l">
              <a:lnSpc>
                <a:spcPct val="115000"/>
              </a:lnSpc>
              <a:spcBef>
                <a:spcPts val="0"/>
              </a:spcBef>
              <a:spcAft>
                <a:spcPts val="0"/>
              </a:spcAft>
              <a:buClr>
                <a:srgbClr val="0066DE"/>
              </a:buClr>
              <a:buSzPts val="2200"/>
              <a:buFont typeface="Lato"/>
              <a:buChar char="●"/>
            </a:pPr>
            <a:r>
              <a:rPr lang="en" sz="2200">
                <a:solidFill>
                  <a:srgbClr val="0066DE"/>
                </a:solidFill>
                <a:latin typeface="Lato"/>
                <a:ea typeface="Lato"/>
                <a:cs typeface="Lato"/>
                <a:sym typeface="Lato"/>
              </a:rPr>
              <a:t>Why it’s needed</a:t>
            </a:r>
            <a:endParaRPr sz="2200">
              <a:solidFill>
                <a:srgbClr val="0066DE"/>
              </a:solidFill>
              <a:latin typeface="Lato"/>
              <a:ea typeface="Lato"/>
              <a:cs typeface="Lato"/>
              <a:sym typeface="Lato"/>
            </a:endParaRPr>
          </a:p>
          <a:p>
            <a:pPr indent="0" lvl="0" marL="0" rtl="0" algn="ctr">
              <a:lnSpc>
                <a:spcPct val="115000"/>
              </a:lnSpc>
              <a:spcBef>
                <a:spcPts val="0"/>
              </a:spcBef>
              <a:spcAft>
                <a:spcPts val="0"/>
              </a:spcAft>
              <a:buNone/>
            </a:pPr>
            <a:r>
              <a:t/>
            </a:r>
            <a:endParaRPr b="1" sz="2200"/>
          </a:p>
          <a:p>
            <a:pPr indent="0" lvl="0" marL="0" rtl="0" algn="ctr">
              <a:lnSpc>
                <a:spcPct val="115000"/>
              </a:lnSpc>
              <a:spcBef>
                <a:spcPts val="0"/>
              </a:spcBef>
              <a:spcAft>
                <a:spcPts val="0"/>
              </a:spcAft>
              <a:buNone/>
            </a:pPr>
            <a:r>
              <a:rPr lang="en" sz="2200">
                <a:latin typeface="Spectral"/>
                <a:ea typeface="Spectral"/>
                <a:cs typeface="Spectral"/>
                <a:sym typeface="Spectral"/>
              </a:rPr>
              <a:t>In plain jane english. </a:t>
            </a:r>
            <a:endParaRPr sz="2200">
              <a:latin typeface="Spectral"/>
              <a:ea typeface="Spectral"/>
              <a:cs typeface="Spectral"/>
              <a:sym typeface="Spectral"/>
            </a:endParaRPr>
          </a:p>
        </p:txBody>
      </p:sp>
      <p:sp>
        <p:nvSpPr>
          <p:cNvPr id="275" name="Google Shape;275;p47"/>
          <p:cNvSpPr txBox="1"/>
          <p:nvPr/>
        </p:nvSpPr>
        <p:spPr>
          <a:xfrm>
            <a:off x="0" y="4887209"/>
            <a:ext cx="9144000" cy="294000"/>
          </a:xfrm>
          <a:prstGeom prst="rect">
            <a:avLst/>
          </a:prstGeom>
          <a:noFill/>
          <a:ln>
            <a:noFill/>
          </a:ln>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sz="900">
                <a:solidFill>
                  <a:srgbClr val="B6B2B3"/>
                </a:solidFill>
                <a:latin typeface="Lato"/>
                <a:ea typeface="Lato"/>
                <a:cs typeface="Lato"/>
                <a:sym typeface="Lato"/>
              </a:rPr>
              <a:t>    8/36								            SHAANPURI.COM			 			       POWER WRITING COURSE</a:t>
            </a:r>
            <a:endParaRPr b="1" sz="900">
              <a:solidFill>
                <a:srgbClr val="B6B2B3"/>
              </a:solidFill>
              <a:latin typeface="Lato"/>
              <a:ea typeface="Lato"/>
              <a:cs typeface="Lato"/>
              <a:sym typeface="Lat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8"/>
          <p:cNvSpPr/>
          <p:nvPr/>
        </p:nvSpPr>
        <p:spPr>
          <a:xfrm>
            <a:off x="0" y="0"/>
            <a:ext cx="9144000" cy="5143500"/>
          </a:xfrm>
          <a:prstGeom prst="rect">
            <a:avLst/>
          </a:prstGeom>
          <a:solidFill>
            <a:srgbClr val="1F8FFF"/>
          </a:solidFill>
          <a:ln cap="flat" cmpd="sng" w="9525">
            <a:solidFill>
              <a:srgbClr val="1F8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48"/>
          <p:cNvSpPr txBox="1"/>
          <p:nvPr>
            <p:ph type="ctrTitle"/>
          </p:nvPr>
        </p:nvSpPr>
        <p:spPr>
          <a:xfrm>
            <a:off x="1084950" y="1249350"/>
            <a:ext cx="6974100" cy="26448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a:solidFill>
                  <a:schemeClr val="lt1"/>
                </a:solidFill>
                <a:latin typeface="Lato"/>
                <a:ea typeface="Lato"/>
                <a:cs typeface="Lato"/>
                <a:sym typeface="Lato"/>
              </a:rPr>
              <a:t>Who wants some action? </a:t>
            </a:r>
            <a:br>
              <a:rPr b="1" lang="en">
                <a:solidFill>
                  <a:schemeClr val="lt1"/>
                </a:solidFill>
                <a:latin typeface="Lato"/>
                <a:ea typeface="Lato"/>
                <a:cs typeface="Lato"/>
                <a:sym typeface="Lato"/>
              </a:rPr>
            </a:br>
            <a:br>
              <a:rPr b="1" lang="en">
                <a:solidFill>
                  <a:schemeClr val="lt1"/>
                </a:solidFill>
                <a:latin typeface="Lato"/>
                <a:ea typeface="Lato"/>
                <a:cs typeface="Lato"/>
                <a:sym typeface="Lato"/>
              </a:rPr>
            </a:br>
            <a:r>
              <a:rPr b="1" lang="en">
                <a:solidFill>
                  <a:schemeClr val="lt1"/>
                </a:solidFill>
                <a:latin typeface="Lato"/>
                <a:ea typeface="Lato"/>
                <a:cs typeface="Lato"/>
                <a:sym typeface="Lato"/>
              </a:rPr>
              <a:t>I need a founder/ceo volunteer</a:t>
            </a:r>
            <a:endParaRPr b="1" sz="2200"/>
          </a:p>
        </p:txBody>
      </p:sp>
      <p:sp>
        <p:nvSpPr>
          <p:cNvPr id="282" name="Google Shape;282;p48"/>
          <p:cNvSpPr txBox="1"/>
          <p:nvPr/>
        </p:nvSpPr>
        <p:spPr>
          <a:xfrm>
            <a:off x="0" y="4887209"/>
            <a:ext cx="9144000" cy="294000"/>
          </a:xfrm>
          <a:prstGeom prst="rect">
            <a:avLst/>
          </a:prstGeom>
          <a:noFill/>
          <a:ln>
            <a:noFill/>
          </a:ln>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sz="900">
                <a:solidFill>
                  <a:schemeClr val="lt1"/>
                </a:solidFill>
                <a:latin typeface="Lato"/>
                <a:ea typeface="Lato"/>
                <a:cs typeface="Lato"/>
                <a:sym typeface="Lato"/>
              </a:rPr>
              <a:t>    9/36								            SHAANPURI.COM			 			       POWER WRITING COURSE</a:t>
            </a:r>
            <a:endParaRPr b="1" sz="900">
              <a:solidFill>
                <a:schemeClr val="lt1"/>
              </a:solidFill>
              <a:latin typeface="Lato"/>
              <a:ea typeface="Lato"/>
              <a:cs typeface="Lato"/>
              <a:sym typeface="Lat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9"/>
          <p:cNvSpPr/>
          <p:nvPr/>
        </p:nvSpPr>
        <p:spPr>
          <a:xfrm>
            <a:off x="0" y="0"/>
            <a:ext cx="9144000" cy="5143500"/>
          </a:xfrm>
          <a:prstGeom prst="rect">
            <a:avLst/>
          </a:prstGeom>
          <a:solidFill>
            <a:srgbClr val="1F8FFF"/>
          </a:solidFill>
          <a:ln cap="flat" cmpd="sng" w="9525">
            <a:solidFill>
              <a:srgbClr val="1F8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49"/>
          <p:cNvSpPr txBox="1"/>
          <p:nvPr>
            <p:ph type="ctrTitle"/>
          </p:nvPr>
        </p:nvSpPr>
        <p:spPr>
          <a:xfrm>
            <a:off x="1084950" y="1249350"/>
            <a:ext cx="6974100" cy="26448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a:solidFill>
                  <a:schemeClr val="lt1"/>
                </a:solidFill>
                <a:latin typeface="Lato"/>
                <a:ea typeface="Lato"/>
                <a:cs typeface="Lato"/>
                <a:sym typeface="Lato"/>
              </a:rPr>
              <a:t>I’m an investor, you have 45 seconds to tell me about your company. GO!</a:t>
            </a:r>
            <a:endParaRPr b="1" sz="2200"/>
          </a:p>
        </p:txBody>
      </p:sp>
      <p:sp>
        <p:nvSpPr>
          <p:cNvPr id="289" name="Google Shape;289;p49"/>
          <p:cNvSpPr txBox="1"/>
          <p:nvPr/>
        </p:nvSpPr>
        <p:spPr>
          <a:xfrm>
            <a:off x="0" y="4887209"/>
            <a:ext cx="9144000" cy="294000"/>
          </a:xfrm>
          <a:prstGeom prst="rect">
            <a:avLst/>
          </a:prstGeom>
          <a:noFill/>
          <a:ln>
            <a:noFill/>
          </a:ln>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sz="900">
                <a:solidFill>
                  <a:schemeClr val="lt1"/>
                </a:solidFill>
                <a:latin typeface="Lato"/>
                <a:ea typeface="Lato"/>
                <a:cs typeface="Lato"/>
                <a:sym typeface="Lato"/>
              </a:rPr>
              <a:t>    9/36								            SHAANPURI.COM			 			       POWER WRITING COURSE</a:t>
            </a:r>
            <a:endParaRPr b="1" sz="900">
              <a:solidFill>
                <a:schemeClr val="lt1"/>
              </a:solidFill>
              <a:latin typeface="Lato"/>
              <a:ea typeface="Lato"/>
              <a:cs typeface="Lato"/>
              <a:sym typeface="Lato"/>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50"/>
          <p:cNvSpPr/>
          <p:nvPr/>
        </p:nvSpPr>
        <p:spPr>
          <a:xfrm>
            <a:off x="0" y="0"/>
            <a:ext cx="9144000" cy="5143500"/>
          </a:xfrm>
          <a:prstGeom prst="rect">
            <a:avLst/>
          </a:prstGeom>
          <a:solidFill>
            <a:srgbClr val="F7F1F1"/>
          </a:solidFill>
          <a:ln cap="flat" cmpd="sng" w="9525">
            <a:solidFill>
              <a:srgbClr val="F7F1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50"/>
          <p:cNvSpPr txBox="1"/>
          <p:nvPr>
            <p:ph type="ctrTitle"/>
          </p:nvPr>
        </p:nvSpPr>
        <p:spPr>
          <a:xfrm>
            <a:off x="311700" y="-552200"/>
            <a:ext cx="8520600" cy="1962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2800">
                <a:latin typeface="Lato"/>
                <a:ea typeface="Lato"/>
                <a:cs typeface="Lato"/>
                <a:sym typeface="Lato"/>
              </a:rPr>
              <a:t>notes:</a:t>
            </a:r>
            <a:endParaRPr sz="2800">
              <a:latin typeface="Lato"/>
              <a:ea typeface="Lato"/>
              <a:cs typeface="Lato"/>
              <a:sym typeface="Lato"/>
            </a:endParaRPr>
          </a:p>
        </p:txBody>
      </p:sp>
      <p:sp>
        <p:nvSpPr>
          <p:cNvPr id="296" name="Google Shape;296;p50"/>
          <p:cNvSpPr txBox="1"/>
          <p:nvPr/>
        </p:nvSpPr>
        <p:spPr>
          <a:xfrm>
            <a:off x="0" y="4887209"/>
            <a:ext cx="9144000" cy="294000"/>
          </a:xfrm>
          <a:prstGeom prst="rect">
            <a:avLst/>
          </a:prstGeom>
          <a:noFill/>
          <a:ln>
            <a:noFill/>
          </a:ln>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sz="900">
                <a:solidFill>
                  <a:srgbClr val="B6B2B3"/>
                </a:solidFill>
                <a:latin typeface="Lato"/>
                <a:ea typeface="Lato"/>
                <a:cs typeface="Lato"/>
                <a:sym typeface="Lato"/>
              </a:rPr>
              <a:t>    2/36								            SHAANPURI.COM			 			       POWER WRITING COURSE</a:t>
            </a:r>
            <a:endParaRPr b="1" sz="900">
              <a:solidFill>
                <a:srgbClr val="B6B2B3"/>
              </a:solidFill>
              <a:latin typeface="Lato"/>
              <a:ea typeface="Lato"/>
              <a:cs typeface="Lato"/>
              <a:sym typeface="Lato"/>
            </a:endParaRPr>
          </a:p>
        </p:txBody>
      </p:sp>
      <p:sp>
        <p:nvSpPr>
          <p:cNvPr id="297" name="Google Shape;297;p50"/>
          <p:cNvSpPr txBox="1"/>
          <p:nvPr/>
        </p:nvSpPr>
        <p:spPr>
          <a:xfrm>
            <a:off x="1453050" y="659275"/>
            <a:ext cx="62379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2200">
              <a:solidFill>
                <a:schemeClr val="dk1"/>
              </a:solidFill>
              <a:latin typeface="Spectral"/>
              <a:ea typeface="Spectral"/>
              <a:cs typeface="Spectral"/>
              <a:sym typeface="Spectral"/>
            </a:endParaRPr>
          </a:p>
        </p:txBody>
      </p:sp>
      <p:sp>
        <p:nvSpPr>
          <p:cNvPr id="298" name="Google Shape;298;p50"/>
          <p:cNvSpPr txBox="1"/>
          <p:nvPr/>
        </p:nvSpPr>
        <p:spPr>
          <a:xfrm>
            <a:off x="738925" y="1009600"/>
            <a:ext cx="7309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I’m building a company that helps you invest in commercial real estate for $100</a:t>
            </a:r>
            <a:endParaRPr b="1"/>
          </a:p>
        </p:txBody>
      </p:sp>
      <p:sp>
        <p:nvSpPr>
          <p:cNvPr id="299" name="Google Shape;299;p50"/>
          <p:cNvSpPr txBox="1"/>
          <p:nvPr/>
        </p:nvSpPr>
        <p:spPr>
          <a:xfrm>
            <a:off x="653825" y="1860763"/>
            <a:ext cx="73098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You know how creating videos is expensive, time consuming and sucks. We help bring the video production in house while still handling the editing outsourced for far less time and money</a:t>
            </a:r>
            <a:endParaRPr b="1"/>
          </a:p>
        </p:txBody>
      </p:sp>
      <p:sp>
        <p:nvSpPr>
          <p:cNvPr id="300" name="Google Shape;300;p50"/>
          <p:cNvSpPr txBox="1"/>
          <p:nvPr/>
        </p:nvSpPr>
        <p:spPr>
          <a:xfrm>
            <a:off x="1451425" y="1317875"/>
            <a:ext cx="1240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8</a:t>
            </a:r>
            <a:endParaRPr/>
          </a:p>
        </p:txBody>
      </p:sp>
      <p:sp>
        <p:nvSpPr>
          <p:cNvPr id="301" name="Google Shape;301;p50"/>
          <p:cNvSpPr txBox="1"/>
          <p:nvPr/>
        </p:nvSpPr>
        <p:spPr>
          <a:xfrm>
            <a:off x="1603825" y="2680600"/>
            <a:ext cx="1240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5</a:t>
            </a:r>
            <a:endParaRPr/>
          </a:p>
        </p:txBody>
      </p:sp>
      <p:sp>
        <p:nvSpPr>
          <p:cNvPr id="302" name="Google Shape;302;p50"/>
          <p:cNvSpPr txBox="1"/>
          <p:nvPr/>
        </p:nvSpPr>
        <p:spPr>
          <a:xfrm>
            <a:off x="653825" y="3268563"/>
            <a:ext cx="7309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I work at a big automotive company, and i’m responsible for making sure your car gets outta the snow if it’s stuck</a:t>
            </a:r>
            <a:endParaRPr b="1"/>
          </a:p>
        </p:txBody>
      </p:sp>
      <p:sp>
        <p:nvSpPr>
          <p:cNvPr id="303" name="Google Shape;303;p50"/>
          <p:cNvSpPr txBox="1"/>
          <p:nvPr/>
        </p:nvSpPr>
        <p:spPr>
          <a:xfrm>
            <a:off x="1603825" y="3729025"/>
            <a:ext cx="1240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7</a:t>
            </a:r>
            <a:endParaRPr/>
          </a:p>
        </p:txBody>
      </p:sp>
      <p:sp>
        <p:nvSpPr>
          <p:cNvPr id="304" name="Google Shape;304;p50"/>
          <p:cNvSpPr txBox="1"/>
          <p:nvPr/>
        </p:nvSpPr>
        <p:spPr>
          <a:xfrm>
            <a:off x="793000" y="4351613"/>
            <a:ext cx="7309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I’m brian i’m the CFO of the division of bloomberg, its the electronic trading division. Its undergoing hyper growth right now. Really cool. </a:t>
            </a:r>
            <a:endParaRPr b="1"/>
          </a:p>
        </p:txBody>
      </p:sp>
      <p:sp>
        <p:nvSpPr>
          <p:cNvPr id="305" name="Google Shape;305;p50"/>
          <p:cNvSpPr txBox="1"/>
          <p:nvPr/>
        </p:nvSpPr>
        <p:spPr>
          <a:xfrm>
            <a:off x="6287975" y="4567025"/>
            <a:ext cx="1240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4</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51"/>
          <p:cNvSpPr/>
          <p:nvPr/>
        </p:nvSpPr>
        <p:spPr>
          <a:xfrm>
            <a:off x="0" y="0"/>
            <a:ext cx="9144000" cy="5143500"/>
          </a:xfrm>
          <a:prstGeom prst="rect">
            <a:avLst/>
          </a:prstGeom>
          <a:solidFill>
            <a:srgbClr val="F7F1F1"/>
          </a:solidFill>
          <a:ln cap="flat" cmpd="sng" w="9525">
            <a:solidFill>
              <a:srgbClr val="F7F1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51"/>
          <p:cNvSpPr txBox="1"/>
          <p:nvPr>
            <p:ph type="ctrTitle"/>
          </p:nvPr>
        </p:nvSpPr>
        <p:spPr>
          <a:xfrm>
            <a:off x="311700" y="-552200"/>
            <a:ext cx="8520600" cy="1962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2800">
                <a:latin typeface="Lato"/>
                <a:ea typeface="Lato"/>
                <a:cs typeface="Lato"/>
                <a:sym typeface="Lato"/>
              </a:rPr>
              <a:t>notes:</a:t>
            </a:r>
            <a:endParaRPr sz="2800">
              <a:latin typeface="Lato"/>
              <a:ea typeface="Lato"/>
              <a:cs typeface="Lato"/>
              <a:sym typeface="Lato"/>
            </a:endParaRPr>
          </a:p>
        </p:txBody>
      </p:sp>
      <p:sp>
        <p:nvSpPr>
          <p:cNvPr id="312" name="Google Shape;312;p51"/>
          <p:cNvSpPr txBox="1"/>
          <p:nvPr/>
        </p:nvSpPr>
        <p:spPr>
          <a:xfrm>
            <a:off x="0" y="4887209"/>
            <a:ext cx="9144000" cy="294000"/>
          </a:xfrm>
          <a:prstGeom prst="rect">
            <a:avLst/>
          </a:prstGeom>
          <a:noFill/>
          <a:ln>
            <a:noFill/>
          </a:ln>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sz="900">
                <a:solidFill>
                  <a:srgbClr val="B6B2B3"/>
                </a:solidFill>
                <a:latin typeface="Lato"/>
                <a:ea typeface="Lato"/>
                <a:cs typeface="Lato"/>
                <a:sym typeface="Lato"/>
              </a:rPr>
              <a:t>    2/36								            SHAANPURI.COM			 			       POWER WRITING COURSE</a:t>
            </a:r>
            <a:endParaRPr b="1" sz="900">
              <a:solidFill>
                <a:srgbClr val="B6B2B3"/>
              </a:solidFill>
              <a:latin typeface="Lato"/>
              <a:ea typeface="Lato"/>
              <a:cs typeface="Lato"/>
              <a:sym typeface="Lato"/>
            </a:endParaRPr>
          </a:p>
        </p:txBody>
      </p:sp>
      <p:sp>
        <p:nvSpPr>
          <p:cNvPr id="313" name="Google Shape;313;p51"/>
          <p:cNvSpPr txBox="1"/>
          <p:nvPr/>
        </p:nvSpPr>
        <p:spPr>
          <a:xfrm>
            <a:off x="126275" y="883925"/>
            <a:ext cx="88137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t/>
            </a:r>
            <a:endParaRPr/>
          </a:p>
        </p:txBody>
      </p:sp>
      <p:sp>
        <p:nvSpPr>
          <p:cNvPr id="314" name="Google Shape;314;p51"/>
          <p:cNvSpPr txBox="1"/>
          <p:nvPr/>
        </p:nvSpPr>
        <p:spPr>
          <a:xfrm>
            <a:off x="627450" y="955375"/>
            <a:ext cx="7309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I help people find love. I own a video speed dating company. And we do courses for singles as well </a:t>
            </a:r>
            <a:endParaRPr b="1"/>
          </a:p>
        </p:txBody>
      </p:sp>
      <p:sp>
        <p:nvSpPr>
          <p:cNvPr id="315" name="Google Shape;315;p51"/>
          <p:cNvSpPr txBox="1"/>
          <p:nvPr/>
        </p:nvSpPr>
        <p:spPr>
          <a:xfrm>
            <a:off x="1438250" y="1504200"/>
            <a:ext cx="554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7</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52"/>
          <p:cNvSpPr/>
          <p:nvPr/>
        </p:nvSpPr>
        <p:spPr>
          <a:xfrm>
            <a:off x="0" y="0"/>
            <a:ext cx="9144000" cy="5143500"/>
          </a:xfrm>
          <a:prstGeom prst="rect">
            <a:avLst/>
          </a:prstGeom>
          <a:solidFill>
            <a:srgbClr val="F7F1F1"/>
          </a:solidFill>
          <a:ln cap="flat" cmpd="sng" w="9525">
            <a:solidFill>
              <a:srgbClr val="F7F1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52"/>
          <p:cNvSpPr txBox="1"/>
          <p:nvPr>
            <p:ph type="ctrTitle"/>
          </p:nvPr>
        </p:nvSpPr>
        <p:spPr>
          <a:xfrm>
            <a:off x="311700" y="-552200"/>
            <a:ext cx="8520600" cy="1962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2800">
                <a:latin typeface="Lato"/>
                <a:ea typeface="Lato"/>
                <a:cs typeface="Lato"/>
                <a:sym typeface="Lato"/>
              </a:rPr>
              <a:t>notes:</a:t>
            </a:r>
            <a:endParaRPr sz="2800">
              <a:latin typeface="Lato"/>
              <a:ea typeface="Lato"/>
              <a:cs typeface="Lato"/>
              <a:sym typeface="Lato"/>
            </a:endParaRPr>
          </a:p>
        </p:txBody>
      </p:sp>
      <p:sp>
        <p:nvSpPr>
          <p:cNvPr id="322" name="Google Shape;322;p52"/>
          <p:cNvSpPr txBox="1"/>
          <p:nvPr/>
        </p:nvSpPr>
        <p:spPr>
          <a:xfrm>
            <a:off x="0" y="4887209"/>
            <a:ext cx="9144000" cy="294000"/>
          </a:xfrm>
          <a:prstGeom prst="rect">
            <a:avLst/>
          </a:prstGeom>
          <a:noFill/>
          <a:ln>
            <a:noFill/>
          </a:ln>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sz="900">
                <a:solidFill>
                  <a:srgbClr val="B6B2B3"/>
                </a:solidFill>
                <a:latin typeface="Lato"/>
                <a:ea typeface="Lato"/>
                <a:cs typeface="Lato"/>
                <a:sym typeface="Lato"/>
              </a:rPr>
              <a:t>    2/36								            SHAANPURI.COM			 			       POWER WRITING COURSE</a:t>
            </a:r>
            <a:endParaRPr b="1" sz="900">
              <a:solidFill>
                <a:srgbClr val="B6B2B3"/>
              </a:solidFill>
              <a:latin typeface="Lato"/>
              <a:ea typeface="Lato"/>
              <a:cs typeface="Lato"/>
              <a:sym typeface="Lato"/>
            </a:endParaRPr>
          </a:p>
        </p:txBody>
      </p:sp>
      <p:sp>
        <p:nvSpPr>
          <p:cNvPr id="323" name="Google Shape;323;p52"/>
          <p:cNvSpPr txBox="1"/>
          <p:nvPr/>
        </p:nvSpPr>
        <p:spPr>
          <a:xfrm>
            <a:off x="126275" y="883925"/>
            <a:ext cx="88137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t/>
            </a:r>
            <a:endParaRPr/>
          </a:p>
        </p:txBody>
      </p:sp>
      <p:sp>
        <p:nvSpPr>
          <p:cNvPr id="324" name="Google Shape;324;p52"/>
          <p:cNvSpPr txBox="1"/>
          <p:nvPr/>
        </p:nvSpPr>
        <p:spPr>
          <a:xfrm>
            <a:off x="738925" y="1009600"/>
            <a:ext cx="7309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I’m building a company that helps you invest in commercial real estate for $100</a:t>
            </a:r>
            <a:endParaRPr b="1"/>
          </a:p>
        </p:txBody>
      </p:sp>
      <p:sp>
        <p:nvSpPr>
          <p:cNvPr id="325" name="Google Shape;325;p52"/>
          <p:cNvSpPr txBox="1"/>
          <p:nvPr/>
        </p:nvSpPr>
        <p:spPr>
          <a:xfrm>
            <a:off x="808950" y="2032850"/>
            <a:ext cx="73098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Most people think real estate is a good investment. But they feel like they don’t have the money, time or expertise to do it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are an app that lets you invest in commercial real estate for as little as $100 at a time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you can get passive income </a:t>
            </a:r>
            <a:r>
              <a:rPr lang="en"/>
              <a:t>coming</a:t>
            </a:r>
            <a:r>
              <a:rPr lang="en"/>
              <a:t> in every month from real estate you own - without ever </a:t>
            </a:r>
            <a:r>
              <a:rPr lang="en"/>
              <a:t>lifting</a:t>
            </a:r>
            <a:r>
              <a:rPr lang="en"/>
              <a:t> a finger.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53"/>
          <p:cNvSpPr/>
          <p:nvPr/>
        </p:nvSpPr>
        <p:spPr>
          <a:xfrm>
            <a:off x="0" y="0"/>
            <a:ext cx="9144000" cy="5143500"/>
          </a:xfrm>
          <a:prstGeom prst="rect">
            <a:avLst/>
          </a:prstGeom>
          <a:solidFill>
            <a:srgbClr val="F7F1F1"/>
          </a:solidFill>
          <a:ln cap="flat" cmpd="sng" w="9525">
            <a:solidFill>
              <a:srgbClr val="F7F1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53"/>
          <p:cNvSpPr txBox="1"/>
          <p:nvPr>
            <p:ph type="ctrTitle"/>
          </p:nvPr>
        </p:nvSpPr>
        <p:spPr>
          <a:xfrm>
            <a:off x="311700" y="-552200"/>
            <a:ext cx="8520600" cy="1962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2800">
                <a:latin typeface="Lato"/>
                <a:ea typeface="Lato"/>
                <a:cs typeface="Lato"/>
                <a:sym typeface="Lato"/>
              </a:rPr>
              <a:t>notes:</a:t>
            </a:r>
            <a:endParaRPr sz="2800">
              <a:latin typeface="Lato"/>
              <a:ea typeface="Lato"/>
              <a:cs typeface="Lato"/>
              <a:sym typeface="Lato"/>
            </a:endParaRPr>
          </a:p>
        </p:txBody>
      </p:sp>
      <p:sp>
        <p:nvSpPr>
          <p:cNvPr id="332" name="Google Shape;332;p53"/>
          <p:cNvSpPr txBox="1"/>
          <p:nvPr/>
        </p:nvSpPr>
        <p:spPr>
          <a:xfrm>
            <a:off x="0" y="4887209"/>
            <a:ext cx="9144000" cy="294000"/>
          </a:xfrm>
          <a:prstGeom prst="rect">
            <a:avLst/>
          </a:prstGeom>
          <a:noFill/>
          <a:ln>
            <a:noFill/>
          </a:ln>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sz="900">
                <a:solidFill>
                  <a:srgbClr val="B6B2B3"/>
                </a:solidFill>
                <a:latin typeface="Lato"/>
                <a:ea typeface="Lato"/>
                <a:cs typeface="Lato"/>
                <a:sym typeface="Lato"/>
              </a:rPr>
              <a:t>    2/36								            SHAANPURI.COM			 			       POWER WRITING COURSE</a:t>
            </a:r>
            <a:endParaRPr b="1" sz="900">
              <a:solidFill>
                <a:srgbClr val="B6B2B3"/>
              </a:solidFill>
              <a:latin typeface="Lato"/>
              <a:ea typeface="Lato"/>
              <a:cs typeface="Lato"/>
              <a:sym typeface="Lato"/>
            </a:endParaRPr>
          </a:p>
        </p:txBody>
      </p:sp>
      <p:sp>
        <p:nvSpPr>
          <p:cNvPr id="333" name="Google Shape;333;p53"/>
          <p:cNvSpPr txBox="1"/>
          <p:nvPr/>
        </p:nvSpPr>
        <p:spPr>
          <a:xfrm>
            <a:off x="126275" y="883925"/>
            <a:ext cx="88137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t/>
            </a:r>
            <a:endParaRPr/>
          </a:p>
        </p:txBody>
      </p:sp>
      <p:sp>
        <p:nvSpPr>
          <p:cNvPr id="334" name="Google Shape;334;p53"/>
          <p:cNvSpPr txBox="1"/>
          <p:nvPr/>
        </p:nvSpPr>
        <p:spPr>
          <a:xfrm>
            <a:off x="781225" y="794188"/>
            <a:ext cx="7309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I’m brian i’m the CFO of the division of bloomberg, its the electronic trading division. Its undergoing hyper growth right now. Really cool. </a:t>
            </a:r>
            <a:endParaRPr b="1"/>
          </a:p>
        </p:txBody>
      </p:sp>
      <p:sp>
        <p:nvSpPr>
          <p:cNvPr id="335" name="Google Shape;335;p53"/>
          <p:cNvSpPr txBox="1"/>
          <p:nvPr/>
        </p:nvSpPr>
        <p:spPr>
          <a:xfrm>
            <a:off x="878225" y="1864538"/>
            <a:ext cx="73098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Most CEOs are great at product &amp; vision, but struggle with things like pricing, forecasting, and keeping an eye on the books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they hired me to focus on that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that they can keep growing the customer base, and sleep easy at night knowing that the </a:t>
            </a:r>
            <a:r>
              <a:rPr lang="en"/>
              <a:t>numbers are taken care of</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54"/>
          <p:cNvSpPr/>
          <p:nvPr/>
        </p:nvSpPr>
        <p:spPr>
          <a:xfrm>
            <a:off x="0" y="0"/>
            <a:ext cx="9144000" cy="5143500"/>
          </a:xfrm>
          <a:prstGeom prst="rect">
            <a:avLst/>
          </a:prstGeom>
          <a:solidFill>
            <a:srgbClr val="F7F1F1"/>
          </a:solidFill>
          <a:ln cap="flat" cmpd="sng" w="9525">
            <a:solidFill>
              <a:srgbClr val="F7F1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54"/>
          <p:cNvSpPr txBox="1"/>
          <p:nvPr>
            <p:ph type="ctrTitle"/>
          </p:nvPr>
        </p:nvSpPr>
        <p:spPr>
          <a:xfrm>
            <a:off x="311700" y="-552200"/>
            <a:ext cx="8520600" cy="1962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2800">
                <a:latin typeface="Lato"/>
                <a:ea typeface="Lato"/>
                <a:cs typeface="Lato"/>
                <a:sym typeface="Lato"/>
              </a:rPr>
              <a:t>Most people </a:t>
            </a:r>
            <a:r>
              <a:rPr b="1" lang="en" sz="2800">
                <a:solidFill>
                  <a:srgbClr val="0066DE"/>
                </a:solidFill>
                <a:latin typeface="Lato"/>
                <a:ea typeface="Lato"/>
                <a:cs typeface="Lato"/>
                <a:sym typeface="Lato"/>
              </a:rPr>
              <a:t>suck</a:t>
            </a:r>
            <a:r>
              <a:rPr b="1" lang="en" sz="2800">
                <a:latin typeface="Lato"/>
                <a:ea typeface="Lato"/>
                <a:cs typeface="Lato"/>
                <a:sym typeface="Lato"/>
              </a:rPr>
              <a:t> at this. </a:t>
            </a:r>
            <a:endParaRPr sz="2800">
              <a:latin typeface="Lato"/>
              <a:ea typeface="Lato"/>
              <a:cs typeface="Lato"/>
              <a:sym typeface="Lato"/>
            </a:endParaRPr>
          </a:p>
        </p:txBody>
      </p:sp>
      <p:pic>
        <p:nvPicPr>
          <p:cNvPr id="342" name="Google Shape;342;p54"/>
          <p:cNvPicPr preferRelativeResize="0"/>
          <p:nvPr/>
        </p:nvPicPr>
        <p:blipFill rotWithShape="1">
          <a:blip r:embed="rId3">
            <a:alphaModFix/>
          </a:blip>
          <a:srcRect b="13138" l="2384" r="26013" t="10115"/>
          <a:stretch/>
        </p:blipFill>
        <p:spPr>
          <a:xfrm>
            <a:off x="1298226" y="787975"/>
            <a:ext cx="6547549" cy="3947450"/>
          </a:xfrm>
          <a:prstGeom prst="rect">
            <a:avLst/>
          </a:prstGeom>
          <a:noFill/>
          <a:ln>
            <a:noFill/>
          </a:ln>
        </p:spPr>
      </p:pic>
      <p:sp>
        <p:nvSpPr>
          <p:cNvPr id="343" name="Google Shape;343;p54"/>
          <p:cNvSpPr txBox="1"/>
          <p:nvPr/>
        </p:nvSpPr>
        <p:spPr>
          <a:xfrm>
            <a:off x="0" y="4887209"/>
            <a:ext cx="9144000" cy="294000"/>
          </a:xfrm>
          <a:prstGeom prst="rect">
            <a:avLst/>
          </a:prstGeom>
          <a:noFill/>
          <a:ln>
            <a:noFill/>
          </a:ln>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sz="900">
                <a:solidFill>
                  <a:srgbClr val="B6B2B3"/>
                </a:solidFill>
                <a:latin typeface="Lato"/>
                <a:ea typeface="Lato"/>
                <a:cs typeface="Lato"/>
                <a:sym typeface="Lato"/>
              </a:rPr>
              <a:t>    2/36								            SHAANPURI.COM			 			       POWER WRITING COURSE</a:t>
            </a:r>
            <a:endParaRPr b="1" sz="900">
              <a:solidFill>
                <a:srgbClr val="B6B2B3"/>
              </a:solidFill>
              <a:latin typeface="Lato"/>
              <a:ea typeface="Lato"/>
              <a:cs typeface="Lato"/>
              <a:sym typeface="Lato"/>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5"/>
          <p:cNvSpPr/>
          <p:nvPr/>
        </p:nvSpPr>
        <p:spPr>
          <a:xfrm>
            <a:off x="0" y="0"/>
            <a:ext cx="9144000" cy="5143500"/>
          </a:xfrm>
          <a:prstGeom prst="rect">
            <a:avLst/>
          </a:prstGeom>
          <a:solidFill>
            <a:srgbClr val="1F8FFF"/>
          </a:solidFill>
          <a:ln cap="flat" cmpd="sng" w="9525">
            <a:solidFill>
              <a:srgbClr val="1F8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55"/>
          <p:cNvSpPr txBox="1"/>
          <p:nvPr>
            <p:ph type="ctrTitle"/>
          </p:nvPr>
        </p:nvSpPr>
        <p:spPr>
          <a:xfrm>
            <a:off x="1084950" y="1249350"/>
            <a:ext cx="6974100" cy="26448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a:solidFill>
                  <a:schemeClr val="lt1"/>
                </a:solidFill>
                <a:latin typeface="Lato"/>
                <a:ea typeface="Lato"/>
                <a:cs typeface="Lato"/>
                <a:sym typeface="Lato"/>
              </a:rPr>
              <a:t>Try It!</a:t>
            </a:r>
            <a:endParaRPr b="1">
              <a:solidFill>
                <a:schemeClr val="lt1"/>
              </a:solidFill>
              <a:latin typeface="Lato"/>
              <a:ea typeface="Lato"/>
              <a:cs typeface="Lato"/>
              <a:sym typeface="Lato"/>
            </a:endParaRPr>
          </a:p>
          <a:p>
            <a:pPr indent="0" lvl="0" marL="0" rtl="0" algn="ctr">
              <a:lnSpc>
                <a:spcPct val="115000"/>
              </a:lnSpc>
              <a:spcBef>
                <a:spcPts val="0"/>
              </a:spcBef>
              <a:spcAft>
                <a:spcPts val="0"/>
              </a:spcAft>
              <a:buNone/>
            </a:pPr>
            <a:r>
              <a:t/>
            </a:r>
            <a:endParaRPr b="1" sz="2200">
              <a:solidFill>
                <a:schemeClr val="lt1"/>
              </a:solidFill>
              <a:latin typeface="Lato"/>
              <a:ea typeface="Lato"/>
              <a:cs typeface="Lato"/>
              <a:sym typeface="Lato"/>
            </a:endParaRPr>
          </a:p>
          <a:p>
            <a:pPr indent="0" lvl="0" marL="0" rtl="0" algn="ctr">
              <a:lnSpc>
                <a:spcPct val="115000"/>
              </a:lnSpc>
              <a:spcBef>
                <a:spcPts val="0"/>
              </a:spcBef>
              <a:spcAft>
                <a:spcPts val="0"/>
              </a:spcAft>
              <a:buNone/>
            </a:pPr>
            <a:r>
              <a:rPr b="1" lang="en" sz="2200">
                <a:solidFill>
                  <a:schemeClr val="lt1"/>
                </a:solidFill>
                <a:latin typeface="Lato"/>
                <a:ea typeface="Lato"/>
                <a:cs typeface="Lato"/>
                <a:sym typeface="Lato"/>
              </a:rPr>
              <a:t>Write a 45 second description:</a:t>
            </a:r>
            <a:endParaRPr b="1" sz="2200">
              <a:solidFill>
                <a:schemeClr val="lt1"/>
              </a:solidFill>
              <a:latin typeface="Lato"/>
              <a:ea typeface="Lato"/>
              <a:cs typeface="Lato"/>
              <a:sym typeface="Lato"/>
            </a:endParaRPr>
          </a:p>
          <a:p>
            <a:pPr indent="0" lvl="0" marL="0" rtl="0" algn="ctr">
              <a:lnSpc>
                <a:spcPct val="115000"/>
              </a:lnSpc>
              <a:spcBef>
                <a:spcPts val="0"/>
              </a:spcBef>
              <a:spcAft>
                <a:spcPts val="0"/>
              </a:spcAft>
              <a:buNone/>
            </a:pPr>
            <a:r>
              <a:t/>
            </a:r>
            <a:endParaRPr b="1" sz="2200">
              <a:solidFill>
                <a:schemeClr val="lt1"/>
              </a:solidFill>
              <a:latin typeface="Lato"/>
              <a:ea typeface="Lato"/>
              <a:cs typeface="Lato"/>
              <a:sym typeface="Lato"/>
            </a:endParaRPr>
          </a:p>
          <a:p>
            <a:pPr indent="0" lvl="0" marL="0" rtl="0" algn="ctr">
              <a:lnSpc>
                <a:spcPct val="115000"/>
              </a:lnSpc>
              <a:spcBef>
                <a:spcPts val="0"/>
              </a:spcBef>
              <a:spcAft>
                <a:spcPts val="0"/>
              </a:spcAft>
              <a:buNone/>
            </a:pPr>
            <a:r>
              <a:rPr b="1" lang="en" sz="2200">
                <a:solidFill>
                  <a:schemeClr val="lt1"/>
                </a:solidFill>
                <a:latin typeface="Lato"/>
                <a:ea typeface="Lato"/>
                <a:cs typeface="Lato"/>
                <a:sym typeface="Lato"/>
              </a:rPr>
              <a:t>What does your company do?</a:t>
            </a:r>
            <a:endParaRPr b="1" sz="2200">
              <a:solidFill>
                <a:schemeClr val="lt1"/>
              </a:solidFill>
              <a:latin typeface="Lato"/>
              <a:ea typeface="Lato"/>
              <a:cs typeface="Lato"/>
              <a:sym typeface="Lato"/>
            </a:endParaRPr>
          </a:p>
          <a:p>
            <a:pPr indent="0" lvl="0" marL="0" rtl="0" algn="ctr">
              <a:lnSpc>
                <a:spcPct val="115000"/>
              </a:lnSpc>
              <a:spcBef>
                <a:spcPts val="0"/>
              </a:spcBef>
              <a:spcAft>
                <a:spcPts val="0"/>
              </a:spcAft>
              <a:buNone/>
            </a:pPr>
            <a:r>
              <a:t/>
            </a:r>
            <a:endParaRPr b="1" sz="2200">
              <a:solidFill>
                <a:schemeClr val="lt1"/>
              </a:solidFill>
              <a:latin typeface="Lato"/>
              <a:ea typeface="Lato"/>
              <a:cs typeface="Lato"/>
              <a:sym typeface="Lato"/>
            </a:endParaRPr>
          </a:p>
          <a:p>
            <a:pPr indent="0" lvl="0" marL="0" rtl="0" algn="ctr">
              <a:lnSpc>
                <a:spcPct val="115000"/>
              </a:lnSpc>
              <a:spcBef>
                <a:spcPts val="0"/>
              </a:spcBef>
              <a:spcAft>
                <a:spcPts val="0"/>
              </a:spcAft>
              <a:buNone/>
            </a:pPr>
            <a:r>
              <a:rPr lang="en" sz="2200">
                <a:solidFill>
                  <a:schemeClr val="lt1"/>
                </a:solidFill>
                <a:latin typeface="Lato"/>
                <a:ea typeface="Lato"/>
                <a:cs typeface="Lato"/>
                <a:sym typeface="Lato"/>
              </a:rPr>
              <a:t>Post it into the </a:t>
            </a:r>
            <a:r>
              <a:rPr b="1" lang="en" sz="2200">
                <a:solidFill>
                  <a:schemeClr val="lt1"/>
                </a:solidFill>
                <a:latin typeface="Lato"/>
                <a:ea typeface="Lato"/>
                <a:cs typeface="Lato"/>
                <a:sym typeface="Lato"/>
              </a:rPr>
              <a:t>#showyourwork </a:t>
            </a:r>
            <a:r>
              <a:rPr lang="en" sz="2200">
                <a:solidFill>
                  <a:schemeClr val="lt1"/>
                </a:solidFill>
                <a:latin typeface="Lato"/>
                <a:ea typeface="Lato"/>
                <a:cs typeface="Lato"/>
                <a:sym typeface="Lato"/>
              </a:rPr>
              <a:t>channel in slack</a:t>
            </a:r>
            <a:br>
              <a:rPr b="1" lang="en" sz="2200">
                <a:solidFill>
                  <a:schemeClr val="lt1"/>
                </a:solidFill>
                <a:latin typeface="Lato"/>
                <a:ea typeface="Lato"/>
                <a:cs typeface="Lato"/>
                <a:sym typeface="Lato"/>
              </a:rPr>
            </a:br>
            <a:endParaRPr b="1" sz="2200">
              <a:solidFill>
                <a:schemeClr val="lt1"/>
              </a:solidFill>
            </a:endParaRPr>
          </a:p>
          <a:p>
            <a:pPr indent="0" lvl="0" marL="0" rtl="0" algn="ctr">
              <a:lnSpc>
                <a:spcPct val="115000"/>
              </a:lnSpc>
              <a:spcBef>
                <a:spcPts val="0"/>
              </a:spcBef>
              <a:spcAft>
                <a:spcPts val="0"/>
              </a:spcAft>
              <a:buNone/>
            </a:pPr>
            <a:r>
              <a:rPr lang="en" sz="1900">
                <a:solidFill>
                  <a:schemeClr val="lt1"/>
                </a:solidFill>
                <a:latin typeface="Spectral"/>
                <a:ea typeface="Spectral"/>
                <a:cs typeface="Spectral"/>
                <a:sym typeface="Spectral"/>
              </a:rPr>
              <a:t>(Doesn’t matter if you’re a solo freelancer or work at a 50,000 person company) </a:t>
            </a:r>
            <a:endParaRPr sz="1900">
              <a:solidFill>
                <a:schemeClr val="lt1"/>
              </a:solidFill>
              <a:latin typeface="Spectral"/>
              <a:ea typeface="Spectral"/>
              <a:cs typeface="Spectral"/>
              <a:sym typeface="Spectral"/>
            </a:endParaRPr>
          </a:p>
          <a:p>
            <a:pPr indent="0" lvl="0" marL="0" rtl="0" algn="ctr">
              <a:lnSpc>
                <a:spcPct val="115000"/>
              </a:lnSpc>
              <a:spcBef>
                <a:spcPts val="0"/>
              </a:spcBef>
              <a:spcAft>
                <a:spcPts val="0"/>
              </a:spcAft>
              <a:buNone/>
            </a:pPr>
            <a:r>
              <a:t/>
            </a:r>
            <a:endParaRPr b="1" sz="2200">
              <a:latin typeface="Spectral"/>
              <a:ea typeface="Spectral"/>
              <a:cs typeface="Spectral"/>
              <a:sym typeface="Spectral"/>
            </a:endParaRPr>
          </a:p>
          <a:p>
            <a:pPr indent="0" lvl="0" marL="0" rtl="0" algn="ctr">
              <a:lnSpc>
                <a:spcPct val="115000"/>
              </a:lnSpc>
              <a:spcBef>
                <a:spcPts val="0"/>
              </a:spcBef>
              <a:spcAft>
                <a:spcPts val="0"/>
              </a:spcAft>
              <a:buNone/>
            </a:pPr>
            <a:r>
              <a:t/>
            </a:r>
            <a:endParaRPr b="1" sz="2200"/>
          </a:p>
        </p:txBody>
      </p:sp>
      <p:sp>
        <p:nvSpPr>
          <p:cNvPr id="350" name="Google Shape;350;p55"/>
          <p:cNvSpPr txBox="1"/>
          <p:nvPr/>
        </p:nvSpPr>
        <p:spPr>
          <a:xfrm>
            <a:off x="0" y="4887209"/>
            <a:ext cx="9144000" cy="294000"/>
          </a:xfrm>
          <a:prstGeom prst="rect">
            <a:avLst/>
          </a:prstGeom>
          <a:noFill/>
          <a:ln>
            <a:noFill/>
          </a:ln>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sz="900">
                <a:solidFill>
                  <a:schemeClr val="lt1"/>
                </a:solidFill>
                <a:latin typeface="Lato"/>
                <a:ea typeface="Lato"/>
                <a:cs typeface="Lato"/>
                <a:sym typeface="Lato"/>
              </a:rPr>
              <a:t>    9/36								            SHAANPURI.COM			 			       POWER WRITING COURSE</a:t>
            </a:r>
            <a:endParaRPr b="1" sz="900">
              <a:solidFill>
                <a:schemeClr val="lt1"/>
              </a:solidFill>
              <a:latin typeface="Lato"/>
              <a:ea typeface="Lato"/>
              <a:cs typeface="Lato"/>
              <a:sym typeface="Lato"/>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5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(fundamental description) </a:t>
            </a:r>
            <a:endParaRPr/>
          </a:p>
        </p:txBody>
      </p:sp>
      <p:cxnSp>
        <p:nvCxnSpPr>
          <p:cNvPr id="356" name="Google Shape;356;p56"/>
          <p:cNvCxnSpPr/>
          <p:nvPr/>
        </p:nvCxnSpPr>
        <p:spPr>
          <a:xfrm rot="10800000">
            <a:off x="1854375" y="1556575"/>
            <a:ext cx="799500" cy="1080300"/>
          </a:xfrm>
          <a:prstGeom prst="straightConnector1">
            <a:avLst/>
          </a:prstGeom>
          <a:noFill/>
          <a:ln cap="flat" cmpd="sng" w="9525">
            <a:solidFill>
              <a:schemeClr val="dk2"/>
            </a:solidFill>
            <a:prstDash val="solid"/>
            <a:round/>
            <a:headEnd len="med" w="med" type="none"/>
            <a:tailEnd len="med" w="med" type="triangle"/>
          </a:ln>
        </p:spPr>
      </p:cxnSp>
      <p:sp>
        <p:nvSpPr>
          <p:cNvPr id="357" name="Google Shape;357;p56"/>
          <p:cNvSpPr txBox="1"/>
          <p:nvPr/>
        </p:nvSpPr>
        <p:spPr>
          <a:xfrm>
            <a:off x="952675" y="1216375"/>
            <a:ext cx="4899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Twitter bio</a:t>
            </a:r>
            <a:endParaRPr/>
          </a:p>
        </p:txBody>
      </p:sp>
      <p:cxnSp>
        <p:nvCxnSpPr>
          <p:cNvPr id="358" name="Google Shape;358;p56"/>
          <p:cNvCxnSpPr/>
          <p:nvPr/>
        </p:nvCxnSpPr>
        <p:spPr>
          <a:xfrm flipH="1" rot="10800000">
            <a:off x="4890875" y="1296775"/>
            <a:ext cx="136200" cy="1599900"/>
          </a:xfrm>
          <a:prstGeom prst="straightConnector1">
            <a:avLst/>
          </a:prstGeom>
          <a:noFill/>
          <a:ln cap="flat" cmpd="sng" w="9525">
            <a:solidFill>
              <a:schemeClr val="dk2"/>
            </a:solidFill>
            <a:prstDash val="solid"/>
            <a:round/>
            <a:headEnd len="med" w="med" type="none"/>
            <a:tailEnd len="med" w="med" type="triangle"/>
          </a:ln>
        </p:spPr>
      </p:cxnSp>
      <p:sp>
        <p:nvSpPr>
          <p:cNvPr id="359" name="Google Shape;359;p56"/>
          <p:cNvSpPr txBox="1"/>
          <p:nvPr/>
        </p:nvSpPr>
        <p:spPr>
          <a:xfrm>
            <a:off x="2122200" y="595025"/>
            <a:ext cx="4899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Hero slide of pitch deck</a:t>
            </a:r>
            <a:endParaRPr/>
          </a:p>
        </p:txBody>
      </p:sp>
      <p:cxnSp>
        <p:nvCxnSpPr>
          <p:cNvPr id="360" name="Google Shape;360;p56"/>
          <p:cNvCxnSpPr/>
          <p:nvPr/>
        </p:nvCxnSpPr>
        <p:spPr>
          <a:xfrm rot="10800000">
            <a:off x="3554875" y="1368775"/>
            <a:ext cx="901500" cy="1514100"/>
          </a:xfrm>
          <a:prstGeom prst="straightConnector1">
            <a:avLst/>
          </a:prstGeom>
          <a:noFill/>
          <a:ln cap="flat" cmpd="sng" w="9525">
            <a:solidFill>
              <a:schemeClr val="dk2"/>
            </a:solidFill>
            <a:prstDash val="solid"/>
            <a:round/>
            <a:headEnd len="med" w="med" type="none"/>
            <a:tailEnd len="med" w="med" type="triangle"/>
          </a:ln>
        </p:spPr>
      </p:cxnSp>
      <p:sp>
        <p:nvSpPr>
          <p:cNvPr id="361" name="Google Shape;361;p56"/>
          <p:cNvSpPr txBox="1"/>
          <p:nvPr/>
        </p:nvSpPr>
        <p:spPr>
          <a:xfrm>
            <a:off x="4677550" y="653850"/>
            <a:ext cx="4899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Landing page</a:t>
            </a:r>
            <a:endParaRPr/>
          </a:p>
        </p:txBody>
      </p:sp>
      <p:sp>
        <p:nvSpPr>
          <p:cNvPr id="362" name="Google Shape;362;p56"/>
          <p:cNvSpPr txBox="1"/>
          <p:nvPr/>
        </p:nvSpPr>
        <p:spPr>
          <a:xfrm>
            <a:off x="211175" y="1925725"/>
            <a:ext cx="4899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Slogan </a:t>
            </a:r>
            <a:endParaRPr/>
          </a:p>
        </p:txBody>
      </p:sp>
      <p:cxnSp>
        <p:nvCxnSpPr>
          <p:cNvPr id="363" name="Google Shape;363;p56"/>
          <p:cNvCxnSpPr/>
          <p:nvPr/>
        </p:nvCxnSpPr>
        <p:spPr>
          <a:xfrm rot="10800000">
            <a:off x="952825" y="2176850"/>
            <a:ext cx="1624500" cy="8598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7"/>
          <p:cNvSpPr/>
          <p:nvPr/>
        </p:nvSpPr>
        <p:spPr>
          <a:xfrm>
            <a:off x="0" y="0"/>
            <a:ext cx="9144000" cy="5143500"/>
          </a:xfrm>
          <a:prstGeom prst="rect">
            <a:avLst/>
          </a:prstGeom>
          <a:solidFill>
            <a:srgbClr val="F7F1F1"/>
          </a:solidFill>
          <a:ln cap="flat" cmpd="sng" w="9525">
            <a:solidFill>
              <a:srgbClr val="F7F1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57"/>
          <p:cNvSpPr/>
          <p:nvPr/>
        </p:nvSpPr>
        <p:spPr>
          <a:xfrm>
            <a:off x="975450" y="568800"/>
            <a:ext cx="7193100" cy="4005900"/>
          </a:xfrm>
          <a:prstGeom prst="roundRect">
            <a:avLst>
              <a:gd fmla="val 2266" name="adj"/>
            </a:avLst>
          </a:prstGeom>
          <a:solidFill>
            <a:schemeClr val="lt1"/>
          </a:solidFill>
          <a:ln cap="flat" cmpd="sng" w="9525">
            <a:solidFill>
              <a:srgbClr val="0066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57"/>
          <p:cNvSpPr txBox="1"/>
          <p:nvPr>
            <p:ph idx="4294967295" type="ctrTitle"/>
          </p:nvPr>
        </p:nvSpPr>
        <p:spPr>
          <a:xfrm>
            <a:off x="0" y="4853400"/>
            <a:ext cx="9144000" cy="518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900">
                <a:solidFill>
                  <a:srgbClr val="B6B2B3"/>
                </a:solidFill>
                <a:latin typeface="Lato"/>
                <a:ea typeface="Lato"/>
                <a:cs typeface="Lato"/>
                <a:sym typeface="Lato"/>
              </a:rPr>
              <a:t>    11/36								            SHAANPURI.COM						          POWER WRITING COURSE</a:t>
            </a:r>
            <a:endParaRPr b="1" sz="900">
              <a:solidFill>
                <a:srgbClr val="B6B2B3"/>
              </a:solidFill>
              <a:latin typeface="Lato"/>
              <a:ea typeface="Lato"/>
              <a:cs typeface="Lato"/>
              <a:sym typeface="Lato"/>
            </a:endParaRPr>
          </a:p>
        </p:txBody>
      </p:sp>
      <p:sp>
        <p:nvSpPr>
          <p:cNvPr id="371" name="Google Shape;371;p57"/>
          <p:cNvSpPr txBox="1"/>
          <p:nvPr/>
        </p:nvSpPr>
        <p:spPr>
          <a:xfrm>
            <a:off x="1716450" y="92400"/>
            <a:ext cx="57111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rgbClr val="0066DE"/>
                </a:solidFill>
                <a:latin typeface="Lato"/>
                <a:ea typeface="Lato"/>
                <a:cs typeface="Lato"/>
                <a:sym typeface="Lato"/>
              </a:rPr>
              <a:t>Don’t worry! </a:t>
            </a:r>
            <a:r>
              <a:rPr b="1" lang="en" sz="1800">
                <a:solidFill>
                  <a:schemeClr val="dk1"/>
                </a:solidFill>
                <a:latin typeface="Lato"/>
                <a:ea typeface="Lato"/>
                <a:cs typeface="Lato"/>
                <a:sym typeface="Lato"/>
              </a:rPr>
              <a:t>The storybrand formula can help</a:t>
            </a:r>
            <a:endParaRPr b="1" sz="1800">
              <a:solidFill>
                <a:schemeClr val="dk1"/>
              </a:solidFill>
              <a:latin typeface="Lato"/>
              <a:ea typeface="Lato"/>
              <a:cs typeface="Lato"/>
              <a:sym typeface="Lato"/>
            </a:endParaRPr>
          </a:p>
        </p:txBody>
      </p:sp>
      <p:pic>
        <p:nvPicPr>
          <p:cNvPr id="372" name="Google Shape;372;p57"/>
          <p:cNvPicPr preferRelativeResize="0"/>
          <p:nvPr/>
        </p:nvPicPr>
        <p:blipFill rotWithShape="1">
          <a:blip r:embed="rId3">
            <a:alphaModFix/>
          </a:blip>
          <a:srcRect b="13357" l="22184" r="23242" t="61436"/>
          <a:stretch/>
        </p:blipFill>
        <p:spPr>
          <a:xfrm>
            <a:off x="1525137" y="1780124"/>
            <a:ext cx="6093727" cy="1583251"/>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58"/>
          <p:cNvSpPr/>
          <p:nvPr/>
        </p:nvSpPr>
        <p:spPr>
          <a:xfrm>
            <a:off x="-157050" y="-46200"/>
            <a:ext cx="9458100" cy="5235900"/>
          </a:xfrm>
          <a:prstGeom prst="rect">
            <a:avLst/>
          </a:prstGeom>
          <a:solidFill>
            <a:srgbClr val="F7F1F1"/>
          </a:solidFill>
          <a:ln cap="flat" cmpd="sng" w="9525">
            <a:solidFill>
              <a:srgbClr val="F7F1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58"/>
          <p:cNvSpPr txBox="1"/>
          <p:nvPr>
            <p:ph type="ctrTitle"/>
          </p:nvPr>
        </p:nvSpPr>
        <p:spPr>
          <a:xfrm>
            <a:off x="311708" y="-205450"/>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Start with the </a:t>
            </a:r>
            <a:r>
              <a:rPr lang="en">
                <a:highlight>
                  <a:srgbClr val="FFFF00"/>
                </a:highlight>
              </a:rPr>
              <a:t>problem</a:t>
            </a:r>
            <a:endParaRPr>
              <a:highlight>
                <a:srgbClr val="FFFF00"/>
              </a:highlight>
            </a:endParaRPr>
          </a:p>
        </p:txBody>
      </p:sp>
      <p:sp>
        <p:nvSpPr>
          <p:cNvPr id="379" name="Google Shape;379;p58"/>
          <p:cNvSpPr txBox="1"/>
          <p:nvPr>
            <p:ph idx="1" type="subTitle"/>
          </p:nvPr>
        </p:nvSpPr>
        <p:spPr>
          <a:xfrm>
            <a:off x="623400" y="1847150"/>
            <a:ext cx="8520600" cy="3032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Most  people struggle with _____</a:t>
            </a:r>
            <a:endParaRPr/>
          </a:p>
          <a:p>
            <a:pPr indent="0" lvl="0" marL="0" rtl="0" algn="l">
              <a:spcBef>
                <a:spcPts val="0"/>
              </a:spcBef>
              <a:spcAft>
                <a:spcPts val="0"/>
              </a:spcAft>
              <a:buNone/>
            </a:pPr>
            <a:r>
              <a:rPr lang="en"/>
              <a:t>Most _____ hate doing </a:t>
            </a:r>
            <a:endParaRPr/>
          </a:p>
          <a:p>
            <a:pPr indent="0" lvl="0" marL="0" rtl="0" algn="l">
              <a:spcBef>
                <a:spcPts val="0"/>
              </a:spcBef>
              <a:spcAft>
                <a:spcPts val="0"/>
              </a:spcAft>
              <a:buNone/>
            </a:pPr>
            <a:r>
              <a:rPr lang="en"/>
              <a:t>Most _____ are tired of.. </a:t>
            </a:r>
            <a:endParaRPr/>
          </a:p>
          <a:p>
            <a:pPr indent="0" lvl="0" marL="0" rtl="0" algn="l">
              <a:spcBef>
                <a:spcPts val="0"/>
              </a:spcBef>
              <a:spcAft>
                <a:spcPts val="0"/>
              </a:spcAft>
              <a:buNone/>
            </a:pPr>
            <a:r>
              <a:rPr lang="en"/>
              <a:t>Most people worry about _____</a:t>
            </a:r>
            <a:endParaRPr/>
          </a:p>
          <a:p>
            <a:pPr indent="0" lvl="0" marL="0" rtl="0" algn="l">
              <a:spcBef>
                <a:spcPts val="0"/>
              </a:spcBef>
              <a:spcAft>
                <a:spcPts val="0"/>
              </a:spcAft>
              <a:buNone/>
            </a:pPr>
            <a:r>
              <a:rPr lang="en"/>
              <a:t>Most teachers hate ______</a:t>
            </a:r>
            <a:br>
              <a:rPr lang="en"/>
            </a:br>
            <a:r>
              <a:rPr lang="en"/>
              <a:t>Most teenagers are stuck _____</a:t>
            </a:r>
            <a:endParaRPr/>
          </a:p>
          <a:p>
            <a:pPr indent="0" lvl="0" marL="0" rtl="0" algn="l">
              <a:spcBef>
                <a:spcPts val="0"/>
              </a:spcBef>
              <a:spcAft>
                <a:spcPts val="0"/>
              </a:spcAft>
              <a:buClr>
                <a:schemeClr val="dk1"/>
              </a:buClr>
              <a:buSzPts val="1100"/>
              <a:buFont typeface="Arial"/>
              <a:buNone/>
            </a:pPr>
            <a:r>
              <a:rPr lang="en"/>
              <a:t>Most new parents feel _____</a:t>
            </a:r>
            <a:endParaRPr/>
          </a:p>
          <a:p>
            <a:pPr indent="0" lvl="0" marL="0" rtl="0" algn="l">
              <a:spcBef>
                <a:spcPts val="0"/>
              </a:spcBef>
              <a:spcAft>
                <a:spcPts val="0"/>
              </a:spcAft>
              <a:buNone/>
            </a:pPr>
            <a:r>
              <a:rPr lang="en"/>
              <a:t>etc..</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59"/>
          <p:cNvSpPr/>
          <p:nvPr/>
        </p:nvSpPr>
        <p:spPr>
          <a:xfrm>
            <a:off x="0" y="0"/>
            <a:ext cx="9144000" cy="5143500"/>
          </a:xfrm>
          <a:prstGeom prst="rect">
            <a:avLst/>
          </a:prstGeom>
          <a:solidFill>
            <a:srgbClr val="F7F1F1"/>
          </a:solidFill>
          <a:ln cap="flat" cmpd="sng" w="9525">
            <a:solidFill>
              <a:srgbClr val="F7F1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59"/>
          <p:cNvSpPr txBox="1"/>
          <p:nvPr>
            <p:ph type="ctrTitle"/>
          </p:nvPr>
        </p:nvSpPr>
        <p:spPr>
          <a:xfrm>
            <a:off x="522833" y="-95722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4800">
                <a:solidFill>
                  <a:schemeClr val="accent1"/>
                </a:solidFill>
                <a:latin typeface="Lato"/>
                <a:ea typeface="Lato"/>
                <a:cs typeface="Lato"/>
                <a:sym typeface="Lato"/>
              </a:rPr>
              <a:t>Example problem statements</a:t>
            </a:r>
            <a:endParaRPr sz="4800">
              <a:solidFill>
                <a:schemeClr val="accent1"/>
              </a:solidFill>
              <a:latin typeface="Lato"/>
              <a:ea typeface="Lato"/>
              <a:cs typeface="Lato"/>
              <a:sym typeface="Lato"/>
            </a:endParaRPr>
          </a:p>
        </p:txBody>
      </p:sp>
      <p:sp>
        <p:nvSpPr>
          <p:cNvPr id="386" name="Google Shape;386;p59"/>
          <p:cNvSpPr txBox="1"/>
          <p:nvPr>
            <p:ph idx="1" type="subTitle"/>
          </p:nvPr>
        </p:nvSpPr>
        <p:spPr>
          <a:xfrm>
            <a:off x="412275" y="1704600"/>
            <a:ext cx="8520600" cy="1734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935"/>
              <a:buFont typeface="Arial"/>
              <a:buNone/>
            </a:pPr>
            <a:r>
              <a:t/>
            </a:r>
            <a:endParaRPr sz="2680">
              <a:solidFill>
                <a:schemeClr val="dk1"/>
              </a:solidFill>
              <a:latin typeface="Spectral"/>
              <a:ea typeface="Spectral"/>
              <a:cs typeface="Spectral"/>
              <a:sym typeface="Spectral"/>
            </a:endParaRPr>
          </a:p>
          <a:p>
            <a:pPr indent="0" lvl="0" marL="0" rtl="0" algn="ctr">
              <a:spcBef>
                <a:spcPts val="0"/>
              </a:spcBef>
              <a:spcAft>
                <a:spcPts val="0"/>
              </a:spcAft>
              <a:buClr>
                <a:schemeClr val="dk1"/>
              </a:buClr>
              <a:buSzPts val="935"/>
              <a:buFont typeface="Arial"/>
              <a:buNone/>
            </a:pPr>
            <a:r>
              <a:rPr lang="en" sz="2680">
                <a:solidFill>
                  <a:schemeClr val="dk1"/>
                </a:solidFill>
                <a:latin typeface="Spectral"/>
                <a:ea typeface="Spectral"/>
                <a:cs typeface="Spectral"/>
                <a:sym typeface="Spectral"/>
              </a:rPr>
              <a:t>“Most people work all their life but have no idea if they’ve saved up enough to retire” </a:t>
            </a:r>
            <a:r>
              <a:rPr b="1" lang="en" sz="2680">
                <a:solidFill>
                  <a:schemeClr val="dk1"/>
                </a:solidFill>
                <a:latin typeface="Spectral"/>
                <a:ea typeface="Spectral"/>
                <a:cs typeface="Spectral"/>
                <a:sym typeface="Spectral"/>
              </a:rPr>
              <a:t>- Financial advisor</a:t>
            </a:r>
            <a:endParaRPr b="1" sz="2680">
              <a:solidFill>
                <a:schemeClr val="dk1"/>
              </a:solidFill>
              <a:latin typeface="Spectral"/>
              <a:ea typeface="Spectral"/>
              <a:cs typeface="Spectral"/>
              <a:sym typeface="Spectral"/>
            </a:endParaRPr>
          </a:p>
          <a:p>
            <a:pPr indent="0" lvl="0" marL="0" rtl="0" algn="ctr">
              <a:spcBef>
                <a:spcPts val="0"/>
              </a:spcBef>
              <a:spcAft>
                <a:spcPts val="0"/>
              </a:spcAft>
              <a:buSzPts val="935"/>
              <a:buNone/>
            </a:pPr>
            <a:r>
              <a:t/>
            </a:r>
            <a:endParaRPr sz="3480">
              <a:solidFill>
                <a:schemeClr val="dk1"/>
              </a:solidFill>
              <a:latin typeface="Spectral"/>
              <a:ea typeface="Spectral"/>
              <a:cs typeface="Spectral"/>
              <a:sym typeface="Spectral"/>
            </a:endParaRPr>
          </a:p>
        </p:txBody>
      </p:sp>
      <p:sp>
        <p:nvSpPr>
          <p:cNvPr id="387" name="Google Shape;387;p59"/>
          <p:cNvSpPr txBox="1"/>
          <p:nvPr>
            <p:ph type="ctrTitle"/>
          </p:nvPr>
        </p:nvSpPr>
        <p:spPr>
          <a:xfrm>
            <a:off x="0" y="4624800"/>
            <a:ext cx="9144000" cy="518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900">
                <a:solidFill>
                  <a:srgbClr val="B6B2B3"/>
                </a:solidFill>
                <a:latin typeface="Lato"/>
                <a:ea typeface="Lato"/>
                <a:cs typeface="Lato"/>
                <a:sym typeface="Lato"/>
              </a:rPr>
              <a:t>    14/36								            SHAANPURI.COM						          POWER WRITING COURSE</a:t>
            </a:r>
            <a:endParaRPr b="1" sz="900">
              <a:solidFill>
                <a:srgbClr val="B6B2B3"/>
              </a:solidFill>
              <a:latin typeface="Lato"/>
              <a:ea typeface="Lato"/>
              <a:cs typeface="Lato"/>
              <a:sym typeface="Lato"/>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60"/>
          <p:cNvSpPr/>
          <p:nvPr/>
        </p:nvSpPr>
        <p:spPr>
          <a:xfrm>
            <a:off x="0" y="0"/>
            <a:ext cx="9144000" cy="5143500"/>
          </a:xfrm>
          <a:prstGeom prst="rect">
            <a:avLst/>
          </a:prstGeom>
          <a:solidFill>
            <a:srgbClr val="F7F1F1"/>
          </a:solidFill>
          <a:ln cap="flat" cmpd="sng" w="9525">
            <a:solidFill>
              <a:srgbClr val="F7F1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60"/>
          <p:cNvSpPr txBox="1"/>
          <p:nvPr>
            <p:ph type="ctrTitle"/>
          </p:nvPr>
        </p:nvSpPr>
        <p:spPr>
          <a:xfrm>
            <a:off x="522833" y="-95722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4800">
                <a:solidFill>
                  <a:schemeClr val="accent1"/>
                </a:solidFill>
                <a:latin typeface="Lato"/>
                <a:ea typeface="Lato"/>
                <a:cs typeface="Lato"/>
                <a:sym typeface="Lato"/>
              </a:rPr>
              <a:t>Example problem statements</a:t>
            </a:r>
            <a:endParaRPr sz="4800">
              <a:solidFill>
                <a:schemeClr val="accent1"/>
              </a:solidFill>
              <a:latin typeface="Lato"/>
              <a:ea typeface="Lato"/>
              <a:cs typeface="Lato"/>
              <a:sym typeface="Lato"/>
            </a:endParaRPr>
          </a:p>
        </p:txBody>
      </p:sp>
      <p:sp>
        <p:nvSpPr>
          <p:cNvPr id="394" name="Google Shape;394;p60"/>
          <p:cNvSpPr txBox="1"/>
          <p:nvPr>
            <p:ph idx="1" type="subTitle"/>
          </p:nvPr>
        </p:nvSpPr>
        <p:spPr>
          <a:xfrm>
            <a:off x="412275" y="1704600"/>
            <a:ext cx="8520600" cy="1734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935"/>
              <a:buNone/>
            </a:pPr>
            <a:r>
              <a:rPr lang="en" sz="2780">
                <a:solidFill>
                  <a:schemeClr val="dk1"/>
                </a:solidFill>
                <a:latin typeface="Spectral"/>
                <a:ea typeface="Spectral"/>
                <a:cs typeface="Spectral"/>
                <a:sym typeface="Spectral"/>
              </a:rPr>
              <a:t>“Most dog owners don’t know what the heck their dog food is made of”  -</a:t>
            </a:r>
            <a:r>
              <a:rPr b="1" lang="en" sz="2780">
                <a:solidFill>
                  <a:schemeClr val="dk1"/>
                </a:solidFill>
                <a:latin typeface="Spectral"/>
                <a:ea typeface="Spectral"/>
                <a:cs typeface="Spectral"/>
                <a:sym typeface="Spectral"/>
              </a:rPr>
              <a:t> Dog food brand</a:t>
            </a:r>
            <a:endParaRPr b="1" sz="2780">
              <a:solidFill>
                <a:schemeClr val="dk1"/>
              </a:solidFill>
              <a:latin typeface="Spectral"/>
              <a:ea typeface="Spectral"/>
              <a:cs typeface="Spectral"/>
              <a:sym typeface="Spectral"/>
            </a:endParaRPr>
          </a:p>
          <a:p>
            <a:pPr indent="0" lvl="0" marL="0" rtl="0" algn="ctr">
              <a:spcBef>
                <a:spcPts val="0"/>
              </a:spcBef>
              <a:spcAft>
                <a:spcPts val="0"/>
              </a:spcAft>
              <a:buSzPts val="935"/>
              <a:buNone/>
            </a:pPr>
            <a:r>
              <a:t/>
            </a:r>
            <a:endParaRPr b="1" i="1" sz="2780"/>
          </a:p>
        </p:txBody>
      </p:sp>
      <p:sp>
        <p:nvSpPr>
          <p:cNvPr id="395" name="Google Shape;395;p60"/>
          <p:cNvSpPr txBox="1"/>
          <p:nvPr>
            <p:ph type="ctrTitle"/>
          </p:nvPr>
        </p:nvSpPr>
        <p:spPr>
          <a:xfrm>
            <a:off x="0" y="4624800"/>
            <a:ext cx="9144000" cy="518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900">
                <a:solidFill>
                  <a:srgbClr val="B6B2B3"/>
                </a:solidFill>
                <a:latin typeface="Lato"/>
                <a:ea typeface="Lato"/>
                <a:cs typeface="Lato"/>
                <a:sym typeface="Lato"/>
              </a:rPr>
              <a:t>    14/36								            SHAANPURI.COM						          POWER WRITING COURSE</a:t>
            </a:r>
            <a:endParaRPr b="1" sz="900">
              <a:solidFill>
                <a:srgbClr val="B6B2B3"/>
              </a:solidFill>
              <a:latin typeface="Lato"/>
              <a:ea typeface="Lato"/>
              <a:cs typeface="Lato"/>
              <a:sym typeface="Lato"/>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61"/>
          <p:cNvSpPr/>
          <p:nvPr/>
        </p:nvSpPr>
        <p:spPr>
          <a:xfrm>
            <a:off x="0" y="0"/>
            <a:ext cx="9144000" cy="5143500"/>
          </a:xfrm>
          <a:prstGeom prst="rect">
            <a:avLst/>
          </a:prstGeom>
          <a:solidFill>
            <a:srgbClr val="F7F1F1"/>
          </a:solidFill>
          <a:ln cap="flat" cmpd="sng" w="9525">
            <a:solidFill>
              <a:srgbClr val="F7F1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61"/>
          <p:cNvSpPr txBox="1"/>
          <p:nvPr>
            <p:ph type="ctrTitle"/>
          </p:nvPr>
        </p:nvSpPr>
        <p:spPr>
          <a:xfrm>
            <a:off x="311708" y="-9362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solidFill>
                  <a:srgbClr val="0066DE"/>
                </a:solidFill>
                <a:latin typeface="Lato"/>
                <a:ea typeface="Lato"/>
                <a:cs typeface="Lato"/>
                <a:sym typeface="Lato"/>
              </a:rPr>
              <a:t>Problem statement tips</a:t>
            </a:r>
            <a:endParaRPr>
              <a:solidFill>
                <a:srgbClr val="0066DE"/>
              </a:solidFill>
              <a:latin typeface="Lato"/>
              <a:ea typeface="Lato"/>
              <a:cs typeface="Lato"/>
              <a:sym typeface="Lato"/>
            </a:endParaRPr>
          </a:p>
        </p:txBody>
      </p:sp>
      <p:sp>
        <p:nvSpPr>
          <p:cNvPr id="402" name="Google Shape;402;p61"/>
          <p:cNvSpPr txBox="1"/>
          <p:nvPr>
            <p:ph idx="1" type="subTitle"/>
          </p:nvPr>
        </p:nvSpPr>
        <p:spPr>
          <a:xfrm>
            <a:off x="311700" y="1995925"/>
            <a:ext cx="8520600" cy="792600"/>
          </a:xfrm>
          <a:prstGeom prst="rect">
            <a:avLst/>
          </a:prstGeom>
        </p:spPr>
        <p:txBody>
          <a:bodyPr anchorCtr="0" anchor="t" bIns="91425" lIns="91425" spcFirstLastPara="1" rIns="91425" wrap="square" tIns="91425">
            <a:noAutofit/>
          </a:bodyPr>
          <a:lstStyle/>
          <a:p>
            <a:pPr indent="-344170" lvl="0" marL="457200" rtl="0" algn="l">
              <a:lnSpc>
                <a:spcPct val="80000"/>
              </a:lnSpc>
              <a:spcBef>
                <a:spcPts val="0"/>
              </a:spcBef>
              <a:spcAft>
                <a:spcPts val="0"/>
              </a:spcAft>
              <a:buClr>
                <a:schemeClr val="dk1"/>
              </a:buClr>
              <a:buSzPts val="1820"/>
              <a:buFont typeface="Spectral"/>
              <a:buChar char="●"/>
            </a:pPr>
            <a:r>
              <a:rPr lang="en" sz="1820">
                <a:solidFill>
                  <a:schemeClr val="dk1"/>
                </a:solidFill>
                <a:latin typeface="Spectral"/>
                <a:ea typeface="Spectral"/>
                <a:cs typeface="Spectral"/>
                <a:sym typeface="Spectral"/>
              </a:rPr>
              <a:t>Try using “most people” or “most [job title]” or “the average person” </a:t>
            </a:r>
            <a:endParaRPr sz="1820">
              <a:solidFill>
                <a:schemeClr val="dk1"/>
              </a:solidFill>
              <a:latin typeface="Spectral"/>
              <a:ea typeface="Spectral"/>
              <a:cs typeface="Spectral"/>
              <a:sym typeface="Spectral"/>
            </a:endParaRPr>
          </a:p>
          <a:p>
            <a:pPr indent="0" lvl="0" marL="457200" rtl="0" algn="l">
              <a:lnSpc>
                <a:spcPct val="80000"/>
              </a:lnSpc>
              <a:spcBef>
                <a:spcPts val="0"/>
              </a:spcBef>
              <a:spcAft>
                <a:spcPts val="0"/>
              </a:spcAft>
              <a:buNone/>
            </a:pPr>
            <a:r>
              <a:t/>
            </a:r>
            <a:endParaRPr sz="1820">
              <a:solidFill>
                <a:schemeClr val="dk1"/>
              </a:solidFill>
              <a:latin typeface="Spectral"/>
              <a:ea typeface="Spectral"/>
              <a:cs typeface="Spectral"/>
              <a:sym typeface="Spectral"/>
            </a:endParaRPr>
          </a:p>
          <a:p>
            <a:pPr indent="-344170" lvl="0" marL="457200" rtl="0" algn="l">
              <a:lnSpc>
                <a:spcPct val="80000"/>
              </a:lnSpc>
              <a:spcBef>
                <a:spcPts val="0"/>
              </a:spcBef>
              <a:spcAft>
                <a:spcPts val="0"/>
              </a:spcAft>
              <a:buClr>
                <a:schemeClr val="dk1"/>
              </a:buClr>
              <a:buSzPts val="1820"/>
              <a:buFont typeface="Spectral"/>
              <a:buChar char="●"/>
            </a:pPr>
            <a:r>
              <a:rPr lang="en" sz="1820">
                <a:solidFill>
                  <a:schemeClr val="dk1"/>
                </a:solidFill>
                <a:latin typeface="Spectral"/>
                <a:ea typeface="Spectral"/>
                <a:cs typeface="Spectral"/>
                <a:sym typeface="Spectral"/>
              </a:rPr>
              <a:t>If possible, name  your customer (eg. “most teachers”) </a:t>
            </a:r>
            <a:endParaRPr sz="1820">
              <a:solidFill>
                <a:schemeClr val="dk1"/>
              </a:solidFill>
              <a:latin typeface="Spectral"/>
              <a:ea typeface="Spectral"/>
              <a:cs typeface="Spectral"/>
              <a:sym typeface="Spectral"/>
            </a:endParaRPr>
          </a:p>
          <a:p>
            <a:pPr indent="0" lvl="0" marL="457200" rtl="0" algn="l">
              <a:lnSpc>
                <a:spcPct val="80000"/>
              </a:lnSpc>
              <a:spcBef>
                <a:spcPts val="0"/>
              </a:spcBef>
              <a:spcAft>
                <a:spcPts val="0"/>
              </a:spcAft>
              <a:buNone/>
            </a:pPr>
            <a:r>
              <a:t/>
            </a:r>
            <a:endParaRPr sz="1820">
              <a:solidFill>
                <a:schemeClr val="dk1"/>
              </a:solidFill>
              <a:latin typeface="Spectral"/>
              <a:ea typeface="Spectral"/>
              <a:cs typeface="Spectral"/>
              <a:sym typeface="Spectral"/>
            </a:endParaRPr>
          </a:p>
          <a:p>
            <a:pPr indent="-344170" lvl="0" marL="457200" rtl="0" algn="l">
              <a:lnSpc>
                <a:spcPct val="80000"/>
              </a:lnSpc>
              <a:spcBef>
                <a:spcPts val="0"/>
              </a:spcBef>
              <a:spcAft>
                <a:spcPts val="0"/>
              </a:spcAft>
              <a:buClr>
                <a:schemeClr val="dk1"/>
              </a:buClr>
              <a:buSzPts val="1820"/>
              <a:buFont typeface="Spectral"/>
              <a:buChar char="●"/>
            </a:pPr>
            <a:r>
              <a:rPr lang="en" sz="1820">
                <a:solidFill>
                  <a:schemeClr val="dk1"/>
                </a:solidFill>
                <a:latin typeface="Spectral"/>
                <a:ea typeface="Spectral"/>
                <a:cs typeface="Spectral"/>
                <a:sym typeface="Spectral"/>
              </a:rPr>
              <a:t>The problem should be one that they nod &amp; agree with. </a:t>
            </a:r>
            <a:endParaRPr sz="1820">
              <a:solidFill>
                <a:schemeClr val="dk1"/>
              </a:solidFill>
              <a:latin typeface="Spectral"/>
              <a:ea typeface="Spectral"/>
              <a:cs typeface="Spectral"/>
              <a:sym typeface="Spectral"/>
            </a:endParaRPr>
          </a:p>
          <a:p>
            <a:pPr indent="0" lvl="0" marL="457200" rtl="0" algn="l">
              <a:lnSpc>
                <a:spcPct val="80000"/>
              </a:lnSpc>
              <a:spcBef>
                <a:spcPts val="0"/>
              </a:spcBef>
              <a:spcAft>
                <a:spcPts val="0"/>
              </a:spcAft>
              <a:buNone/>
            </a:pPr>
            <a:r>
              <a:t/>
            </a:r>
            <a:endParaRPr sz="1820">
              <a:solidFill>
                <a:schemeClr val="dk1"/>
              </a:solidFill>
              <a:latin typeface="Spectral"/>
              <a:ea typeface="Spectral"/>
              <a:cs typeface="Spectral"/>
              <a:sym typeface="Spectral"/>
            </a:endParaRPr>
          </a:p>
          <a:p>
            <a:pPr indent="-344170" lvl="0" marL="457200" rtl="0" algn="l">
              <a:lnSpc>
                <a:spcPct val="80000"/>
              </a:lnSpc>
              <a:spcBef>
                <a:spcPts val="0"/>
              </a:spcBef>
              <a:spcAft>
                <a:spcPts val="0"/>
              </a:spcAft>
              <a:buClr>
                <a:schemeClr val="dk1"/>
              </a:buClr>
              <a:buSzPts val="1820"/>
              <a:buChar char="●"/>
            </a:pPr>
            <a:r>
              <a:rPr lang="en" sz="1820">
                <a:solidFill>
                  <a:schemeClr val="dk1"/>
                </a:solidFill>
                <a:latin typeface="Spectral"/>
                <a:ea typeface="Spectral"/>
                <a:cs typeface="Spectral"/>
                <a:sym typeface="Spectral"/>
              </a:rPr>
              <a:t>Focus on what </a:t>
            </a:r>
            <a:r>
              <a:rPr b="1" lang="en" sz="1820">
                <a:solidFill>
                  <a:schemeClr val="dk1"/>
                </a:solidFill>
                <a:latin typeface="Spectral"/>
                <a:ea typeface="Spectral"/>
                <a:cs typeface="Spectral"/>
                <a:sym typeface="Spectral"/>
              </a:rPr>
              <a:t>they feel </a:t>
            </a:r>
            <a:r>
              <a:rPr lang="en" sz="1820">
                <a:solidFill>
                  <a:schemeClr val="dk1"/>
                </a:solidFill>
                <a:latin typeface="Spectral"/>
                <a:ea typeface="Spectral"/>
                <a:cs typeface="Spectral"/>
                <a:sym typeface="Spectral"/>
              </a:rPr>
              <a:t>not what </a:t>
            </a:r>
            <a:r>
              <a:rPr b="1" lang="en" sz="1820">
                <a:solidFill>
                  <a:schemeClr val="dk1"/>
                </a:solidFill>
                <a:latin typeface="Spectral"/>
                <a:ea typeface="Spectral"/>
                <a:cs typeface="Spectral"/>
                <a:sym typeface="Spectral"/>
              </a:rPr>
              <a:t>you judge</a:t>
            </a:r>
            <a:r>
              <a:rPr lang="en" sz="1820">
                <a:solidFill>
                  <a:schemeClr val="dk1"/>
                </a:solidFill>
                <a:latin typeface="Spectral"/>
                <a:ea typeface="Spectral"/>
                <a:cs typeface="Spectral"/>
                <a:sym typeface="Spectral"/>
              </a:rPr>
              <a:t> about them (eg. “feel worried”, “feel stressed”, “struggle with”, “are tired of”) </a:t>
            </a:r>
            <a:endParaRPr sz="1820">
              <a:solidFill>
                <a:schemeClr val="dk1"/>
              </a:solidFill>
              <a:latin typeface="Spectral"/>
              <a:ea typeface="Spectral"/>
              <a:cs typeface="Spectral"/>
              <a:sym typeface="Spectral"/>
            </a:endParaRPr>
          </a:p>
        </p:txBody>
      </p:sp>
      <p:sp>
        <p:nvSpPr>
          <p:cNvPr id="403" name="Google Shape;403;p61"/>
          <p:cNvSpPr txBox="1"/>
          <p:nvPr>
            <p:ph type="ctrTitle"/>
          </p:nvPr>
        </p:nvSpPr>
        <p:spPr>
          <a:xfrm>
            <a:off x="0" y="4624800"/>
            <a:ext cx="9144000" cy="518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900">
                <a:solidFill>
                  <a:srgbClr val="B6B2B3"/>
                </a:solidFill>
                <a:latin typeface="Lato"/>
                <a:ea typeface="Lato"/>
                <a:cs typeface="Lato"/>
                <a:sym typeface="Lato"/>
              </a:rPr>
              <a:t>    15/36								            SHAANPURI.COM						          POWER WRITING COURSE</a:t>
            </a:r>
            <a:endParaRPr b="1" sz="900">
              <a:solidFill>
                <a:srgbClr val="B6B2B3"/>
              </a:solidFill>
              <a:latin typeface="Lato"/>
              <a:ea typeface="Lato"/>
              <a:cs typeface="Lato"/>
              <a:sym typeface="Lato"/>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2"/>
          <p:cNvSpPr/>
          <p:nvPr/>
        </p:nvSpPr>
        <p:spPr>
          <a:xfrm>
            <a:off x="0" y="0"/>
            <a:ext cx="9144000" cy="5143500"/>
          </a:xfrm>
          <a:prstGeom prst="rect">
            <a:avLst/>
          </a:prstGeom>
          <a:solidFill>
            <a:srgbClr val="F7F1F1"/>
          </a:solidFill>
          <a:ln cap="flat" cmpd="sng" w="9525">
            <a:solidFill>
              <a:srgbClr val="F7F1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62"/>
          <p:cNvSpPr txBox="1"/>
          <p:nvPr>
            <p:ph type="ctrTitle"/>
          </p:nvPr>
        </p:nvSpPr>
        <p:spPr>
          <a:xfrm>
            <a:off x="544233" y="-118750"/>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Now… a simple solution</a:t>
            </a:r>
            <a:endParaRPr/>
          </a:p>
        </p:txBody>
      </p:sp>
      <p:sp>
        <p:nvSpPr>
          <p:cNvPr id="410" name="Google Shape;410;p62"/>
          <p:cNvSpPr txBox="1"/>
          <p:nvPr>
            <p:ph idx="1" type="subTitle"/>
          </p:nvPr>
        </p:nvSpPr>
        <p:spPr>
          <a:xfrm>
            <a:off x="441200" y="2306350"/>
            <a:ext cx="8520600" cy="1923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That’s why we made a 3 step formula for _____</a:t>
            </a:r>
            <a:endParaRPr/>
          </a:p>
          <a:p>
            <a:pPr indent="0" lvl="0" marL="0" rtl="0" algn="ctr">
              <a:spcBef>
                <a:spcPts val="0"/>
              </a:spcBef>
              <a:spcAft>
                <a:spcPts val="0"/>
              </a:spcAft>
              <a:buNone/>
            </a:pPr>
            <a:r>
              <a:rPr lang="en"/>
              <a:t>We created a 1-click way to _____ </a:t>
            </a:r>
            <a:endParaRPr/>
          </a:p>
          <a:p>
            <a:pPr indent="0" lvl="0" marL="0" rtl="0" algn="ctr">
              <a:spcBef>
                <a:spcPts val="0"/>
              </a:spcBef>
              <a:spcAft>
                <a:spcPts val="0"/>
              </a:spcAft>
              <a:buNone/>
            </a:pPr>
            <a:r>
              <a:rPr lang="en"/>
              <a:t>So we created a store that _____</a:t>
            </a:r>
            <a:endParaRPr/>
          </a:p>
          <a:p>
            <a:pPr indent="0" lvl="0" marL="0" rtl="0" algn="ctr">
              <a:spcBef>
                <a:spcPts val="0"/>
              </a:spcBef>
              <a:spcAft>
                <a:spcPts val="0"/>
              </a:spcAft>
              <a:buNone/>
            </a:pPr>
            <a:r>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63"/>
          <p:cNvSpPr/>
          <p:nvPr/>
        </p:nvSpPr>
        <p:spPr>
          <a:xfrm>
            <a:off x="0" y="0"/>
            <a:ext cx="9144000" cy="5143500"/>
          </a:xfrm>
          <a:prstGeom prst="rect">
            <a:avLst/>
          </a:prstGeom>
          <a:solidFill>
            <a:srgbClr val="F7F1F1"/>
          </a:solidFill>
          <a:ln cap="flat" cmpd="sng" w="9525">
            <a:solidFill>
              <a:srgbClr val="F7F1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63"/>
          <p:cNvSpPr txBox="1"/>
          <p:nvPr>
            <p:ph type="ctrTitle"/>
          </p:nvPr>
        </p:nvSpPr>
        <p:spPr>
          <a:xfrm>
            <a:off x="441208" y="-949950"/>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4700">
                <a:solidFill>
                  <a:srgbClr val="0066DE"/>
                </a:solidFill>
                <a:latin typeface="Lato"/>
                <a:ea typeface="Lato"/>
                <a:cs typeface="Lato"/>
                <a:sym typeface="Lato"/>
              </a:rPr>
              <a:t>Example solution statements</a:t>
            </a:r>
            <a:endParaRPr sz="4700">
              <a:solidFill>
                <a:srgbClr val="0066DE"/>
              </a:solidFill>
              <a:latin typeface="Lato"/>
              <a:ea typeface="Lato"/>
              <a:cs typeface="Lato"/>
              <a:sym typeface="Lato"/>
            </a:endParaRPr>
          </a:p>
        </p:txBody>
      </p:sp>
      <p:sp>
        <p:nvSpPr>
          <p:cNvPr id="417" name="Google Shape;417;p63"/>
          <p:cNvSpPr txBox="1"/>
          <p:nvPr>
            <p:ph idx="1" type="subTitle"/>
          </p:nvPr>
        </p:nvSpPr>
        <p:spPr>
          <a:xfrm>
            <a:off x="311700" y="1275025"/>
            <a:ext cx="8520600" cy="1734300"/>
          </a:xfrm>
          <a:prstGeom prst="rect">
            <a:avLst/>
          </a:prstGeom>
        </p:spPr>
        <p:txBody>
          <a:bodyPr anchorCtr="0" anchor="t" bIns="91425" lIns="91425" spcFirstLastPara="1" rIns="91425" wrap="square" tIns="91425">
            <a:noAutofit/>
          </a:bodyPr>
          <a:lstStyle/>
          <a:p>
            <a:pPr indent="0" lvl="0" marL="0" rtl="0" algn="ctr">
              <a:lnSpc>
                <a:spcPct val="80000"/>
              </a:lnSpc>
              <a:spcBef>
                <a:spcPts val="0"/>
              </a:spcBef>
              <a:spcAft>
                <a:spcPts val="0"/>
              </a:spcAft>
              <a:buSzPts val="584"/>
              <a:buNone/>
            </a:pPr>
            <a:r>
              <a:t/>
            </a:r>
            <a:endParaRPr b="1" sz="3037">
              <a:solidFill>
                <a:schemeClr val="dk1"/>
              </a:solidFill>
              <a:latin typeface="Spectral"/>
              <a:ea typeface="Spectral"/>
              <a:cs typeface="Spectral"/>
              <a:sym typeface="Spectral"/>
            </a:endParaRPr>
          </a:p>
          <a:p>
            <a:pPr indent="0" lvl="0" marL="0" rtl="0" algn="ctr">
              <a:lnSpc>
                <a:spcPct val="80000"/>
              </a:lnSpc>
              <a:spcBef>
                <a:spcPts val="0"/>
              </a:spcBef>
              <a:spcAft>
                <a:spcPts val="0"/>
              </a:spcAft>
              <a:buClr>
                <a:schemeClr val="dk1"/>
              </a:buClr>
              <a:buSzPts val="584"/>
              <a:buFont typeface="Arial"/>
              <a:buNone/>
            </a:pPr>
            <a:r>
              <a:t/>
            </a:r>
            <a:endParaRPr b="1" sz="3037">
              <a:solidFill>
                <a:schemeClr val="dk1"/>
              </a:solidFill>
              <a:latin typeface="Spectral"/>
              <a:ea typeface="Spectral"/>
              <a:cs typeface="Spectral"/>
              <a:sym typeface="Spectral"/>
            </a:endParaRPr>
          </a:p>
          <a:p>
            <a:pPr indent="0" lvl="0" marL="0" rtl="0" algn="ctr">
              <a:lnSpc>
                <a:spcPct val="80000"/>
              </a:lnSpc>
              <a:spcBef>
                <a:spcPts val="0"/>
              </a:spcBef>
              <a:spcAft>
                <a:spcPts val="0"/>
              </a:spcAft>
              <a:buClr>
                <a:schemeClr val="dk1"/>
              </a:buClr>
              <a:buSzPts val="584"/>
              <a:buFont typeface="Arial"/>
              <a:buNone/>
            </a:pPr>
            <a:r>
              <a:rPr lang="en" sz="3037">
                <a:solidFill>
                  <a:schemeClr val="dk1"/>
                </a:solidFill>
                <a:latin typeface="Spectral"/>
                <a:ea typeface="Spectral"/>
                <a:cs typeface="Spectral"/>
                <a:sym typeface="Spectral"/>
              </a:rPr>
              <a:t>“The average tech person spends 3+hours a day, just trying to keep up with email</a:t>
            </a:r>
            <a:r>
              <a:rPr b="1" lang="en" sz="3037">
                <a:solidFill>
                  <a:schemeClr val="dk1"/>
                </a:solidFill>
                <a:latin typeface="Spectral"/>
                <a:ea typeface="Spectral"/>
                <a:cs typeface="Spectral"/>
                <a:sym typeface="Spectral"/>
              </a:rPr>
              <a:t>, </a:t>
            </a:r>
            <a:r>
              <a:rPr b="1" lang="en" sz="3037">
                <a:solidFill>
                  <a:srgbClr val="0066DE"/>
                </a:solidFill>
                <a:latin typeface="Spectral"/>
                <a:ea typeface="Spectral"/>
                <a:cs typeface="Spectral"/>
                <a:sym typeface="Spectral"/>
              </a:rPr>
              <a:t>so we built a blazing fast client for gmail</a:t>
            </a:r>
            <a:r>
              <a:rPr lang="en" sz="3037">
                <a:solidFill>
                  <a:srgbClr val="0066DE"/>
                </a:solidFill>
                <a:latin typeface="Spectral"/>
                <a:ea typeface="Spectral"/>
                <a:cs typeface="Spectral"/>
                <a:sym typeface="Spectral"/>
              </a:rPr>
              <a:t> </a:t>
            </a:r>
            <a:r>
              <a:rPr b="1" lang="en" sz="3037">
                <a:solidFill>
                  <a:srgbClr val="0066DE"/>
                </a:solidFill>
                <a:latin typeface="Spectral"/>
                <a:ea typeface="Spectral"/>
                <a:cs typeface="Spectral"/>
                <a:sym typeface="Spectral"/>
              </a:rPr>
              <a:t>that lets you get through your email in half the time</a:t>
            </a:r>
            <a:r>
              <a:rPr b="1" lang="en" sz="3037">
                <a:solidFill>
                  <a:schemeClr val="dk1"/>
                </a:solidFill>
                <a:latin typeface="Spectral"/>
                <a:ea typeface="Spectral"/>
                <a:cs typeface="Spectral"/>
                <a:sym typeface="Spectral"/>
              </a:rPr>
              <a:t>” </a:t>
            </a:r>
            <a:endParaRPr b="1" sz="3037">
              <a:solidFill>
                <a:schemeClr val="dk1"/>
              </a:solidFill>
              <a:latin typeface="Spectral"/>
              <a:ea typeface="Spectral"/>
              <a:cs typeface="Spectral"/>
              <a:sym typeface="Spectral"/>
            </a:endParaRPr>
          </a:p>
          <a:p>
            <a:pPr indent="0" lvl="0" marL="0" rtl="0" algn="ctr">
              <a:lnSpc>
                <a:spcPct val="80000"/>
              </a:lnSpc>
              <a:spcBef>
                <a:spcPts val="0"/>
              </a:spcBef>
              <a:spcAft>
                <a:spcPts val="0"/>
              </a:spcAft>
              <a:buClr>
                <a:schemeClr val="dk1"/>
              </a:buClr>
              <a:buSzPts val="584"/>
              <a:buFont typeface="Arial"/>
              <a:buNone/>
            </a:pPr>
            <a:r>
              <a:t/>
            </a:r>
            <a:endParaRPr b="1" sz="3037">
              <a:solidFill>
                <a:schemeClr val="dk1"/>
              </a:solidFill>
              <a:latin typeface="Spectral"/>
              <a:ea typeface="Spectral"/>
              <a:cs typeface="Spectral"/>
              <a:sym typeface="Spectral"/>
            </a:endParaRPr>
          </a:p>
          <a:p>
            <a:pPr indent="0" lvl="0" marL="0" rtl="0" algn="ctr">
              <a:lnSpc>
                <a:spcPct val="80000"/>
              </a:lnSpc>
              <a:spcBef>
                <a:spcPts val="0"/>
              </a:spcBef>
              <a:spcAft>
                <a:spcPts val="0"/>
              </a:spcAft>
              <a:buClr>
                <a:schemeClr val="dk1"/>
              </a:buClr>
              <a:buSzPts val="584"/>
              <a:buFont typeface="Arial"/>
              <a:buNone/>
            </a:pPr>
            <a:r>
              <a:t/>
            </a:r>
            <a:endParaRPr b="1" sz="3037">
              <a:solidFill>
                <a:schemeClr val="dk1"/>
              </a:solidFill>
              <a:latin typeface="Spectral"/>
              <a:ea typeface="Spectral"/>
              <a:cs typeface="Spectral"/>
              <a:sym typeface="Spectral"/>
            </a:endParaRPr>
          </a:p>
          <a:p>
            <a:pPr indent="0" lvl="0" marL="0" rtl="0" algn="ctr">
              <a:lnSpc>
                <a:spcPct val="80000"/>
              </a:lnSpc>
              <a:spcBef>
                <a:spcPts val="0"/>
              </a:spcBef>
              <a:spcAft>
                <a:spcPts val="0"/>
              </a:spcAft>
              <a:buSzPts val="584"/>
              <a:buNone/>
            </a:pPr>
            <a:r>
              <a:t/>
            </a:r>
            <a:endParaRPr sz="3037">
              <a:solidFill>
                <a:schemeClr val="dk1"/>
              </a:solidFill>
              <a:latin typeface="Spectral"/>
              <a:ea typeface="Spectral"/>
              <a:cs typeface="Spectral"/>
              <a:sym typeface="Spectral"/>
            </a:endParaRPr>
          </a:p>
        </p:txBody>
      </p:sp>
      <p:sp>
        <p:nvSpPr>
          <p:cNvPr id="418" name="Google Shape;418;p63"/>
          <p:cNvSpPr txBox="1"/>
          <p:nvPr>
            <p:ph type="ctrTitle"/>
          </p:nvPr>
        </p:nvSpPr>
        <p:spPr>
          <a:xfrm>
            <a:off x="0" y="4624800"/>
            <a:ext cx="9144000" cy="518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900">
                <a:solidFill>
                  <a:srgbClr val="B6B2B3"/>
                </a:solidFill>
                <a:latin typeface="Lato"/>
                <a:ea typeface="Lato"/>
                <a:cs typeface="Lato"/>
                <a:sym typeface="Lato"/>
              </a:rPr>
              <a:t>    16/36								            SHAANPURI.COM						          POWER WRITING COURSE</a:t>
            </a:r>
            <a:endParaRPr b="1" sz="900">
              <a:solidFill>
                <a:srgbClr val="B6B2B3"/>
              </a:solidFill>
              <a:latin typeface="Lato"/>
              <a:ea typeface="Lato"/>
              <a:cs typeface="Lato"/>
              <a:sym typeface="Lato"/>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4"/>
          <p:cNvSpPr/>
          <p:nvPr/>
        </p:nvSpPr>
        <p:spPr>
          <a:xfrm>
            <a:off x="0" y="0"/>
            <a:ext cx="9144000" cy="5143500"/>
          </a:xfrm>
          <a:prstGeom prst="rect">
            <a:avLst/>
          </a:prstGeom>
          <a:solidFill>
            <a:srgbClr val="E52278"/>
          </a:solidFill>
          <a:ln cap="flat" cmpd="sng" w="9525">
            <a:solidFill>
              <a:srgbClr val="1F8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t>
            </a:r>
            <a:endParaRPr/>
          </a:p>
        </p:txBody>
      </p:sp>
      <p:sp>
        <p:nvSpPr>
          <p:cNvPr id="424" name="Google Shape;424;p6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solidFill>
                  <a:schemeClr val="lt1"/>
                </a:solidFill>
              </a:rPr>
              <a:t>Paint a picture of the happy ending</a:t>
            </a:r>
            <a:endParaRPr>
              <a:solidFill>
                <a:schemeClr val="lt1"/>
              </a:solidFill>
            </a:endParaRPr>
          </a:p>
        </p:txBody>
      </p:sp>
      <p:sp>
        <p:nvSpPr>
          <p:cNvPr id="425" name="Google Shape;425;p64"/>
          <p:cNvSpPr txBox="1"/>
          <p:nvPr>
            <p:ph idx="1" type="subTitle"/>
          </p:nvPr>
        </p:nvSpPr>
        <p:spPr>
          <a:xfrm>
            <a:off x="311700" y="2834125"/>
            <a:ext cx="8520600" cy="205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solidFill>
                <a:schemeClr val="lt1"/>
              </a:solidFill>
            </a:endParaRPr>
          </a:p>
          <a:p>
            <a:pPr indent="0" lvl="0" marL="0" rtl="0" algn="ctr">
              <a:spcBef>
                <a:spcPts val="0"/>
              </a:spcBef>
              <a:spcAft>
                <a:spcPts val="0"/>
              </a:spcAft>
              <a:buNone/>
            </a:pPr>
            <a:r>
              <a:rPr lang="en">
                <a:solidFill>
                  <a:schemeClr val="lt1"/>
                </a:solidFill>
              </a:rPr>
              <a:t>What happens after they use your solution?</a:t>
            </a:r>
            <a:endParaRPr>
              <a:solidFill>
                <a:schemeClr val="lt1"/>
              </a:solidFill>
            </a:endParaRPr>
          </a:p>
          <a:p>
            <a:pPr indent="0" lvl="0" marL="0" rtl="0" algn="ctr">
              <a:spcBef>
                <a:spcPts val="0"/>
              </a:spcBef>
              <a:spcAft>
                <a:spcPts val="0"/>
              </a:spcAft>
              <a:buNone/>
            </a:pPr>
            <a:r>
              <a:rPr lang="en">
                <a:solidFill>
                  <a:schemeClr val="lt1"/>
                </a:solidFill>
              </a:rPr>
              <a:t>(hint - it’s the opposite of the problem)</a:t>
            </a:r>
            <a:endParaRPr>
              <a:solidFill>
                <a:schemeClr val="lt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65"/>
          <p:cNvSpPr/>
          <p:nvPr/>
        </p:nvSpPr>
        <p:spPr>
          <a:xfrm>
            <a:off x="-102700" y="0"/>
            <a:ext cx="9376200" cy="5143500"/>
          </a:xfrm>
          <a:prstGeom prst="rect">
            <a:avLst/>
          </a:prstGeom>
          <a:solidFill>
            <a:srgbClr val="F7F1F1"/>
          </a:solidFill>
          <a:ln cap="flat" cmpd="sng" w="9525">
            <a:solidFill>
              <a:srgbClr val="F7F1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65"/>
          <p:cNvSpPr txBox="1"/>
          <p:nvPr>
            <p:ph type="ctrTitle"/>
          </p:nvPr>
        </p:nvSpPr>
        <p:spPr>
          <a:xfrm>
            <a:off x="1214450" y="1541025"/>
            <a:ext cx="6974100" cy="32226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2200"/>
              <a:t>Complicated == jargon, hard to understand</a:t>
            </a:r>
            <a:endParaRPr b="1" sz="2200"/>
          </a:p>
          <a:p>
            <a:pPr indent="0" lvl="0" marL="0" rtl="0" algn="ctr">
              <a:lnSpc>
                <a:spcPct val="115000"/>
              </a:lnSpc>
              <a:spcBef>
                <a:spcPts val="0"/>
              </a:spcBef>
              <a:spcAft>
                <a:spcPts val="0"/>
              </a:spcAft>
              <a:buNone/>
            </a:pPr>
            <a:r>
              <a:t/>
            </a:r>
            <a:endParaRPr b="1" sz="2200"/>
          </a:p>
          <a:p>
            <a:pPr indent="0" lvl="0" marL="0" rtl="0" algn="ctr">
              <a:lnSpc>
                <a:spcPct val="115000"/>
              </a:lnSpc>
              <a:spcBef>
                <a:spcPts val="0"/>
              </a:spcBef>
              <a:spcAft>
                <a:spcPts val="0"/>
              </a:spcAft>
              <a:buNone/>
            </a:pPr>
            <a:r>
              <a:rPr b="1" lang="en" sz="2200"/>
              <a:t>Simple == easy to understand, less words, but may not get me to care.</a:t>
            </a:r>
            <a:endParaRPr b="1" sz="2200"/>
          </a:p>
          <a:p>
            <a:pPr indent="0" lvl="0" marL="0" rtl="0" algn="ctr">
              <a:lnSpc>
                <a:spcPct val="115000"/>
              </a:lnSpc>
              <a:spcBef>
                <a:spcPts val="0"/>
              </a:spcBef>
              <a:spcAft>
                <a:spcPts val="0"/>
              </a:spcAft>
              <a:buNone/>
            </a:pPr>
            <a:r>
              <a:t/>
            </a:r>
            <a:endParaRPr b="1" sz="2200"/>
          </a:p>
        </p:txBody>
      </p:sp>
      <p:sp>
        <p:nvSpPr>
          <p:cNvPr id="432" name="Google Shape;432;p65"/>
          <p:cNvSpPr txBox="1"/>
          <p:nvPr/>
        </p:nvSpPr>
        <p:spPr>
          <a:xfrm>
            <a:off x="0" y="4887209"/>
            <a:ext cx="9144000" cy="294000"/>
          </a:xfrm>
          <a:prstGeom prst="rect">
            <a:avLst/>
          </a:prstGeom>
          <a:noFill/>
          <a:ln>
            <a:noFill/>
          </a:ln>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sz="900">
                <a:solidFill>
                  <a:srgbClr val="B6B2B3"/>
                </a:solidFill>
                <a:latin typeface="Lato"/>
                <a:ea typeface="Lato"/>
                <a:cs typeface="Lato"/>
                <a:sym typeface="Lato"/>
              </a:rPr>
              <a:t>    8/36								            SHAANPURI.COM			 			       POWER WRITING COURSE</a:t>
            </a:r>
            <a:endParaRPr b="1" sz="900">
              <a:solidFill>
                <a:srgbClr val="B6B2B3"/>
              </a:solidFill>
              <a:latin typeface="Lato"/>
              <a:ea typeface="Lato"/>
              <a:cs typeface="Lato"/>
              <a:sym typeface="Lato"/>
            </a:endParaRPr>
          </a:p>
        </p:txBody>
      </p:sp>
      <p:sp>
        <p:nvSpPr>
          <p:cNvPr id="433" name="Google Shape;433;p65"/>
          <p:cNvSpPr txBox="1"/>
          <p:nvPr/>
        </p:nvSpPr>
        <p:spPr>
          <a:xfrm>
            <a:off x="376950" y="343500"/>
            <a:ext cx="80622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u="sng">
                <a:latin typeface="Proxima Nova"/>
                <a:ea typeface="Proxima Nova"/>
                <a:cs typeface="Proxima Nova"/>
                <a:sym typeface="Proxima Nova"/>
              </a:rPr>
              <a:t>MOST PEOPLE THINK THE GOAL IS TO GO FROM “COMPLICATED” TO “SIMPLE” </a:t>
            </a:r>
            <a:endParaRPr b="1" sz="2200" u="sng">
              <a:latin typeface="Proxima Nova"/>
              <a:ea typeface="Proxima Nova"/>
              <a:cs typeface="Proxima Nova"/>
              <a:sym typeface="Proxima Nova"/>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66"/>
          <p:cNvSpPr/>
          <p:nvPr/>
        </p:nvSpPr>
        <p:spPr>
          <a:xfrm>
            <a:off x="0" y="0"/>
            <a:ext cx="9144000" cy="5143500"/>
          </a:xfrm>
          <a:prstGeom prst="rect">
            <a:avLst/>
          </a:prstGeom>
          <a:solidFill>
            <a:srgbClr val="F7F1F1"/>
          </a:solidFill>
          <a:ln cap="flat" cmpd="sng" w="9525">
            <a:solidFill>
              <a:srgbClr val="F7F1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66"/>
          <p:cNvSpPr txBox="1"/>
          <p:nvPr/>
        </p:nvSpPr>
        <p:spPr>
          <a:xfrm>
            <a:off x="0" y="4887209"/>
            <a:ext cx="9144000" cy="294000"/>
          </a:xfrm>
          <a:prstGeom prst="rect">
            <a:avLst/>
          </a:prstGeom>
          <a:noFill/>
          <a:ln>
            <a:noFill/>
          </a:ln>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sz="900">
                <a:solidFill>
                  <a:srgbClr val="B6B2B3"/>
                </a:solidFill>
                <a:latin typeface="Lato"/>
                <a:ea typeface="Lato"/>
                <a:cs typeface="Lato"/>
                <a:sym typeface="Lato"/>
              </a:rPr>
              <a:t>    8/36								            SHAANPURI.COM			 			       POWER WRITING COURSE</a:t>
            </a:r>
            <a:endParaRPr b="1" sz="900">
              <a:solidFill>
                <a:srgbClr val="B6B2B3"/>
              </a:solidFill>
              <a:latin typeface="Lato"/>
              <a:ea typeface="Lato"/>
              <a:cs typeface="Lato"/>
              <a:sym typeface="Lato"/>
            </a:endParaRPr>
          </a:p>
        </p:txBody>
      </p:sp>
      <p:sp>
        <p:nvSpPr>
          <p:cNvPr id="440" name="Google Shape;440;p66"/>
          <p:cNvSpPr txBox="1"/>
          <p:nvPr/>
        </p:nvSpPr>
        <p:spPr>
          <a:xfrm>
            <a:off x="659750" y="989600"/>
            <a:ext cx="2929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441" name="Google Shape;441;p66"/>
          <p:cNvSpPr txBox="1"/>
          <p:nvPr/>
        </p:nvSpPr>
        <p:spPr>
          <a:xfrm>
            <a:off x="1405225" y="1728500"/>
            <a:ext cx="6914100" cy="1302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t/>
            </a:r>
            <a:endParaRPr b="1" sz="2200">
              <a:solidFill>
                <a:schemeClr val="dk1"/>
              </a:solidFill>
            </a:endParaRPr>
          </a:p>
          <a:p>
            <a:pPr indent="0" lvl="0" marL="0" rtl="0" algn="ctr">
              <a:lnSpc>
                <a:spcPct val="115000"/>
              </a:lnSpc>
              <a:spcBef>
                <a:spcPts val="0"/>
              </a:spcBef>
              <a:spcAft>
                <a:spcPts val="0"/>
              </a:spcAft>
              <a:buNone/>
            </a:pPr>
            <a:r>
              <a:rPr b="1" lang="en" sz="2200" u="sng">
                <a:solidFill>
                  <a:schemeClr val="dk1"/>
                </a:solidFill>
              </a:rPr>
              <a:t>Power</a:t>
            </a:r>
            <a:r>
              <a:rPr b="1" lang="en" sz="2200">
                <a:solidFill>
                  <a:schemeClr val="dk1"/>
                </a:solidFill>
              </a:rPr>
              <a:t> == is about getting people to “give a shit” </a:t>
            </a:r>
            <a:endParaRPr b="1" sz="2200">
              <a:solidFill>
                <a:schemeClr val="dk1"/>
              </a:solidFill>
            </a:endParaRPr>
          </a:p>
          <a:p>
            <a:pPr indent="0" lvl="0" marL="0" rtl="0" algn="ctr">
              <a:lnSpc>
                <a:spcPct val="115000"/>
              </a:lnSpc>
              <a:spcBef>
                <a:spcPts val="0"/>
              </a:spcBef>
              <a:spcAft>
                <a:spcPts val="0"/>
              </a:spcAft>
              <a:buNone/>
            </a:pPr>
            <a:r>
              <a:rPr b="1" lang="en" sz="2200">
                <a:solidFill>
                  <a:schemeClr val="dk1"/>
                </a:solidFill>
              </a:rPr>
              <a:t>About what your company does</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67"/>
          <p:cNvSpPr/>
          <p:nvPr/>
        </p:nvSpPr>
        <p:spPr>
          <a:xfrm>
            <a:off x="-118525" y="0"/>
            <a:ext cx="9392100" cy="5143500"/>
          </a:xfrm>
          <a:prstGeom prst="rect">
            <a:avLst/>
          </a:prstGeom>
          <a:solidFill>
            <a:srgbClr val="F7F1F1"/>
          </a:solidFill>
          <a:ln cap="flat" cmpd="sng" w="9525">
            <a:solidFill>
              <a:srgbClr val="F7F1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67"/>
          <p:cNvSpPr txBox="1"/>
          <p:nvPr>
            <p:ph type="ctrTitle"/>
          </p:nvPr>
        </p:nvSpPr>
        <p:spPr>
          <a:xfrm>
            <a:off x="1214450" y="328825"/>
            <a:ext cx="6974100" cy="32226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2200"/>
              <a:t>Secret to getting them to “give a shit”</a:t>
            </a:r>
            <a:endParaRPr b="1" sz="2200"/>
          </a:p>
        </p:txBody>
      </p:sp>
      <p:sp>
        <p:nvSpPr>
          <p:cNvPr id="448" name="Google Shape;448;p67"/>
          <p:cNvSpPr txBox="1"/>
          <p:nvPr/>
        </p:nvSpPr>
        <p:spPr>
          <a:xfrm>
            <a:off x="0" y="4887209"/>
            <a:ext cx="9144000" cy="294000"/>
          </a:xfrm>
          <a:prstGeom prst="rect">
            <a:avLst/>
          </a:prstGeom>
          <a:noFill/>
          <a:ln>
            <a:noFill/>
          </a:ln>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sz="900">
                <a:solidFill>
                  <a:srgbClr val="B6B2B3"/>
                </a:solidFill>
                <a:latin typeface="Lato"/>
                <a:ea typeface="Lato"/>
                <a:cs typeface="Lato"/>
                <a:sym typeface="Lato"/>
              </a:rPr>
              <a:t>    8/36								            SHAANPURI.COM			 			       POWER WRITING COURSE</a:t>
            </a:r>
            <a:endParaRPr b="1" sz="900">
              <a:solidFill>
                <a:srgbClr val="B6B2B3"/>
              </a:solidFill>
              <a:latin typeface="Lato"/>
              <a:ea typeface="Lato"/>
              <a:cs typeface="Lato"/>
              <a:sym typeface="Lato"/>
            </a:endParaRPr>
          </a:p>
        </p:txBody>
      </p:sp>
      <p:sp>
        <p:nvSpPr>
          <p:cNvPr id="449" name="Google Shape;449;p67"/>
          <p:cNvSpPr txBox="1"/>
          <p:nvPr>
            <p:ph type="ctrTitle"/>
          </p:nvPr>
        </p:nvSpPr>
        <p:spPr>
          <a:xfrm>
            <a:off x="1214450" y="1752500"/>
            <a:ext cx="6974100" cy="32226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2200"/>
              <a:t>They don’t give a shit about your company</a:t>
            </a:r>
            <a:endParaRPr b="1" sz="2200"/>
          </a:p>
          <a:p>
            <a:pPr indent="0" lvl="0" marL="0" rtl="0" algn="ctr">
              <a:lnSpc>
                <a:spcPct val="115000"/>
              </a:lnSpc>
              <a:spcBef>
                <a:spcPts val="0"/>
              </a:spcBef>
              <a:spcAft>
                <a:spcPts val="0"/>
              </a:spcAft>
              <a:buNone/>
            </a:pPr>
            <a:r>
              <a:rPr b="1" lang="en" sz="2200"/>
              <a:t>They give a shit about themselves.</a:t>
            </a:r>
            <a:endParaRPr b="1" sz="2200"/>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68"/>
          <p:cNvSpPr/>
          <p:nvPr/>
        </p:nvSpPr>
        <p:spPr>
          <a:xfrm>
            <a:off x="0" y="0"/>
            <a:ext cx="9144000" cy="5143500"/>
          </a:xfrm>
          <a:prstGeom prst="rect">
            <a:avLst/>
          </a:prstGeom>
          <a:solidFill>
            <a:srgbClr val="F7F1F1"/>
          </a:solidFill>
          <a:ln cap="flat" cmpd="sng" w="9525">
            <a:solidFill>
              <a:srgbClr val="F7F1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68"/>
          <p:cNvSpPr txBox="1"/>
          <p:nvPr>
            <p:ph type="ctrTitle"/>
          </p:nvPr>
        </p:nvSpPr>
        <p:spPr>
          <a:xfrm>
            <a:off x="3589525" y="104525"/>
            <a:ext cx="2546100" cy="6741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2200"/>
              <a:t>EXAMPLE</a:t>
            </a:r>
            <a:endParaRPr b="1" sz="2200"/>
          </a:p>
        </p:txBody>
      </p:sp>
      <p:sp>
        <p:nvSpPr>
          <p:cNvPr id="456" name="Google Shape;456;p68"/>
          <p:cNvSpPr txBox="1"/>
          <p:nvPr/>
        </p:nvSpPr>
        <p:spPr>
          <a:xfrm>
            <a:off x="0" y="4887209"/>
            <a:ext cx="9144000" cy="294000"/>
          </a:xfrm>
          <a:prstGeom prst="rect">
            <a:avLst/>
          </a:prstGeom>
          <a:noFill/>
          <a:ln>
            <a:noFill/>
          </a:ln>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sz="900">
                <a:solidFill>
                  <a:srgbClr val="B6B2B3"/>
                </a:solidFill>
                <a:latin typeface="Lato"/>
                <a:ea typeface="Lato"/>
                <a:cs typeface="Lato"/>
                <a:sym typeface="Lato"/>
              </a:rPr>
              <a:t>    8/36								            SHAANPURI.COM			 			       POWER WRITING COURSE</a:t>
            </a:r>
            <a:endParaRPr b="1" sz="900">
              <a:solidFill>
                <a:srgbClr val="B6B2B3"/>
              </a:solidFill>
              <a:latin typeface="Lato"/>
              <a:ea typeface="Lato"/>
              <a:cs typeface="Lato"/>
              <a:sym typeface="Lato"/>
            </a:endParaRPr>
          </a:p>
        </p:txBody>
      </p:sp>
      <p:sp>
        <p:nvSpPr>
          <p:cNvPr id="457" name="Google Shape;457;p68"/>
          <p:cNvSpPr txBox="1"/>
          <p:nvPr>
            <p:ph type="ctrTitle"/>
          </p:nvPr>
        </p:nvSpPr>
        <p:spPr>
          <a:xfrm>
            <a:off x="918225" y="1220175"/>
            <a:ext cx="7777200" cy="6741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2200"/>
              <a:t>“Learn the fundamental techniques and psychology of effective power writing” </a:t>
            </a:r>
            <a:endParaRPr sz="2200"/>
          </a:p>
        </p:txBody>
      </p:sp>
      <p:sp>
        <p:nvSpPr>
          <p:cNvPr id="458" name="Google Shape;458;p68"/>
          <p:cNvSpPr txBox="1"/>
          <p:nvPr>
            <p:ph type="ctrTitle"/>
          </p:nvPr>
        </p:nvSpPr>
        <p:spPr>
          <a:xfrm>
            <a:off x="947375" y="2389275"/>
            <a:ext cx="7777200" cy="6741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2200"/>
              <a:t>“A writing course”</a:t>
            </a:r>
            <a:endParaRPr sz="2200"/>
          </a:p>
        </p:txBody>
      </p:sp>
      <p:sp>
        <p:nvSpPr>
          <p:cNvPr id="459" name="Google Shape;459;p68"/>
          <p:cNvSpPr txBox="1"/>
          <p:nvPr>
            <p:ph type="ctrTitle"/>
          </p:nvPr>
        </p:nvSpPr>
        <p:spPr>
          <a:xfrm>
            <a:off x="973975" y="3711325"/>
            <a:ext cx="7777200" cy="6741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2200"/>
              <a:t>Most people have ideas in their head, but </a:t>
            </a:r>
            <a:r>
              <a:rPr lang="en" sz="2200"/>
              <a:t>feel</a:t>
            </a:r>
            <a:r>
              <a:rPr lang="en" sz="2200"/>
              <a:t> stressed trying to write them out clearly. This is a 10 day crash course in business writing. So your writing turns into a lean mean crisp writing machine. </a:t>
            </a:r>
            <a:endParaRPr sz="2200"/>
          </a:p>
        </p:txBody>
      </p:sp>
      <p:cxnSp>
        <p:nvCxnSpPr>
          <p:cNvPr id="460" name="Google Shape;460;p68"/>
          <p:cNvCxnSpPr/>
          <p:nvPr/>
        </p:nvCxnSpPr>
        <p:spPr>
          <a:xfrm flipH="1" rot="10800000">
            <a:off x="475025" y="2243100"/>
            <a:ext cx="8721900" cy="39600"/>
          </a:xfrm>
          <a:prstGeom prst="straightConnector1">
            <a:avLst/>
          </a:prstGeom>
          <a:noFill/>
          <a:ln cap="flat" cmpd="sng" w="9525">
            <a:solidFill>
              <a:schemeClr val="dk2"/>
            </a:solidFill>
            <a:prstDash val="solid"/>
            <a:round/>
            <a:headEnd len="med" w="med" type="none"/>
            <a:tailEnd len="med" w="med" type="none"/>
          </a:ln>
        </p:spPr>
      </p:cxnSp>
      <p:cxnSp>
        <p:nvCxnSpPr>
          <p:cNvPr id="461" name="Google Shape;461;p68"/>
          <p:cNvCxnSpPr/>
          <p:nvPr/>
        </p:nvCxnSpPr>
        <p:spPr>
          <a:xfrm flipH="1" rot="10800000">
            <a:off x="501625" y="3169975"/>
            <a:ext cx="8721900" cy="396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69"/>
          <p:cNvSpPr/>
          <p:nvPr/>
        </p:nvSpPr>
        <p:spPr>
          <a:xfrm>
            <a:off x="0" y="0"/>
            <a:ext cx="9144000" cy="5143500"/>
          </a:xfrm>
          <a:prstGeom prst="rect">
            <a:avLst/>
          </a:prstGeom>
          <a:solidFill>
            <a:srgbClr val="F7F1F1"/>
          </a:solidFill>
          <a:ln cap="flat" cmpd="sng" w="9525">
            <a:solidFill>
              <a:srgbClr val="F7F1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69"/>
          <p:cNvSpPr txBox="1"/>
          <p:nvPr>
            <p:ph type="ctrTitle"/>
          </p:nvPr>
        </p:nvSpPr>
        <p:spPr>
          <a:xfrm>
            <a:off x="2770900" y="51075"/>
            <a:ext cx="3773700" cy="6741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2200"/>
              <a:t>2 millimeter shifts.</a:t>
            </a:r>
            <a:endParaRPr b="1" sz="2200"/>
          </a:p>
        </p:txBody>
      </p:sp>
      <p:sp>
        <p:nvSpPr>
          <p:cNvPr id="468" name="Google Shape;468;p69"/>
          <p:cNvSpPr txBox="1"/>
          <p:nvPr/>
        </p:nvSpPr>
        <p:spPr>
          <a:xfrm>
            <a:off x="0" y="4887209"/>
            <a:ext cx="9144000" cy="294000"/>
          </a:xfrm>
          <a:prstGeom prst="rect">
            <a:avLst/>
          </a:prstGeom>
          <a:noFill/>
          <a:ln>
            <a:noFill/>
          </a:ln>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sz="900">
                <a:solidFill>
                  <a:srgbClr val="B6B2B3"/>
                </a:solidFill>
                <a:latin typeface="Lato"/>
                <a:ea typeface="Lato"/>
                <a:cs typeface="Lato"/>
                <a:sym typeface="Lato"/>
              </a:rPr>
              <a:t>    8/36								            SHAANPURI.COM			 			       POWER WRITING COURSE</a:t>
            </a:r>
            <a:endParaRPr b="1" sz="900">
              <a:solidFill>
                <a:srgbClr val="B6B2B3"/>
              </a:solidFill>
              <a:latin typeface="Lato"/>
              <a:ea typeface="Lato"/>
              <a:cs typeface="Lato"/>
              <a:sym typeface="Lato"/>
            </a:endParaRPr>
          </a:p>
        </p:txBody>
      </p:sp>
      <p:sp>
        <p:nvSpPr>
          <p:cNvPr id="469" name="Google Shape;469;p69"/>
          <p:cNvSpPr txBox="1"/>
          <p:nvPr>
            <p:ph type="ctrTitle"/>
          </p:nvPr>
        </p:nvSpPr>
        <p:spPr>
          <a:xfrm>
            <a:off x="918225" y="1220175"/>
            <a:ext cx="7777200" cy="6741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2200"/>
              <a:t>Change the focus from “your company” to “the customer”</a:t>
            </a:r>
            <a:endParaRPr sz="2200"/>
          </a:p>
        </p:txBody>
      </p:sp>
      <p:sp>
        <p:nvSpPr>
          <p:cNvPr id="470" name="Google Shape;470;p69"/>
          <p:cNvSpPr txBox="1"/>
          <p:nvPr>
            <p:ph type="ctrTitle"/>
          </p:nvPr>
        </p:nvSpPr>
        <p:spPr>
          <a:xfrm>
            <a:off x="947375" y="2389275"/>
            <a:ext cx="7777200" cy="6741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2200"/>
              <a:t>“Describe their problem, then your solution”</a:t>
            </a:r>
            <a:endParaRPr sz="2200"/>
          </a:p>
        </p:txBody>
      </p:sp>
      <p:sp>
        <p:nvSpPr>
          <p:cNvPr id="471" name="Google Shape;471;p69"/>
          <p:cNvSpPr txBox="1"/>
          <p:nvPr>
            <p:ph type="ctrTitle"/>
          </p:nvPr>
        </p:nvSpPr>
        <p:spPr>
          <a:xfrm>
            <a:off x="769150" y="3638225"/>
            <a:ext cx="7777200" cy="6741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2200"/>
              <a:t>“Cut out all the fancy, industry words” (would your mom</a:t>
            </a:r>
            <a:endParaRPr sz="2200"/>
          </a:p>
          <a:p>
            <a:pPr indent="0" lvl="0" marL="0" rtl="0" algn="l">
              <a:lnSpc>
                <a:spcPct val="115000"/>
              </a:lnSpc>
              <a:spcBef>
                <a:spcPts val="0"/>
              </a:spcBef>
              <a:spcAft>
                <a:spcPts val="0"/>
              </a:spcAft>
              <a:buNone/>
            </a:pPr>
            <a:r>
              <a:rPr lang="en" sz="2200"/>
              <a:t>Understand this??</a:t>
            </a:r>
            <a:endParaRPr sz="2200"/>
          </a:p>
        </p:txBody>
      </p:sp>
      <p:cxnSp>
        <p:nvCxnSpPr>
          <p:cNvPr id="472" name="Google Shape;472;p69"/>
          <p:cNvCxnSpPr/>
          <p:nvPr/>
        </p:nvCxnSpPr>
        <p:spPr>
          <a:xfrm flipH="1" rot="10800000">
            <a:off x="475025" y="2243100"/>
            <a:ext cx="8721900" cy="39600"/>
          </a:xfrm>
          <a:prstGeom prst="straightConnector1">
            <a:avLst/>
          </a:prstGeom>
          <a:noFill/>
          <a:ln cap="flat" cmpd="sng" w="9525">
            <a:solidFill>
              <a:schemeClr val="dk2"/>
            </a:solidFill>
            <a:prstDash val="solid"/>
            <a:round/>
            <a:headEnd len="med" w="med" type="none"/>
            <a:tailEnd len="med" w="med" type="none"/>
          </a:ln>
        </p:spPr>
      </p:cxnSp>
      <p:cxnSp>
        <p:nvCxnSpPr>
          <p:cNvPr id="473" name="Google Shape;473;p69"/>
          <p:cNvCxnSpPr/>
          <p:nvPr/>
        </p:nvCxnSpPr>
        <p:spPr>
          <a:xfrm flipH="1" rot="10800000">
            <a:off x="501625" y="3169975"/>
            <a:ext cx="8721900" cy="396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0"/>
          <p:cNvSpPr/>
          <p:nvPr/>
        </p:nvSpPr>
        <p:spPr>
          <a:xfrm>
            <a:off x="-39500" y="0"/>
            <a:ext cx="9312900" cy="5143500"/>
          </a:xfrm>
          <a:prstGeom prst="rect">
            <a:avLst/>
          </a:prstGeom>
          <a:solidFill>
            <a:srgbClr val="F7F1F1"/>
          </a:solidFill>
          <a:ln cap="flat" cmpd="sng" w="9525">
            <a:solidFill>
              <a:srgbClr val="F7F1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70"/>
          <p:cNvSpPr txBox="1"/>
          <p:nvPr/>
        </p:nvSpPr>
        <p:spPr>
          <a:xfrm>
            <a:off x="0" y="4887209"/>
            <a:ext cx="9144000" cy="294000"/>
          </a:xfrm>
          <a:prstGeom prst="rect">
            <a:avLst/>
          </a:prstGeom>
          <a:noFill/>
          <a:ln>
            <a:noFill/>
          </a:ln>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sz="900">
                <a:solidFill>
                  <a:srgbClr val="B6B2B3"/>
                </a:solidFill>
                <a:latin typeface="Lato"/>
                <a:ea typeface="Lato"/>
                <a:cs typeface="Lato"/>
                <a:sym typeface="Lato"/>
              </a:rPr>
              <a:t>    8/36								            SHAANPURI.COM			 			       POWER WRITING COURSE</a:t>
            </a:r>
            <a:endParaRPr b="1" sz="900">
              <a:solidFill>
                <a:srgbClr val="B6B2B3"/>
              </a:solidFill>
              <a:latin typeface="Lato"/>
              <a:ea typeface="Lato"/>
              <a:cs typeface="Lato"/>
              <a:sym typeface="Lato"/>
            </a:endParaRPr>
          </a:p>
        </p:txBody>
      </p:sp>
      <p:pic>
        <p:nvPicPr>
          <p:cNvPr id="480" name="Google Shape;480;p70"/>
          <p:cNvPicPr preferRelativeResize="0"/>
          <p:nvPr/>
        </p:nvPicPr>
        <p:blipFill>
          <a:blip r:embed="rId3">
            <a:alphaModFix/>
          </a:blip>
          <a:stretch>
            <a:fillRect/>
          </a:stretch>
        </p:blipFill>
        <p:spPr>
          <a:xfrm>
            <a:off x="501425" y="1889426"/>
            <a:ext cx="5896151" cy="2493201"/>
          </a:xfrm>
          <a:prstGeom prst="rect">
            <a:avLst/>
          </a:prstGeom>
          <a:noFill/>
          <a:ln>
            <a:noFill/>
          </a:ln>
        </p:spPr>
      </p:pic>
      <p:sp>
        <p:nvSpPr>
          <p:cNvPr id="481" name="Google Shape;481;p70"/>
          <p:cNvSpPr txBox="1"/>
          <p:nvPr/>
        </p:nvSpPr>
        <p:spPr>
          <a:xfrm>
            <a:off x="659750" y="989600"/>
            <a:ext cx="2929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482" name="Google Shape;482;p70"/>
          <p:cNvSpPr txBox="1"/>
          <p:nvPr/>
        </p:nvSpPr>
        <p:spPr>
          <a:xfrm>
            <a:off x="1751475" y="928100"/>
            <a:ext cx="3000000" cy="523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2200">
                <a:solidFill>
                  <a:schemeClr val="dk1"/>
                </a:solidFill>
              </a:rPr>
              <a:t>Complicated</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71"/>
          <p:cNvSpPr/>
          <p:nvPr/>
        </p:nvSpPr>
        <p:spPr>
          <a:xfrm>
            <a:off x="-39500" y="0"/>
            <a:ext cx="9312900" cy="5143500"/>
          </a:xfrm>
          <a:prstGeom prst="rect">
            <a:avLst/>
          </a:prstGeom>
          <a:solidFill>
            <a:srgbClr val="F7F1F1"/>
          </a:solidFill>
          <a:ln cap="flat" cmpd="sng" w="9525">
            <a:solidFill>
              <a:srgbClr val="F7F1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71"/>
          <p:cNvSpPr txBox="1"/>
          <p:nvPr/>
        </p:nvSpPr>
        <p:spPr>
          <a:xfrm>
            <a:off x="0" y="4887209"/>
            <a:ext cx="9144000" cy="294000"/>
          </a:xfrm>
          <a:prstGeom prst="rect">
            <a:avLst/>
          </a:prstGeom>
          <a:noFill/>
          <a:ln>
            <a:noFill/>
          </a:ln>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sz="900">
                <a:solidFill>
                  <a:srgbClr val="B6B2B3"/>
                </a:solidFill>
                <a:latin typeface="Lato"/>
                <a:ea typeface="Lato"/>
                <a:cs typeface="Lato"/>
                <a:sym typeface="Lato"/>
              </a:rPr>
              <a:t>    8/36								            SHAANPURI.COM			 			       POWER WRITING COURSE</a:t>
            </a:r>
            <a:endParaRPr b="1" sz="900">
              <a:solidFill>
                <a:srgbClr val="B6B2B3"/>
              </a:solidFill>
              <a:latin typeface="Lato"/>
              <a:ea typeface="Lato"/>
              <a:cs typeface="Lato"/>
              <a:sym typeface="Lato"/>
            </a:endParaRPr>
          </a:p>
        </p:txBody>
      </p:sp>
      <p:pic>
        <p:nvPicPr>
          <p:cNvPr id="489" name="Google Shape;489;p71"/>
          <p:cNvPicPr preferRelativeResize="0"/>
          <p:nvPr/>
        </p:nvPicPr>
        <p:blipFill>
          <a:blip r:embed="rId3">
            <a:alphaModFix/>
          </a:blip>
          <a:stretch>
            <a:fillRect/>
          </a:stretch>
        </p:blipFill>
        <p:spPr>
          <a:xfrm>
            <a:off x="501425" y="1889423"/>
            <a:ext cx="3227259" cy="1364649"/>
          </a:xfrm>
          <a:prstGeom prst="rect">
            <a:avLst/>
          </a:prstGeom>
          <a:noFill/>
          <a:ln>
            <a:noFill/>
          </a:ln>
        </p:spPr>
      </p:pic>
      <p:sp>
        <p:nvSpPr>
          <p:cNvPr id="490" name="Google Shape;490;p71"/>
          <p:cNvSpPr txBox="1"/>
          <p:nvPr/>
        </p:nvSpPr>
        <p:spPr>
          <a:xfrm>
            <a:off x="659750" y="989600"/>
            <a:ext cx="2929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491" name="Google Shape;491;p71"/>
          <p:cNvSpPr txBox="1"/>
          <p:nvPr/>
        </p:nvSpPr>
        <p:spPr>
          <a:xfrm>
            <a:off x="728675" y="928100"/>
            <a:ext cx="3000000" cy="523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2200">
                <a:solidFill>
                  <a:schemeClr val="dk1"/>
                </a:solidFill>
              </a:rPr>
              <a:t>Complicated</a:t>
            </a:r>
            <a:endParaRPr/>
          </a:p>
        </p:txBody>
      </p:sp>
      <p:sp>
        <p:nvSpPr>
          <p:cNvPr id="492" name="Google Shape;492;p71"/>
          <p:cNvSpPr txBox="1"/>
          <p:nvPr/>
        </p:nvSpPr>
        <p:spPr>
          <a:xfrm>
            <a:off x="5433275" y="989600"/>
            <a:ext cx="3000000" cy="523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2200">
                <a:solidFill>
                  <a:schemeClr val="dk1"/>
                </a:solidFill>
              </a:rPr>
              <a:t>powerful</a:t>
            </a:r>
            <a:endParaRPr/>
          </a:p>
        </p:txBody>
      </p:sp>
      <p:pic>
        <p:nvPicPr>
          <p:cNvPr id="493" name="Google Shape;493;p71"/>
          <p:cNvPicPr preferRelativeResize="0"/>
          <p:nvPr/>
        </p:nvPicPr>
        <p:blipFill>
          <a:blip r:embed="rId4">
            <a:alphaModFix/>
          </a:blip>
          <a:stretch>
            <a:fillRect/>
          </a:stretch>
        </p:blipFill>
        <p:spPr>
          <a:xfrm>
            <a:off x="4924375" y="1682551"/>
            <a:ext cx="4017799" cy="167460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72"/>
          <p:cNvSpPr/>
          <p:nvPr/>
        </p:nvSpPr>
        <p:spPr>
          <a:xfrm>
            <a:off x="0" y="0"/>
            <a:ext cx="9144000" cy="5143500"/>
          </a:xfrm>
          <a:prstGeom prst="rect">
            <a:avLst/>
          </a:prstGeom>
          <a:solidFill>
            <a:srgbClr val="1F8FFF"/>
          </a:solidFill>
          <a:ln cap="flat" cmpd="sng" w="9525">
            <a:solidFill>
              <a:srgbClr val="1F8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t>
            </a:r>
            <a:endParaRPr/>
          </a:p>
        </p:txBody>
      </p:sp>
      <p:sp>
        <p:nvSpPr>
          <p:cNvPr id="499" name="Google Shape;499;p72"/>
          <p:cNvSpPr txBox="1"/>
          <p:nvPr>
            <p:ph type="ctrTitle"/>
          </p:nvPr>
        </p:nvSpPr>
        <p:spPr>
          <a:xfrm>
            <a:off x="1214450" y="960450"/>
            <a:ext cx="6974100" cy="32226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3900">
                <a:solidFill>
                  <a:schemeClr val="lt1"/>
                </a:solidFill>
              </a:rPr>
              <a:t>Let’s try again.</a:t>
            </a:r>
            <a:endParaRPr b="1" sz="3900">
              <a:solidFill>
                <a:schemeClr val="lt1"/>
              </a:solidFill>
            </a:endParaRPr>
          </a:p>
        </p:txBody>
      </p:sp>
      <p:sp>
        <p:nvSpPr>
          <p:cNvPr id="500" name="Google Shape;500;p72"/>
          <p:cNvSpPr txBox="1"/>
          <p:nvPr/>
        </p:nvSpPr>
        <p:spPr>
          <a:xfrm>
            <a:off x="0" y="4887209"/>
            <a:ext cx="9144000" cy="294000"/>
          </a:xfrm>
          <a:prstGeom prst="rect">
            <a:avLst/>
          </a:prstGeom>
          <a:noFill/>
          <a:ln>
            <a:noFill/>
          </a:ln>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sz="900">
                <a:solidFill>
                  <a:srgbClr val="B6B2B3"/>
                </a:solidFill>
                <a:latin typeface="Lato"/>
                <a:ea typeface="Lato"/>
                <a:cs typeface="Lato"/>
                <a:sym typeface="Lato"/>
              </a:rPr>
              <a:t>    8/36								            SHAANPURI.COM			 			       POWER WRITING COURSE</a:t>
            </a:r>
            <a:endParaRPr b="1" sz="900">
              <a:solidFill>
                <a:srgbClr val="B6B2B3"/>
              </a:solidFill>
              <a:latin typeface="Lato"/>
              <a:ea typeface="Lato"/>
              <a:cs typeface="Lato"/>
              <a:sym typeface="Lato"/>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73"/>
          <p:cNvSpPr/>
          <p:nvPr/>
        </p:nvSpPr>
        <p:spPr>
          <a:xfrm>
            <a:off x="0" y="0"/>
            <a:ext cx="9144000" cy="5143500"/>
          </a:xfrm>
          <a:prstGeom prst="rect">
            <a:avLst/>
          </a:prstGeom>
          <a:solidFill>
            <a:srgbClr val="F7F1F1"/>
          </a:solidFill>
          <a:ln cap="flat" cmpd="sng" w="9525">
            <a:solidFill>
              <a:srgbClr val="F7F1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73"/>
          <p:cNvSpPr txBox="1"/>
          <p:nvPr>
            <p:ph type="ctrTitle"/>
          </p:nvPr>
        </p:nvSpPr>
        <p:spPr>
          <a:xfrm>
            <a:off x="311700" y="-552200"/>
            <a:ext cx="8520600" cy="1962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2800">
                <a:latin typeface="Lato"/>
                <a:ea typeface="Lato"/>
                <a:cs typeface="Lato"/>
                <a:sym typeface="Lato"/>
              </a:rPr>
              <a:t>notes:</a:t>
            </a:r>
            <a:endParaRPr sz="2800">
              <a:latin typeface="Lato"/>
              <a:ea typeface="Lato"/>
              <a:cs typeface="Lato"/>
              <a:sym typeface="Lato"/>
            </a:endParaRPr>
          </a:p>
        </p:txBody>
      </p:sp>
      <p:sp>
        <p:nvSpPr>
          <p:cNvPr id="507" name="Google Shape;507;p73"/>
          <p:cNvSpPr txBox="1"/>
          <p:nvPr/>
        </p:nvSpPr>
        <p:spPr>
          <a:xfrm>
            <a:off x="0" y="4887209"/>
            <a:ext cx="9144000" cy="294000"/>
          </a:xfrm>
          <a:prstGeom prst="rect">
            <a:avLst/>
          </a:prstGeom>
          <a:noFill/>
          <a:ln>
            <a:noFill/>
          </a:ln>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sz="900">
                <a:solidFill>
                  <a:srgbClr val="B6B2B3"/>
                </a:solidFill>
                <a:latin typeface="Lato"/>
                <a:ea typeface="Lato"/>
                <a:cs typeface="Lato"/>
                <a:sym typeface="Lato"/>
              </a:rPr>
              <a:t>    2/36								            SHAANPURI.COM			 			       POWER WRITING COURSE</a:t>
            </a:r>
            <a:endParaRPr b="1" sz="900">
              <a:solidFill>
                <a:srgbClr val="B6B2B3"/>
              </a:solidFill>
              <a:latin typeface="Lato"/>
              <a:ea typeface="Lato"/>
              <a:cs typeface="Lato"/>
              <a:sym typeface="Lato"/>
            </a:endParaRPr>
          </a:p>
        </p:txBody>
      </p:sp>
      <p:sp>
        <p:nvSpPr>
          <p:cNvPr id="508" name="Google Shape;508;p73"/>
          <p:cNvSpPr txBox="1"/>
          <p:nvPr/>
        </p:nvSpPr>
        <p:spPr>
          <a:xfrm>
            <a:off x="126275" y="883925"/>
            <a:ext cx="4103400" cy="895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t/>
            </a:r>
            <a:endParaRPr/>
          </a:p>
        </p:txBody>
      </p:sp>
      <p:sp>
        <p:nvSpPr>
          <p:cNvPr id="509" name="Google Shape;509;p73"/>
          <p:cNvSpPr txBox="1"/>
          <p:nvPr/>
        </p:nvSpPr>
        <p:spPr>
          <a:xfrm>
            <a:off x="5040600" y="823150"/>
            <a:ext cx="41034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74"/>
          <p:cNvSpPr/>
          <p:nvPr/>
        </p:nvSpPr>
        <p:spPr>
          <a:xfrm>
            <a:off x="0" y="0"/>
            <a:ext cx="9144000" cy="5143500"/>
          </a:xfrm>
          <a:prstGeom prst="rect">
            <a:avLst/>
          </a:prstGeom>
          <a:solidFill>
            <a:srgbClr val="F7F1F1"/>
          </a:solidFill>
          <a:ln cap="flat" cmpd="sng" w="9525">
            <a:solidFill>
              <a:srgbClr val="F7F1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74"/>
          <p:cNvSpPr txBox="1"/>
          <p:nvPr>
            <p:ph type="ctrTitle"/>
          </p:nvPr>
        </p:nvSpPr>
        <p:spPr>
          <a:xfrm>
            <a:off x="311700" y="-552200"/>
            <a:ext cx="8520600" cy="1962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2800">
                <a:latin typeface="Lato"/>
                <a:ea typeface="Lato"/>
                <a:cs typeface="Lato"/>
                <a:sym typeface="Lato"/>
              </a:rPr>
              <a:t>notes:</a:t>
            </a:r>
            <a:endParaRPr sz="2800">
              <a:latin typeface="Lato"/>
              <a:ea typeface="Lato"/>
              <a:cs typeface="Lato"/>
              <a:sym typeface="Lato"/>
            </a:endParaRPr>
          </a:p>
        </p:txBody>
      </p:sp>
      <p:sp>
        <p:nvSpPr>
          <p:cNvPr id="516" name="Google Shape;516;p74"/>
          <p:cNvSpPr txBox="1"/>
          <p:nvPr/>
        </p:nvSpPr>
        <p:spPr>
          <a:xfrm>
            <a:off x="0" y="4887209"/>
            <a:ext cx="9144000" cy="294000"/>
          </a:xfrm>
          <a:prstGeom prst="rect">
            <a:avLst/>
          </a:prstGeom>
          <a:noFill/>
          <a:ln>
            <a:noFill/>
          </a:ln>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sz="900">
                <a:solidFill>
                  <a:srgbClr val="B6B2B3"/>
                </a:solidFill>
                <a:latin typeface="Lato"/>
                <a:ea typeface="Lato"/>
                <a:cs typeface="Lato"/>
                <a:sym typeface="Lato"/>
              </a:rPr>
              <a:t>    2/36								            SHAANPURI.COM			 			       POWER WRITING COURSE</a:t>
            </a:r>
            <a:endParaRPr b="1" sz="900">
              <a:solidFill>
                <a:srgbClr val="B6B2B3"/>
              </a:solidFill>
              <a:latin typeface="Lato"/>
              <a:ea typeface="Lato"/>
              <a:cs typeface="Lato"/>
              <a:sym typeface="Lato"/>
            </a:endParaRPr>
          </a:p>
        </p:txBody>
      </p:sp>
      <p:sp>
        <p:nvSpPr>
          <p:cNvPr id="517" name="Google Shape;517;p74"/>
          <p:cNvSpPr txBox="1"/>
          <p:nvPr/>
        </p:nvSpPr>
        <p:spPr>
          <a:xfrm>
            <a:off x="4744100" y="910875"/>
            <a:ext cx="43392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75"/>
          <p:cNvSpPr/>
          <p:nvPr/>
        </p:nvSpPr>
        <p:spPr>
          <a:xfrm>
            <a:off x="0" y="0"/>
            <a:ext cx="9144000" cy="5143500"/>
          </a:xfrm>
          <a:prstGeom prst="rect">
            <a:avLst/>
          </a:prstGeom>
          <a:solidFill>
            <a:srgbClr val="F7F1F1"/>
          </a:solidFill>
          <a:ln cap="flat" cmpd="sng" w="9525">
            <a:solidFill>
              <a:srgbClr val="F7F1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75"/>
          <p:cNvSpPr txBox="1"/>
          <p:nvPr>
            <p:ph type="ctrTitle"/>
          </p:nvPr>
        </p:nvSpPr>
        <p:spPr>
          <a:xfrm>
            <a:off x="465000" y="442475"/>
            <a:ext cx="8214000" cy="4170300"/>
          </a:xfrm>
          <a:prstGeom prst="rect">
            <a:avLst/>
          </a:prstGeom>
        </p:spPr>
        <p:txBody>
          <a:bodyPr anchorCtr="0" anchor="ctr" bIns="91425" lIns="91425" spcFirstLastPara="1" rIns="91425" wrap="square" tIns="91425">
            <a:normAutofit fontScale="90000"/>
          </a:bodyPr>
          <a:lstStyle/>
          <a:p>
            <a:pPr indent="0" lvl="0" marL="0" rtl="0" algn="ctr">
              <a:lnSpc>
                <a:spcPct val="115000"/>
              </a:lnSpc>
              <a:spcBef>
                <a:spcPts val="0"/>
              </a:spcBef>
              <a:spcAft>
                <a:spcPts val="0"/>
              </a:spcAft>
              <a:buNone/>
            </a:pPr>
            <a:r>
              <a:rPr lang="en" sz="3200">
                <a:latin typeface="Lato"/>
                <a:ea typeface="Lato"/>
                <a:cs typeface="Lato"/>
                <a:sym typeface="Lato"/>
              </a:rPr>
              <a:t>Most people struggle to find the</a:t>
            </a:r>
            <a:r>
              <a:rPr lang="en" sz="3200">
                <a:highlight>
                  <a:schemeClr val="lt1"/>
                </a:highlight>
                <a:latin typeface="Lato"/>
                <a:ea typeface="Lato"/>
                <a:cs typeface="Lato"/>
                <a:sym typeface="Lato"/>
              </a:rPr>
              <a:t> </a:t>
            </a:r>
            <a:r>
              <a:rPr lang="en" sz="3200">
                <a:solidFill>
                  <a:srgbClr val="0066DE"/>
                </a:solidFill>
                <a:highlight>
                  <a:schemeClr val="lt1"/>
                </a:highlight>
                <a:latin typeface="Lato"/>
                <a:ea typeface="Lato"/>
                <a:cs typeface="Lato"/>
                <a:sym typeface="Lato"/>
              </a:rPr>
              <a:t>right words</a:t>
            </a:r>
            <a:r>
              <a:rPr lang="en" sz="3200">
                <a:latin typeface="Lato"/>
                <a:ea typeface="Lato"/>
                <a:cs typeface="Lato"/>
                <a:sym typeface="Lato"/>
              </a:rPr>
              <a:t> </a:t>
            </a:r>
            <a:endParaRPr sz="3200">
              <a:latin typeface="Lato"/>
              <a:ea typeface="Lato"/>
              <a:cs typeface="Lato"/>
              <a:sym typeface="Lato"/>
            </a:endParaRPr>
          </a:p>
          <a:p>
            <a:pPr indent="0" lvl="0" marL="0" rtl="0" algn="ctr">
              <a:lnSpc>
                <a:spcPct val="115000"/>
              </a:lnSpc>
              <a:spcBef>
                <a:spcPts val="0"/>
              </a:spcBef>
              <a:spcAft>
                <a:spcPts val="0"/>
              </a:spcAft>
              <a:buNone/>
            </a:pPr>
            <a:r>
              <a:t/>
            </a:r>
            <a:endParaRPr sz="3200">
              <a:latin typeface="Lato"/>
              <a:ea typeface="Lato"/>
              <a:cs typeface="Lato"/>
              <a:sym typeface="Lato"/>
            </a:endParaRPr>
          </a:p>
          <a:p>
            <a:pPr indent="0" lvl="0" marL="0" rtl="0" algn="ctr">
              <a:lnSpc>
                <a:spcPct val="115000"/>
              </a:lnSpc>
              <a:spcBef>
                <a:spcPts val="0"/>
              </a:spcBef>
              <a:spcAft>
                <a:spcPts val="0"/>
              </a:spcAft>
              <a:buNone/>
            </a:pPr>
            <a:r>
              <a:rPr lang="en" sz="3200">
                <a:latin typeface="Lato"/>
                <a:ea typeface="Lato"/>
                <a:cs typeface="Lato"/>
                <a:sym typeface="Lato"/>
              </a:rPr>
              <a:t>that’s why we use a </a:t>
            </a:r>
            <a:r>
              <a:rPr b="1" lang="en" sz="3200">
                <a:highlight>
                  <a:srgbClr val="B6D7A8"/>
                </a:highlight>
                <a:latin typeface="Lato"/>
                <a:ea typeface="Lato"/>
                <a:cs typeface="Lato"/>
                <a:sym typeface="Lato"/>
              </a:rPr>
              <a:t>simple 3 step framework</a:t>
            </a:r>
            <a:r>
              <a:rPr lang="en" sz="3200">
                <a:highlight>
                  <a:srgbClr val="B6D7A8"/>
                </a:highlight>
                <a:latin typeface="Lato"/>
                <a:ea typeface="Lato"/>
                <a:cs typeface="Lato"/>
                <a:sym typeface="Lato"/>
              </a:rPr>
              <a:t>.</a:t>
            </a:r>
            <a:endParaRPr sz="3200">
              <a:highlight>
                <a:srgbClr val="B6D7A8"/>
              </a:highlight>
              <a:latin typeface="Lato"/>
              <a:ea typeface="Lato"/>
              <a:cs typeface="Lato"/>
              <a:sym typeface="Lato"/>
            </a:endParaRPr>
          </a:p>
          <a:p>
            <a:pPr indent="0" lvl="0" marL="0" rtl="0" algn="ctr">
              <a:lnSpc>
                <a:spcPct val="115000"/>
              </a:lnSpc>
              <a:spcBef>
                <a:spcPts val="0"/>
              </a:spcBef>
              <a:spcAft>
                <a:spcPts val="0"/>
              </a:spcAft>
              <a:buNone/>
            </a:pPr>
            <a:r>
              <a:t/>
            </a:r>
            <a:endParaRPr sz="3200">
              <a:latin typeface="Lato"/>
              <a:ea typeface="Lato"/>
              <a:cs typeface="Lato"/>
              <a:sym typeface="Lato"/>
            </a:endParaRPr>
          </a:p>
          <a:p>
            <a:pPr indent="0" lvl="0" marL="0" rtl="0" algn="ctr">
              <a:lnSpc>
                <a:spcPct val="115000"/>
              </a:lnSpc>
              <a:spcBef>
                <a:spcPts val="0"/>
              </a:spcBef>
              <a:spcAft>
                <a:spcPts val="0"/>
              </a:spcAft>
              <a:buNone/>
            </a:pPr>
            <a:r>
              <a:rPr lang="en" sz="3200">
                <a:latin typeface="Lato"/>
                <a:ea typeface="Lato"/>
                <a:cs typeface="Lato"/>
                <a:sym typeface="Lato"/>
              </a:rPr>
              <a:t>So you </a:t>
            </a:r>
            <a:r>
              <a:rPr lang="en" sz="3200">
                <a:highlight>
                  <a:srgbClr val="6FA8DC"/>
                </a:highlight>
                <a:latin typeface="Lato"/>
                <a:ea typeface="Lato"/>
                <a:cs typeface="Lato"/>
                <a:sym typeface="Lato"/>
              </a:rPr>
              <a:t>can be confident </a:t>
            </a:r>
            <a:r>
              <a:rPr lang="en" sz="3200">
                <a:latin typeface="Lato"/>
                <a:ea typeface="Lato"/>
                <a:cs typeface="Lato"/>
                <a:sym typeface="Lato"/>
              </a:rPr>
              <a:t>next time someone asks “what do you do?”</a:t>
            </a:r>
            <a:endParaRPr sz="3200">
              <a:latin typeface="Lato"/>
              <a:ea typeface="Lato"/>
              <a:cs typeface="Lato"/>
              <a:sym typeface="Lato"/>
            </a:endParaRPr>
          </a:p>
          <a:p>
            <a:pPr indent="0" lvl="0" marL="0" rtl="0" algn="ctr">
              <a:lnSpc>
                <a:spcPct val="115000"/>
              </a:lnSpc>
              <a:spcBef>
                <a:spcPts val="0"/>
              </a:spcBef>
              <a:spcAft>
                <a:spcPts val="0"/>
              </a:spcAft>
              <a:buNone/>
            </a:pPr>
            <a:r>
              <a:t/>
            </a:r>
            <a:endParaRPr sz="1700">
              <a:latin typeface="Lato"/>
              <a:ea typeface="Lato"/>
              <a:cs typeface="Lato"/>
              <a:sym typeface="Lato"/>
            </a:endParaRPr>
          </a:p>
          <a:p>
            <a:pPr indent="0" lvl="0" marL="0" rtl="0" algn="ctr">
              <a:lnSpc>
                <a:spcPct val="115000"/>
              </a:lnSpc>
              <a:spcBef>
                <a:spcPts val="0"/>
              </a:spcBef>
              <a:spcAft>
                <a:spcPts val="0"/>
              </a:spcAft>
              <a:buNone/>
            </a:pPr>
            <a:r>
              <a:rPr i="1" lang="en" sz="1700" u="sng">
                <a:latin typeface="Spectral"/>
                <a:ea typeface="Spectral"/>
                <a:cs typeface="Spectral"/>
                <a:sym typeface="Spectral"/>
              </a:rPr>
              <a:t>.</a:t>
            </a:r>
            <a:endParaRPr sz="3400">
              <a:latin typeface="Spectral"/>
              <a:ea typeface="Spectral"/>
              <a:cs typeface="Spectral"/>
              <a:sym typeface="Spectral"/>
            </a:endParaRPr>
          </a:p>
          <a:p>
            <a:pPr indent="0" lvl="0" marL="0" rtl="0" algn="ctr">
              <a:spcBef>
                <a:spcPts val="0"/>
              </a:spcBef>
              <a:spcAft>
                <a:spcPts val="0"/>
              </a:spcAft>
              <a:buNone/>
            </a:pPr>
            <a:r>
              <a:t/>
            </a:r>
            <a:endParaRPr sz="3400">
              <a:latin typeface="Spectral"/>
              <a:ea typeface="Spectral"/>
              <a:cs typeface="Spectral"/>
              <a:sym typeface="Spectral"/>
            </a:endParaRPr>
          </a:p>
        </p:txBody>
      </p:sp>
      <p:sp>
        <p:nvSpPr>
          <p:cNvPr id="524" name="Google Shape;524;p75"/>
          <p:cNvSpPr txBox="1"/>
          <p:nvPr/>
        </p:nvSpPr>
        <p:spPr>
          <a:xfrm>
            <a:off x="0" y="4887209"/>
            <a:ext cx="9144000" cy="294000"/>
          </a:xfrm>
          <a:prstGeom prst="rect">
            <a:avLst/>
          </a:prstGeom>
          <a:noFill/>
          <a:ln>
            <a:noFill/>
          </a:ln>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sz="900">
                <a:solidFill>
                  <a:srgbClr val="B6B2B3"/>
                </a:solidFill>
                <a:latin typeface="Lato"/>
                <a:ea typeface="Lato"/>
                <a:cs typeface="Lato"/>
                <a:sym typeface="Lato"/>
              </a:rPr>
              <a:t>    5/36								            SHAANPURI.COM			 			       POWER WRITING COURSE</a:t>
            </a:r>
            <a:endParaRPr b="1" sz="900">
              <a:solidFill>
                <a:srgbClr val="B6B2B3"/>
              </a:solidFill>
              <a:latin typeface="Lato"/>
              <a:ea typeface="Lato"/>
              <a:cs typeface="Lato"/>
              <a:sym typeface="Lato"/>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76"/>
          <p:cNvSpPr/>
          <p:nvPr/>
        </p:nvSpPr>
        <p:spPr>
          <a:xfrm>
            <a:off x="0" y="0"/>
            <a:ext cx="9144000" cy="5143500"/>
          </a:xfrm>
          <a:prstGeom prst="rect">
            <a:avLst/>
          </a:prstGeom>
          <a:solidFill>
            <a:srgbClr val="F7F1F1"/>
          </a:solidFill>
          <a:ln cap="flat" cmpd="sng" w="9525">
            <a:solidFill>
              <a:srgbClr val="F7F1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76"/>
          <p:cNvSpPr txBox="1"/>
          <p:nvPr>
            <p:ph type="ctrTitle"/>
          </p:nvPr>
        </p:nvSpPr>
        <p:spPr>
          <a:xfrm>
            <a:off x="522833" y="-95722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4800">
                <a:solidFill>
                  <a:schemeClr val="accent1"/>
                </a:solidFill>
                <a:latin typeface="Lato"/>
                <a:ea typeface="Lato"/>
                <a:cs typeface="Lato"/>
                <a:sym typeface="Lato"/>
              </a:rPr>
              <a:t>Example problem statements</a:t>
            </a:r>
            <a:endParaRPr sz="4800">
              <a:solidFill>
                <a:schemeClr val="accent1"/>
              </a:solidFill>
              <a:latin typeface="Lato"/>
              <a:ea typeface="Lato"/>
              <a:cs typeface="Lato"/>
              <a:sym typeface="Lato"/>
            </a:endParaRPr>
          </a:p>
        </p:txBody>
      </p:sp>
      <p:sp>
        <p:nvSpPr>
          <p:cNvPr id="531" name="Google Shape;531;p76"/>
          <p:cNvSpPr txBox="1"/>
          <p:nvPr>
            <p:ph idx="1" type="subTitle"/>
          </p:nvPr>
        </p:nvSpPr>
        <p:spPr>
          <a:xfrm>
            <a:off x="412275" y="1704600"/>
            <a:ext cx="8520600" cy="1734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935"/>
              <a:buFont typeface="Arial"/>
              <a:buNone/>
            </a:pPr>
            <a:r>
              <a:t/>
            </a:r>
            <a:endParaRPr b="1" sz="2980">
              <a:solidFill>
                <a:schemeClr val="dk1"/>
              </a:solidFill>
              <a:latin typeface="Spectral"/>
              <a:ea typeface="Spectral"/>
              <a:cs typeface="Spectral"/>
              <a:sym typeface="Spectral"/>
            </a:endParaRPr>
          </a:p>
          <a:p>
            <a:pPr indent="0" lvl="0" marL="0" rtl="0" algn="ctr">
              <a:spcBef>
                <a:spcPts val="0"/>
              </a:spcBef>
              <a:spcAft>
                <a:spcPts val="0"/>
              </a:spcAft>
              <a:buClr>
                <a:schemeClr val="dk1"/>
              </a:buClr>
              <a:buSzPts val="935"/>
              <a:buFont typeface="Arial"/>
              <a:buNone/>
            </a:pPr>
            <a:r>
              <a:rPr lang="en" sz="2980">
                <a:solidFill>
                  <a:schemeClr val="dk1"/>
                </a:solidFill>
                <a:latin typeface="Spectral"/>
                <a:ea typeface="Spectral"/>
                <a:cs typeface="Spectral"/>
                <a:sym typeface="Spectral"/>
              </a:rPr>
              <a:t>“The average person spends 3+hours a day, just trying to keep up with email” - </a:t>
            </a:r>
            <a:r>
              <a:rPr b="1" lang="en" sz="2980">
                <a:solidFill>
                  <a:schemeClr val="dk1"/>
                </a:solidFill>
                <a:latin typeface="Spectral"/>
                <a:ea typeface="Spectral"/>
                <a:cs typeface="Spectral"/>
                <a:sym typeface="Spectral"/>
              </a:rPr>
              <a:t>Superhuman</a:t>
            </a:r>
            <a:endParaRPr b="1" sz="2980">
              <a:solidFill>
                <a:schemeClr val="dk1"/>
              </a:solidFill>
              <a:latin typeface="Spectral"/>
              <a:ea typeface="Spectral"/>
              <a:cs typeface="Spectral"/>
              <a:sym typeface="Spectral"/>
            </a:endParaRPr>
          </a:p>
          <a:p>
            <a:pPr indent="0" lvl="0" marL="0" rtl="0" algn="ctr">
              <a:spcBef>
                <a:spcPts val="0"/>
              </a:spcBef>
              <a:spcAft>
                <a:spcPts val="0"/>
              </a:spcAft>
              <a:buClr>
                <a:schemeClr val="dk1"/>
              </a:buClr>
              <a:buSzPts val="935"/>
              <a:buFont typeface="Arial"/>
              <a:buNone/>
            </a:pPr>
            <a:r>
              <a:t/>
            </a:r>
            <a:endParaRPr b="1" sz="2980">
              <a:solidFill>
                <a:schemeClr val="dk1"/>
              </a:solidFill>
              <a:latin typeface="Spectral"/>
              <a:ea typeface="Spectral"/>
              <a:cs typeface="Spectral"/>
              <a:sym typeface="Spectral"/>
            </a:endParaRPr>
          </a:p>
          <a:p>
            <a:pPr indent="0" lvl="0" marL="0" rtl="0" algn="ctr">
              <a:spcBef>
                <a:spcPts val="0"/>
              </a:spcBef>
              <a:spcAft>
                <a:spcPts val="0"/>
              </a:spcAft>
              <a:buClr>
                <a:schemeClr val="dk1"/>
              </a:buClr>
              <a:buSzPts val="935"/>
              <a:buFont typeface="Arial"/>
              <a:buNone/>
            </a:pPr>
            <a:r>
              <a:t/>
            </a:r>
            <a:endParaRPr b="1" i="1" sz="2980"/>
          </a:p>
          <a:p>
            <a:pPr indent="0" lvl="0" marL="0" rtl="0" algn="ctr">
              <a:spcBef>
                <a:spcPts val="0"/>
              </a:spcBef>
              <a:spcAft>
                <a:spcPts val="0"/>
              </a:spcAft>
              <a:buClr>
                <a:schemeClr val="dk1"/>
              </a:buClr>
              <a:buSzPts val="935"/>
              <a:buFont typeface="Arial"/>
              <a:buNone/>
            </a:pPr>
            <a:r>
              <a:t/>
            </a:r>
            <a:endParaRPr sz="3780">
              <a:solidFill>
                <a:schemeClr val="dk1"/>
              </a:solidFill>
              <a:latin typeface="Spectral"/>
              <a:ea typeface="Spectral"/>
              <a:cs typeface="Spectral"/>
              <a:sym typeface="Spectral"/>
            </a:endParaRPr>
          </a:p>
          <a:p>
            <a:pPr indent="0" lvl="0" marL="0" rtl="0" algn="ctr">
              <a:spcBef>
                <a:spcPts val="0"/>
              </a:spcBef>
              <a:spcAft>
                <a:spcPts val="0"/>
              </a:spcAft>
              <a:buSzPts val="935"/>
              <a:buNone/>
            </a:pPr>
            <a:r>
              <a:t/>
            </a:r>
            <a:endParaRPr sz="3680">
              <a:solidFill>
                <a:schemeClr val="dk1"/>
              </a:solidFill>
              <a:latin typeface="Spectral"/>
              <a:ea typeface="Spectral"/>
              <a:cs typeface="Spectral"/>
              <a:sym typeface="Spectral"/>
            </a:endParaRPr>
          </a:p>
        </p:txBody>
      </p:sp>
      <p:sp>
        <p:nvSpPr>
          <p:cNvPr id="532" name="Google Shape;532;p76"/>
          <p:cNvSpPr txBox="1"/>
          <p:nvPr>
            <p:ph type="ctrTitle"/>
          </p:nvPr>
        </p:nvSpPr>
        <p:spPr>
          <a:xfrm>
            <a:off x="0" y="4624800"/>
            <a:ext cx="9144000" cy="518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900">
                <a:solidFill>
                  <a:srgbClr val="B6B2B3"/>
                </a:solidFill>
                <a:latin typeface="Lato"/>
                <a:ea typeface="Lato"/>
                <a:cs typeface="Lato"/>
                <a:sym typeface="Lato"/>
              </a:rPr>
              <a:t>    14/36								            SHAANPURI.COM						          POWER WRITING COURSE</a:t>
            </a:r>
            <a:endParaRPr b="1" sz="900">
              <a:solidFill>
                <a:srgbClr val="B6B2B3"/>
              </a:solidFill>
              <a:latin typeface="Lato"/>
              <a:ea typeface="Lato"/>
              <a:cs typeface="Lato"/>
              <a:sym typeface="Lato"/>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77"/>
          <p:cNvSpPr/>
          <p:nvPr/>
        </p:nvSpPr>
        <p:spPr>
          <a:xfrm>
            <a:off x="0" y="0"/>
            <a:ext cx="9144000" cy="5143500"/>
          </a:xfrm>
          <a:prstGeom prst="rect">
            <a:avLst/>
          </a:prstGeom>
          <a:solidFill>
            <a:srgbClr val="F7F1F1"/>
          </a:solidFill>
          <a:ln cap="flat" cmpd="sng" w="9525">
            <a:solidFill>
              <a:srgbClr val="F7F1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77"/>
          <p:cNvSpPr txBox="1"/>
          <p:nvPr>
            <p:ph type="ctrTitle"/>
          </p:nvPr>
        </p:nvSpPr>
        <p:spPr>
          <a:xfrm>
            <a:off x="441208" y="-949950"/>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4700">
                <a:solidFill>
                  <a:srgbClr val="0066DE"/>
                </a:solidFill>
                <a:latin typeface="Lato"/>
                <a:ea typeface="Lato"/>
                <a:cs typeface="Lato"/>
                <a:sym typeface="Lato"/>
              </a:rPr>
              <a:t>Example solution statements</a:t>
            </a:r>
            <a:endParaRPr sz="4700">
              <a:solidFill>
                <a:srgbClr val="0066DE"/>
              </a:solidFill>
              <a:latin typeface="Lato"/>
              <a:ea typeface="Lato"/>
              <a:cs typeface="Lato"/>
              <a:sym typeface="Lato"/>
            </a:endParaRPr>
          </a:p>
        </p:txBody>
      </p:sp>
      <p:sp>
        <p:nvSpPr>
          <p:cNvPr id="539" name="Google Shape;539;p77"/>
          <p:cNvSpPr txBox="1"/>
          <p:nvPr>
            <p:ph idx="1" type="subTitle"/>
          </p:nvPr>
        </p:nvSpPr>
        <p:spPr>
          <a:xfrm>
            <a:off x="311700" y="2072125"/>
            <a:ext cx="8520600" cy="1734300"/>
          </a:xfrm>
          <a:prstGeom prst="rect">
            <a:avLst/>
          </a:prstGeom>
        </p:spPr>
        <p:txBody>
          <a:bodyPr anchorCtr="0" anchor="t" bIns="91425" lIns="91425" spcFirstLastPara="1" rIns="91425" wrap="square" tIns="91425">
            <a:noAutofit/>
          </a:bodyPr>
          <a:lstStyle/>
          <a:p>
            <a:pPr indent="0" lvl="0" marL="0" rtl="0" algn="ctr">
              <a:lnSpc>
                <a:spcPct val="80000"/>
              </a:lnSpc>
              <a:spcBef>
                <a:spcPts val="0"/>
              </a:spcBef>
              <a:spcAft>
                <a:spcPts val="0"/>
              </a:spcAft>
              <a:buSzPts val="584"/>
              <a:buNone/>
            </a:pPr>
            <a:r>
              <a:rPr lang="en" sz="3337">
                <a:solidFill>
                  <a:schemeClr val="dk1"/>
                </a:solidFill>
                <a:latin typeface="Spectral"/>
                <a:ea typeface="Spectral"/>
                <a:cs typeface="Spectral"/>
                <a:sym typeface="Spectral"/>
              </a:rPr>
              <a:t>“Most dog owners don’t know what the heck their dog food is made out of…</a:t>
            </a:r>
            <a:endParaRPr sz="3337">
              <a:solidFill>
                <a:schemeClr val="dk1"/>
              </a:solidFill>
              <a:latin typeface="Spectral"/>
              <a:ea typeface="Spectral"/>
              <a:cs typeface="Spectral"/>
              <a:sym typeface="Spectral"/>
            </a:endParaRPr>
          </a:p>
          <a:p>
            <a:pPr indent="0" lvl="0" marL="0" rtl="0" algn="ctr">
              <a:lnSpc>
                <a:spcPct val="80000"/>
              </a:lnSpc>
              <a:spcBef>
                <a:spcPts val="0"/>
              </a:spcBef>
              <a:spcAft>
                <a:spcPts val="0"/>
              </a:spcAft>
              <a:buSzPts val="584"/>
              <a:buNone/>
            </a:pPr>
            <a:r>
              <a:t/>
            </a:r>
            <a:endParaRPr b="1" sz="3337">
              <a:solidFill>
                <a:srgbClr val="0066DE"/>
              </a:solidFill>
              <a:latin typeface="Spectral"/>
              <a:ea typeface="Spectral"/>
              <a:cs typeface="Spectral"/>
              <a:sym typeface="Spectral"/>
            </a:endParaRPr>
          </a:p>
          <a:p>
            <a:pPr indent="0" lvl="0" marL="0" rtl="0" algn="ctr">
              <a:lnSpc>
                <a:spcPct val="80000"/>
              </a:lnSpc>
              <a:spcBef>
                <a:spcPts val="0"/>
              </a:spcBef>
              <a:spcAft>
                <a:spcPts val="0"/>
              </a:spcAft>
              <a:buSzPts val="584"/>
              <a:buNone/>
            </a:pPr>
            <a:r>
              <a:t/>
            </a:r>
            <a:endParaRPr b="1" sz="3337">
              <a:solidFill>
                <a:srgbClr val="0066DE"/>
              </a:solidFill>
              <a:latin typeface="Spectral"/>
              <a:ea typeface="Spectral"/>
              <a:cs typeface="Spectral"/>
              <a:sym typeface="Spectral"/>
            </a:endParaRPr>
          </a:p>
          <a:p>
            <a:pPr indent="0" lvl="0" marL="0" rtl="0" algn="ctr">
              <a:lnSpc>
                <a:spcPct val="80000"/>
              </a:lnSpc>
              <a:spcBef>
                <a:spcPts val="0"/>
              </a:spcBef>
              <a:spcAft>
                <a:spcPts val="0"/>
              </a:spcAft>
              <a:buSzPts val="584"/>
              <a:buNone/>
            </a:pPr>
            <a:r>
              <a:rPr b="1" lang="en" sz="3337">
                <a:solidFill>
                  <a:srgbClr val="0066DE"/>
                </a:solidFill>
                <a:latin typeface="Spectral"/>
                <a:ea typeface="Spectral"/>
                <a:cs typeface="Spectral"/>
                <a:sym typeface="Spectral"/>
              </a:rPr>
              <a:t>so we make dog food from normal ingredients, that even a human can eat</a:t>
            </a:r>
            <a:r>
              <a:rPr b="1" lang="en" sz="3337">
                <a:solidFill>
                  <a:schemeClr val="dk1"/>
                </a:solidFill>
                <a:latin typeface="Spectral"/>
                <a:ea typeface="Spectral"/>
                <a:cs typeface="Spectral"/>
                <a:sym typeface="Spectral"/>
              </a:rPr>
              <a:t>”</a:t>
            </a:r>
            <a:endParaRPr b="1" sz="3337">
              <a:solidFill>
                <a:schemeClr val="dk1"/>
              </a:solidFill>
              <a:latin typeface="Spectral"/>
              <a:ea typeface="Spectral"/>
              <a:cs typeface="Spectral"/>
              <a:sym typeface="Spectral"/>
            </a:endParaRPr>
          </a:p>
          <a:p>
            <a:pPr indent="0" lvl="0" marL="0" rtl="0" algn="ctr">
              <a:lnSpc>
                <a:spcPct val="80000"/>
              </a:lnSpc>
              <a:spcBef>
                <a:spcPts val="0"/>
              </a:spcBef>
              <a:spcAft>
                <a:spcPts val="0"/>
              </a:spcAft>
              <a:buSzPts val="584"/>
              <a:buNone/>
            </a:pPr>
            <a:r>
              <a:t/>
            </a:r>
            <a:endParaRPr b="1" sz="3337">
              <a:solidFill>
                <a:schemeClr val="dk1"/>
              </a:solidFill>
              <a:latin typeface="Spectral"/>
              <a:ea typeface="Spectral"/>
              <a:cs typeface="Spectral"/>
              <a:sym typeface="Spectral"/>
            </a:endParaRPr>
          </a:p>
          <a:p>
            <a:pPr indent="0" lvl="0" marL="0" rtl="0" algn="ctr">
              <a:lnSpc>
                <a:spcPct val="80000"/>
              </a:lnSpc>
              <a:spcBef>
                <a:spcPts val="0"/>
              </a:spcBef>
              <a:spcAft>
                <a:spcPts val="0"/>
              </a:spcAft>
              <a:buSzPts val="584"/>
              <a:buNone/>
            </a:pPr>
            <a:r>
              <a:t/>
            </a:r>
            <a:endParaRPr b="1" sz="3337">
              <a:solidFill>
                <a:schemeClr val="dk1"/>
              </a:solidFill>
              <a:latin typeface="Spectral"/>
              <a:ea typeface="Spectral"/>
              <a:cs typeface="Spectral"/>
              <a:sym typeface="Spectral"/>
            </a:endParaRPr>
          </a:p>
          <a:p>
            <a:pPr indent="0" lvl="0" marL="0" rtl="0" algn="ctr">
              <a:lnSpc>
                <a:spcPct val="80000"/>
              </a:lnSpc>
              <a:spcBef>
                <a:spcPts val="0"/>
              </a:spcBef>
              <a:spcAft>
                <a:spcPts val="0"/>
              </a:spcAft>
              <a:buSzPts val="584"/>
              <a:buNone/>
            </a:pPr>
            <a:r>
              <a:t/>
            </a:r>
            <a:endParaRPr b="1" sz="3337">
              <a:solidFill>
                <a:schemeClr val="dk1"/>
              </a:solidFill>
              <a:latin typeface="Spectral"/>
              <a:ea typeface="Spectral"/>
              <a:cs typeface="Spectral"/>
              <a:sym typeface="Spectral"/>
            </a:endParaRPr>
          </a:p>
        </p:txBody>
      </p:sp>
      <p:sp>
        <p:nvSpPr>
          <p:cNvPr id="540" name="Google Shape;540;p77"/>
          <p:cNvSpPr txBox="1"/>
          <p:nvPr>
            <p:ph type="ctrTitle"/>
          </p:nvPr>
        </p:nvSpPr>
        <p:spPr>
          <a:xfrm>
            <a:off x="0" y="4624800"/>
            <a:ext cx="9144000" cy="518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900">
                <a:solidFill>
                  <a:srgbClr val="B6B2B3"/>
                </a:solidFill>
                <a:latin typeface="Lato"/>
                <a:ea typeface="Lato"/>
                <a:cs typeface="Lato"/>
                <a:sym typeface="Lato"/>
              </a:rPr>
              <a:t>    16/36								            SHAANPURI.COM						          POWER WRITING COURSE</a:t>
            </a:r>
            <a:endParaRPr b="1" sz="900">
              <a:solidFill>
                <a:srgbClr val="B6B2B3"/>
              </a:solidFill>
              <a:latin typeface="Lato"/>
              <a:ea typeface="Lato"/>
              <a:cs typeface="Lato"/>
              <a:sym typeface="Lato"/>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78"/>
          <p:cNvSpPr/>
          <p:nvPr/>
        </p:nvSpPr>
        <p:spPr>
          <a:xfrm>
            <a:off x="0" y="0"/>
            <a:ext cx="9144000" cy="5143500"/>
          </a:xfrm>
          <a:prstGeom prst="rect">
            <a:avLst/>
          </a:prstGeom>
          <a:solidFill>
            <a:srgbClr val="F7F1F1"/>
          </a:solidFill>
          <a:ln cap="flat" cmpd="sng" w="9525">
            <a:solidFill>
              <a:srgbClr val="F7F1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78"/>
          <p:cNvSpPr txBox="1"/>
          <p:nvPr>
            <p:ph type="ctrTitle"/>
          </p:nvPr>
        </p:nvSpPr>
        <p:spPr>
          <a:xfrm>
            <a:off x="311708" y="-7117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4700">
                <a:solidFill>
                  <a:srgbClr val="0066DE"/>
                </a:solidFill>
                <a:latin typeface="Lato"/>
                <a:ea typeface="Lato"/>
                <a:cs typeface="Lato"/>
                <a:sym typeface="Lato"/>
              </a:rPr>
              <a:t>Summary</a:t>
            </a:r>
            <a:endParaRPr sz="4700">
              <a:solidFill>
                <a:srgbClr val="0066DE"/>
              </a:solidFill>
              <a:latin typeface="Lato"/>
              <a:ea typeface="Lato"/>
              <a:cs typeface="Lato"/>
              <a:sym typeface="Lato"/>
            </a:endParaRPr>
          </a:p>
        </p:txBody>
      </p:sp>
      <p:sp>
        <p:nvSpPr>
          <p:cNvPr id="547" name="Google Shape;547;p78"/>
          <p:cNvSpPr txBox="1"/>
          <p:nvPr>
            <p:ph idx="1" type="subTitle"/>
          </p:nvPr>
        </p:nvSpPr>
        <p:spPr>
          <a:xfrm>
            <a:off x="311700" y="1682575"/>
            <a:ext cx="8520600" cy="1734300"/>
          </a:xfrm>
          <a:prstGeom prst="rect">
            <a:avLst/>
          </a:prstGeom>
        </p:spPr>
        <p:txBody>
          <a:bodyPr anchorCtr="0" anchor="t" bIns="91425" lIns="91425" spcFirstLastPara="1" rIns="91425" wrap="square" tIns="91425">
            <a:noAutofit/>
          </a:bodyPr>
          <a:lstStyle/>
          <a:p>
            <a:pPr indent="-364331" lvl="0" marL="457200" rtl="0" algn="l">
              <a:lnSpc>
                <a:spcPct val="80000"/>
              </a:lnSpc>
              <a:spcBef>
                <a:spcPts val="0"/>
              </a:spcBef>
              <a:spcAft>
                <a:spcPts val="0"/>
              </a:spcAft>
              <a:buClr>
                <a:schemeClr val="dk1"/>
              </a:buClr>
              <a:buSzPts val="2138"/>
              <a:buFont typeface="Spectral"/>
              <a:buChar char="●"/>
            </a:pPr>
            <a:r>
              <a:rPr lang="en" sz="2137">
                <a:solidFill>
                  <a:schemeClr val="dk1"/>
                </a:solidFill>
                <a:latin typeface="Spectral"/>
                <a:ea typeface="Spectral"/>
                <a:cs typeface="Spectral"/>
                <a:sym typeface="Spectral"/>
              </a:rPr>
              <a:t>Most people suck at explaining what their company does</a:t>
            </a:r>
            <a:endParaRPr sz="2137">
              <a:solidFill>
                <a:schemeClr val="dk1"/>
              </a:solidFill>
              <a:latin typeface="Spectral"/>
              <a:ea typeface="Spectral"/>
              <a:cs typeface="Spectral"/>
              <a:sym typeface="Spectral"/>
            </a:endParaRPr>
          </a:p>
          <a:p>
            <a:pPr indent="0" lvl="0" marL="457200" rtl="0" algn="l">
              <a:lnSpc>
                <a:spcPct val="80000"/>
              </a:lnSpc>
              <a:spcBef>
                <a:spcPts val="0"/>
              </a:spcBef>
              <a:spcAft>
                <a:spcPts val="0"/>
              </a:spcAft>
              <a:buNone/>
            </a:pPr>
            <a:r>
              <a:t/>
            </a:r>
            <a:endParaRPr sz="2137">
              <a:solidFill>
                <a:schemeClr val="dk1"/>
              </a:solidFill>
              <a:latin typeface="Spectral"/>
              <a:ea typeface="Spectral"/>
              <a:cs typeface="Spectral"/>
              <a:sym typeface="Spectral"/>
            </a:endParaRPr>
          </a:p>
          <a:p>
            <a:pPr indent="-364331" lvl="0" marL="457200" rtl="0" algn="l">
              <a:lnSpc>
                <a:spcPct val="80000"/>
              </a:lnSpc>
              <a:spcBef>
                <a:spcPts val="0"/>
              </a:spcBef>
              <a:spcAft>
                <a:spcPts val="0"/>
              </a:spcAft>
              <a:buClr>
                <a:schemeClr val="dk1"/>
              </a:buClr>
              <a:buSzPts val="2138"/>
              <a:buFont typeface="Spectral"/>
              <a:buChar char="●"/>
            </a:pPr>
            <a:r>
              <a:rPr lang="en" sz="2137">
                <a:solidFill>
                  <a:schemeClr val="dk1"/>
                </a:solidFill>
                <a:latin typeface="Spectral"/>
                <a:ea typeface="Spectral"/>
                <a:cs typeface="Spectral"/>
                <a:sym typeface="Spectral"/>
              </a:rPr>
              <a:t>The 3-step storybrand formula helps</a:t>
            </a:r>
            <a:endParaRPr sz="2137">
              <a:solidFill>
                <a:schemeClr val="dk1"/>
              </a:solidFill>
              <a:latin typeface="Spectral"/>
              <a:ea typeface="Spectral"/>
              <a:cs typeface="Spectral"/>
              <a:sym typeface="Spectral"/>
            </a:endParaRPr>
          </a:p>
          <a:p>
            <a:pPr indent="0" lvl="0" marL="457200" rtl="0" algn="l">
              <a:lnSpc>
                <a:spcPct val="80000"/>
              </a:lnSpc>
              <a:spcBef>
                <a:spcPts val="0"/>
              </a:spcBef>
              <a:spcAft>
                <a:spcPts val="0"/>
              </a:spcAft>
              <a:buNone/>
            </a:pPr>
            <a:r>
              <a:t/>
            </a:r>
            <a:endParaRPr sz="2137">
              <a:solidFill>
                <a:schemeClr val="dk1"/>
              </a:solidFill>
              <a:latin typeface="Spectral"/>
              <a:ea typeface="Spectral"/>
              <a:cs typeface="Spectral"/>
              <a:sym typeface="Spectral"/>
            </a:endParaRPr>
          </a:p>
          <a:p>
            <a:pPr indent="-364331" lvl="0" marL="457200" rtl="0" algn="l">
              <a:lnSpc>
                <a:spcPct val="80000"/>
              </a:lnSpc>
              <a:spcBef>
                <a:spcPts val="0"/>
              </a:spcBef>
              <a:spcAft>
                <a:spcPts val="0"/>
              </a:spcAft>
              <a:buClr>
                <a:schemeClr val="dk1"/>
              </a:buClr>
              <a:buSzPts val="2138"/>
              <a:buFont typeface="Spectral"/>
              <a:buChar char="●"/>
            </a:pPr>
            <a:r>
              <a:rPr lang="en" sz="2137">
                <a:solidFill>
                  <a:schemeClr val="dk1"/>
                </a:solidFill>
                <a:latin typeface="Spectral"/>
                <a:ea typeface="Spectral"/>
                <a:cs typeface="Spectral"/>
                <a:sym typeface="Spectral"/>
              </a:rPr>
              <a:t>Start with the problem the customer would agree with</a:t>
            </a:r>
            <a:endParaRPr sz="2137">
              <a:solidFill>
                <a:schemeClr val="dk1"/>
              </a:solidFill>
              <a:latin typeface="Spectral"/>
              <a:ea typeface="Spectral"/>
              <a:cs typeface="Spectral"/>
              <a:sym typeface="Spectral"/>
            </a:endParaRPr>
          </a:p>
          <a:p>
            <a:pPr indent="0" lvl="0" marL="457200" rtl="0" algn="l">
              <a:lnSpc>
                <a:spcPct val="80000"/>
              </a:lnSpc>
              <a:spcBef>
                <a:spcPts val="0"/>
              </a:spcBef>
              <a:spcAft>
                <a:spcPts val="0"/>
              </a:spcAft>
              <a:buNone/>
            </a:pPr>
            <a:r>
              <a:t/>
            </a:r>
            <a:endParaRPr sz="2137">
              <a:solidFill>
                <a:schemeClr val="dk1"/>
              </a:solidFill>
              <a:latin typeface="Spectral"/>
              <a:ea typeface="Spectral"/>
              <a:cs typeface="Spectral"/>
              <a:sym typeface="Spectral"/>
            </a:endParaRPr>
          </a:p>
          <a:p>
            <a:pPr indent="-364331" lvl="0" marL="457200" rtl="0" algn="l">
              <a:lnSpc>
                <a:spcPct val="80000"/>
              </a:lnSpc>
              <a:spcBef>
                <a:spcPts val="0"/>
              </a:spcBef>
              <a:spcAft>
                <a:spcPts val="0"/>
              </a:spcAft>
              <a:buClr>
                <a:schemeClr val="dk1"/>
              </a:buClr>
              <a:buSzPts val="2138"/>
              <a:buFont typeface="Spectral"/>
              <a:buChar char="●"/>
            </a:pPr>
            <a:r>
              <a:rPr lang="en" sz="2137">
                <a:solidFill>
                  <a:schemeClr val="dk1"/>
                </a:solidFill>
                <a:latin typeface="Spectral"/>
                <a:ea typeface="Spectral"/>
                <a:cs typeface="Spectral"/>
                <a:sym typeface="Spectral"/>
              </a:rPr>
              <a:t>Then pitch your simple solution</a:t>
            </a:r>
            <a:endParaRPr sz="2137">
              <a:solidFill>
                <a:schemeClr val="dk1"/>
              </a:solidFill>
              <a:latin typeface="Spectral"/>
              <a:ea typeface="Spectral"/>
              <a:cs typeface="Spectral"/>
              <a:sym typeface="Spectral"/>
            </a:endParaRPr>
          </a:p>
          <a:p>
            <a:pPr indent="0" lvl="0" marL="457200" rtl="0" algn="l">
              <a:lnSpc>
                <a:spcPct val="80000"/>
              </a:lnSpc>
              <a:spcBef>
                <a:spcPts val="0"/>
              </a:spcBef>
              <a:spcAft>
                <a:spcPts val="0"/>
              </a:spcAft>
              <a:buNone/>
            </a:pPr>
            <a:r>
              <a:t/>
            </a:r>
            <a:endParaRPr sz="2137">
              <a:solidFill>
                <a:schemeClr val="dk1"/>
              </a:solidFill>
              <a:latin typeface="Spectral"/>
              <a:ea typeface="Spectral"/>
              <a:cs typeface="Spectral"/>
              <a:sym typeface="Spectral"/>
            </a:endParaRPr>
          </a:p>
          <a:p>
            <a:pPr indent="-364331" lvl="0" marL="457200" rtl="0" algn="l">
              <a:lnSpc>
                <a:spcPct val="80000"/>
              </a:lnSpc>
              <a:spcBef>
                <a:spcPts val="0"/>
              </a:spcBef>
              <a:spcAft>
                <a:spcPts val="0"/>
              </a:spcAft>
              <a:buClr>
                <a:schemeClr val="dk1"/>
              </a:buClr>
              <a:buSzPts val="2138"/>
              <a:buFont typeface="Spectral"/>
              <a:buChar char="●"/>
            </a:pPr>
            <a:r>
              <a:rPr lang="en" sz="2137">
                <a:solidFill>
                  <a:schemeClr val="dk1"/>
                </a:solidFill>
                <a:latin typeface="Spectral"/>
                <a:ea typeface="Spectral"/>
                <a:cs typeface="Spectral"/>
                <a:sym typeface="Spectral"/>
              </a:rPr>
              <a:t>Paint a picture of the happy ending (problem is gone)  </a:t>
            </a:r>
            <a:endParaRPr sz="2137">
              <a:solidFill>
                <a:schemeClr val="dk1"/>
              </a:solidFill>
              <a:latin typeface="Spectral"/>
              <a:ea typeface="Spectral"/>
              <a:cs typeface="Spectral"/>
              <a:sym typeface="Spectral"/>
            </a:endParaRPr>
          </a:p>
          <a:p>
            <a:pPr indent="0" lvl="0" marL="457200" rtl="0" algn="l">
              <a:lnSpc>
                <a:spcPct val="80000"/>
              </a:lnSpc>
              <a:spcBef>
                <a:spcPts val="0"/>
              </a:spcBef>
              <a:spcAft>
                <a:spcPts val="0"/>
              </a:spcAft>
              <a:buNone/>
            </a:pPr>
            <a:r>
              <a:t/>
            </a:r>
            <a:endParaRPr sz="2137">
              <a:solidFill>
                <a:schemeClr val="dk1"/>
              </a:solidFill>
              <a:latin typeface="Spectral"/>
              <a:ea typeface="Spectral"/>
              <a:cs typeface="Spectral"/>
              <a:sym typeface="Spectral"/>
            </a:endParaRPr>
          </a:p>
        </p:txBody>
      </p:sp>
      <p:sp>
        <p:nvSpPr>
          <p:cNvPr id="548" name="Google Shape;548;p78"/>
          <p:cNvSpPr txBox="1"/>
          <p:nvPr>
            <p:ph type="ctrTitle"/>
          </p:nvPr>
        </p:nvSpPr>
        <p:spPr>
          <a:xfrm>
            <a:off x="0" y="4624800"/>
            <a:ext cx="9144000" cy="518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900">
                <a:solidFill>
                  <a:srgbClr val="B6B2B3"/>
                </a:solidFill>
                <a:latin typeface="Lato"/>
                <a:ea typeface="Lato"/>
                <a:cs typeface="Lato"/>
                <a:sym typeface="Lato"/>
              </a:rPr>
              <a:t>    18/36								            SHAANPURI.COM						          POWER WRITING COURSE</a:t>
            </a:r>
            <a:endParaRPr b="1" sz="900">
              <a:solidFill>
                <a:srgbClr val="B6B2B3"/>
              </a:solidFill>
              <a:latin typeface="Lato"/>
              <a:ea typeface="Lato"/>
              <a:cs typeface="Lato"/>
              <a:sym typeface="La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