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Caveat"/>
      <p:regular r:id="rId33"/>
      <p:bold r:id="rId34"/>
    </p:embeddedFont>
    <p:embeddedFont>
      <p:font typeface="La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Caveat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Lato-regular.fntdata"/><Relationship Id="rId12" Type="http://schemas.openxmlformats.org/officeDocument/2006/relationships/slide" Target="slides/slide7.xml"/><Relationship Id="rId34" Type="http://schemas.openxmlformats.org/officeDocument/2006/relationships/font" Target="fonts/Caveat-bold.fntdata"/><Relationship Id="rId15" Type="http://schemas.openxmlformats.org/officeDocument/2006/relationships/slide" Target="slides/slide10.xml"/><Relationship Id="rId37" Type="http://schemas.openxmlformats.org/officeDocument/2006/relationships/font" Target="fonts/Lato-italic.fntdata"/><Relationship Id="rId14" Type="http://schemas.openxmlformats.org/officeDocument/2006/relationships/slide" Target="slides/slide9.xml"/><Relationship Id="rId36" Type="http://schemas.openxmlformats.org/officeDocument/2006/relationships/font" Target="fonts/Lat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La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6d8141d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6d8141d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1780205da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1780205da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1780205da9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1780205da9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780205da9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780205da9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dd5f91b2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dd5f91b2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dec88f5f0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dec88f5f0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dae39458eb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dae39458eb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d5f91b273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d5f91b273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dd5f91b273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dd5f91b273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ae39458eb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ae39458eb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dd5f91b27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dd5f91b27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e194819c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e194819c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dd5f91b273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dd5f91b273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dd5f91b273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dd5f91b273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dd5f91b273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dd5f91b273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dd5f91b273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dd5f91b273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d5f91b273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d5f91b273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b6f5a17c2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b6f5a17c2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dd5f91b273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dd5f91b273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d5f91b273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d5f91b273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dd5f91b27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dd5f91b27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d5f91b273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d5f91b273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dd5f91b27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dd5f91b27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dd5f91b273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dd5f91b273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dd5f91b27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dd5f91b27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e961452d0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e961452d0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ae39458eb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ae39458eb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swiy.io/pwheadline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ocs.google.com/document/d/1L4xk6KSd1d5BcJ4imCAtbjTsqyWhfptltruYMTPDhog/edit?usp=sharing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swiy.io/pwheadlin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479679" y="1438375"/>
            <a:ext cx="4600200" cy="165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SESSION 4</a:t>
            </a:r>
            <a:endParaRPr sz="220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Write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Amazing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Headlines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500875" y="3428175"/>
            <a:ext cx="63618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By Shaan Puri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3"/>
          <p:cNvSpPr txBox="1"/>
          <p:nvPr>
            <p:ph type="ctrTitle"/>
          </p:nvPr>
        </p:nvSpPr>
        <p:spPr>
          <a:xfrm>
            <a:off x="500875" y="4266375"/>
            <a:ext cx="63618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POWER WRITING COURSE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2677" y="1573925"/>
            <a:ext cx="5398200" cy="30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8876" y="613100"/>
            <a:ext cx="5312998" cy="391729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466350" y="0"/>
            <a:ext cx="634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Session #1 - CCCCCCOLD EMAILS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3">
            <a:alphaModFix/>
          </a:blip>
          <a:srcRect b="13357" l="22184" r="23242" t="61436"/>
          <a:stretch/>
        </p:blipFill>
        <p:spPr>
          <a:xfrm>
            <a:off x="2883712" y="3179199"/>
            <a:ext cx="6093727" cy="158325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3814175" y="1865450"/>
            <a:ext cx="7341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&amp;</a:t>
            </a:r>
            <a:endParaRPr sz="6000"/>
          </a:p>
        </p:txBody>
      </p:sp>
      <p:sp>
        <p:nvSpPr>
          <p:cNvPr id="75" name="Google Shape;75;p15"/>
          <p:cNvSpPr txBox="1"/>
          <p:nvPr/>
        </p:nvSpPr>
        <p:spPr>
          <a:xfrm>
            <a:off x="632875" y="166550"/>
            <a:ext cx="35643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Lato"/>
                <a:ea typeface="Lato"/>
                <a:cs typeface="Lato"/>
                <a:sym typeface="Lato"/>
              </a:rPr>
              <a:t>Habits</a:t>
            </a:r>
            <a:endParaRPr sz="3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Lato"/>
                <a:ea typeface="Lato"/>
                <a:cs typeface="Lato"/>
                <a:sym typeface="Lato"/>
              </a:rPr>
              <a:t>Copywork</a:t>
            </a:r>
            <a:endParaRPr sz="3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Lato"/>
                <a:ea typeface="Lato"/>
                <a:cs typeface="Lato"/>
                <a:sym typeface="Lato"/>
              </a:rPr>
              <a:t>Swipe file</a:t>
            </a:r>
            <a:endParaRPr sz="3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Lato"/>
                <a:ea typeface="Lato"/>
                <a:cs typeface="Lato"/>
                <a:sym typeface="Lato"/>
              </a:rPr>
              <a:t>Walk away edit</a:t>
            </a:r>
            <a:endParaRPr sz="34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08100"/>
            <a:ext cx="5701351" cy="282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7875" y="2346676"/>
            <a:ext cx="5854502" cy="320152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666225" y="0"/>
            <a:ext cx="7341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latin typeface="Lato"/>
                <a:ea typeface="Lato"/>
                <a:cs typeface="Lato"/>
                <a:sym typeface="Lato"/>
              </a:rPr>
              <a:t>IDEAS</a:t>
            </a:r>
            <a:endParaRPr b="1" sz="3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5798700" y="1534825"/>
            <a:ext cx="7341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latin typeface="Lato"/>
                <a:ea typeface="Lato"/>
                <a:cs typeface="Lato"/>
                <a:sym typeface="Lato"/>
              </a:rPr>
              <a:t>PACKAGING</a:t>
            </a:r>
            <a:endParaRPr b="1" sz="3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80% of people don’t read past the headline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Imagine 5 people standing in front of you while you talk.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4 of the 5 people would not hear anything past the first line.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1 person would listen to all the great detail and specifics.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The headline &amp; subject line are KEY!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p17"/>
          <p:cNvSpPr txBox="1"/>
          <p:nvPr>
            <p:ph type="title"/>
          </p:nvPr>
        </p:nvSpPr>
        <p:spPr>
          <a:xfrm>
            <a:off x="238425" y="424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If the headline doesn’t catch them, they won’t ever see the body.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Btw - when I say “headline” that means anything: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The headline of a blog post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The subject line of an email or newsletter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The first tweet of a twitter thread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The caption of a linkedin Post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The caption of a facebook Ad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etc...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11700" y="1445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Go find the last thing you wrote online. Maybe a blog post. Or a newsletter. Or A twitter thread. </a:t>
            </a:r>
            <a:br>
              <a:rPr lang="en">
                <a:solidFill>
                  <a:schemeClr val="lt1"/>
                </a:solidFill>
              </a:rPr>
            </a:br>
            <a:br>
              <a:rPr lang="en">
                <a:solidFill>
                  <a:schemeClr val="lt1"/>
                </a:solidFill>
              </a:rPr>
            </a:br>
            <a:r>
              <a:rPr lang="en">
                <a:solidFill>
                  <a:schemeClr val="lt1"/>
                </a:solidFill>
              </a:rPr>
              <a:t>What was your headline?</a:t>
            </a:r>
            <a:r>
              <a:rPr lang="en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52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Try it: </a:t>
            </a:r>
            <a:endParaRPr b="1" sz="452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The Goal of a Headline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Get your attention (be “scroll-stopping”)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Success == get them from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line 1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---&gt;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line 2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2"/>
          <p:cNvSpPr txBox="1"/>
          <p:nvPr>
            <p:ph type="ctrTitle"/>
          </p:nvPr>
        </p:nvSpPr>
        <p:spPr>
          <a:xfrm>
            <a:off x="435525" y="-36475"/>
            <a:ext cx="8341800" cy="121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P.S. to my shy friends</a:t>
            </a:r>
            <a:endParaRPr/>
          </a:p>
        </p:txBody>
      </p:sp>
      <p:sp>
        <p:nvSpPr>
          <p:cNvPr id="130" name="Google Shape;130;p22"/>
          <p:cNvSpPr txBox="1"/>
          <p:nvPr>
            <p:ph idx="1" type="subTitle"/>
          </p:nvPr>
        </p:nvSpPr>
        <p:spPr>
          <a:xfrm>
            <a:off x="256725" y="1266825"/>
            <a:ext cx="8520600" cy="38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know that writing “attention grabbing” headlines or subject lines can feel “too salesy” or “over the top”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felt that way too at first. Very common for builders to feel uneasy about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that’s you - here’s some food for thought: </a:t>
            </a:r>
            <a:br>
              <a:rPr lang="en"/>
            </a:b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Think of it like a knob you can turn. Level 10 = </a:t>
            </a:r>
            <a:r>
              <a:rPr lang="en"/>
              <a:t>maximum</a:t>
            </a:r>
            <a:r>
              <a:rPr lang="en"/>
              <a:t> attention grabbing. Today. Learn what level 10 looks like. Then choose to turn it down once you have the ability</a:t>
            </a:r>
            <a:br>
              <a:rPr lang="en"/>
            </a:b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You are the “builder” and “seller” of your content. If you made good content, you’re doing yourself an injustice by half-assed selling it. </a:t>
            </a:r>
            <a:br>
              <a:rPr lang="en"/>
            </a:b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Nobody ever complains if your content is good. In fact, the opposite. They thank you for getting it in front of them.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1082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525">
                <a:latin typeface="Lato"/>
                <a:ea typeface="Lato"/>
                <a:cs typeface="Lato"/>
                <a:sym typeface="Lato"/>
              </a:rPr>
              <a:t>Writers spend 5% of their time on the headline, and 95% on the body</a:t>
            </a:r>
            <a:endParaRPr sz="1525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525">
                <a:latin typeface="Lato"/>
                <a:ea typeface="Lato"/>
                <a:cs typeface="Lato"/>
                <a:sym typeface="Lato"/>
              </a:rPr>
              <a:t>But…</a:t>
            </a:r>
            <a:endParaRPr sz="1525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525">
                <a:latin typeface="Lato"/>
                <a:ea typeface="Lato"/>
                <a:cs typeface="Lato"/>
                <a:sym typeface="Lato"/>
              </a:rPr>
              <a:t>Readers</a:t>
            </a:r>
            <a:r>
              <a:rPr lang="en" sz="1525">
                <a:latin typeface="Lato"/>
                <a:ea typeface="Lato"/>
                <a:cs typeface="Lato"/>
                <a:sym typeface="Lato"/>
              </a:rPr>
              <a:t> spend 80% of their time on the headline, and 20% on the body</a:t>
            </a:r>
            <a:endParaRPr sz="1525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525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525">
                <a:latin typeface="Lato"/>
                <a:ea typeface="Lato"/>
                <a:cs typeface="Lato"/>
                <a:sym typeface="Lato"/>
              </a:rPr>
              <a:t>This is a mismatch. </a:t>
            </a:r>
            <a:endParaRPr sz="1525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525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525">
                <a:latin typeface="Lato"/>
                <a:ea typeface="Lato"/>
                <a:cs typeface="Lato"/>
                <a:sym typeface="Lato"/>
              </a:rPr>
              <a:t>A power writer spends AT LEAST 30% of time on the headline. </a:t>
            </a:r>
            <a:endParaRPr sz="1525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525">
                <a:latin typeface="Lato"/>
                <a:ea typeface="Lato"/>
                <a:cs typeface="Lato"/>
                <a:sym typeface="Lato"/>
              </a:rPr>
              <a:t>So - if you’re going to spend an hour </a:t>
            </a:r>
            <a:r>
              <a:rPr lang="en" sz="1525">
                <a:latin typeface="Lato"/>
                <a:ea typeface="Lato"/>
                <a:cs typeface="Lato"/>
                <a:sym typeface="Lato"/>
              </a:rPr>
              <a:t>writing something, at least 20 minutes should be coming up with variations of the headline/subject line (and subheader)</a:t>
            </a:r>
            <a:endParaRPr sz="1525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525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rPr lang="en" sz="1525">
                <a:latin typeface="Lato"/>
                <a:ea typeface="Lato"/>
                <a:cs typeface="Lato"/>
                <a:sym typeface="Lato"/>
              </a:rPr>
              <a:t>This feels WEIRD. Trust me, it works. </a:t>
            </a:r>
            <a:endParaRPr sz="1525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>
                <a:latin typeface="Lato"/>
                <a:ea typeface="Lato"/>
                <a:cs typeface="Lato"/>
                <a:sym typeface="Lato"/>
              </a:rPr>
              <a:t>MISTAKE </a:t>
            </a:r>
            <a:endParaRPr sz="272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8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800" y="105675"/>
            <a:ext cx="4981975" cy="137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5"/>
          <p:cNvPicPr preferRelativeResize="0"/>
          <p:nvPr/>
        </p:nvPicPr>
        <p:blipFill rotWithShape="1">
          <a:blip r:embed="rId4">
            <a:alphaModFix/>
          </a:blip>
          <a:srcRect b="0" l="0" r="28952" t="0"/>
          <a:stretch/>
        </p:blipFill>
        <p:spPr>
          <a:xfrm>
            <a:off x="5292000" y="51013"/>
            <a:ext cx="3697498" cy="16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5"/>
          <p:cNvSpPr txBox="1"/>
          <p:nvPr/>
        </p:nvSpPr>
        <p:spPr>
          <a:xfrm>
            <a:off x="5578650" y="1824038"/>
            <a:ext cx="3124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Using Jargon &amp; fancy words (“existential threat”, “time-to-value ratio”)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Promises a brainstorm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storyline / frame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== 10 likes</a:t>
            </a:r>
            <a:endParaRPr/>
          </a:p>
        </p:txBody>
      </p:sp>
      <p:sp>
        <p:nvSpPr>
          <p:cNvPr id="152" name="Google Shape;152;p25"/>
          <p:cNvSpPr txBox="1"/>
          <p:nvPr/>
        </p:nvSpPr>
        <p:spPr>
          <a:xfrm>
            <a:off x="629400" y="1716200"/>
            <a:ext cx="3124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Simple words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Promises the juicy gossip (‘how it all goes down”)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Clear storyline (everyone thinks it’s the next big thing … i think it’s going to fail)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== 18,000 likes, got on CNBC</a:t>
            </a:r>
            <a:endParaRPr/>
          </a:p>
        </p:txBody>
      </p:sp>
      <p:pic>
        <p:nvPicPr>
          <p:cNvPr id="153" name="Google Shape;153;p25"/>
          <p:cNvPicPr preferRelativeResize="0"/>
          <p:nvPr/>
        </p:nvPicPr>
        <p:blipFill rotWithShape="1">
          <a:blip r:embed="rId5">
            <a:alphaModFix/>
          </a:blip>
          <a:srcRect b="28790" l="0" r="0" t="0"/>
          <a:stretch/>
        </p:blipFill>
        <p:spPr>
          <a:xfrm>
            <a:off x="6189038" y="4281000"/>
            <a:ext cx="2135125" cy="78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/>
          <p:cNvPicPr preferRelativeResize="0"/>
          <p:nvPr/>
        </p:nvPicPr>
        <p:blipFill rotWithShape="1">
          <a:blip r:embed="rId6">
            <a:alphaModFix/>
          </a:blip>
          <a:srcRect b="27315" l="0" r="0" t="0"/>
          <a:stretch/>
        </p:blipFill>
        <p:spPr>
          <a:xfrm>
            <a:off x="988650" y="4295575"/>
            <a:ext cx="1789571" cy="785250"/>
          </a:xfrm>
          <a:prstGeom prst="rect">
            <a:avLst/>
          </a:prstGeom>
          <a:noFill/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5650" y="228599"/>
            <a:ext cx="3979274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65700"/>
            <a:ext cx="4658776" cy="111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6"/>
          <p:cNvSpPr txBox="1"/>
          <p:nvPr/>
        </p:nvSpPr>
        <p:spPr>
          <a:xfrm>
            <a:off x="4686300" y="1895475"/>
            <a:ext cx="4343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Fancy words (“populism” “central dogma” “derivatives” “financial non-elite”)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promise of what you get by reading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Too many names that I don’t know (SAC, Citadel, Melvin Capital)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Unclear storyline/frame. “experts?”</a:t>
            </a:r>
            <a:endParaRPr/>
          </a:p>
        </p:txBody>
      </p:sp>
      <p:pic>
        <p:nvPicPr>
          <p:cNvPr id="163" name="Google Shape;16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5338" y="4181400"/>
            <a:ext cx="2019300" cy="79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9350" y="4099888"/>
            <a:ext cx="1432000" cy="96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6"/>
          <p:cNvSpPr txBox="1"/>
          <p:nvPr/>
        </p:nvSpPr>
        <p:spPr>
          <a:xfrm>
            <a:off x="33488" y="1895475"/>
            <a:ext cx="4343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Simple words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Promise funny + entertainment </a:t>
            </a:r>
            <a:r>
              <a:rPr lang="en"/>
              <a:t>🍿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General characters (subreddit vs. hedge fund)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Clear storyline (david vs. goliath)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30x more readers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0783" y="60225"/>
            <a:ext cx="3599191" cy="294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7"/>
          <p:cNvSpPr txBox="1"/>
          <p:nvPr/>
        </p:nvSpPr>
        <p:spPr>
          <a:xfrm>
            <a:off x="4552125" y="3009900"/>
            <a:ext cx="427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Ho hum story</a:t>
            </a:r>
            <a:r>
              <a:rPr lang="en"/>
              <a:t>. I did this. I did that. Here’s how it’s going. </a:t>
            </a:r>
            <a:endParaRPr/>
          </a:p>
        </p:txBody>
      </p:sp>
      <p:sp>
        <p:nvSpPr>
          <p:cNvPr id="173" name="Google Shape;173;p27"/>
          <p:cNvSpPr txBox="1"/>
          <p:nvPr/>
        </p:nvSpPr>
        <p:spPr>
          <a:xfrm>
            <a:off x="301550" y="2801375"/>
            <a:ext cx="2971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I was wrong story- </a:t>
            </a:r>
            <a:r>
              <a:rPr lang="en"/>
              <a:t>I</a:t>
            </a:r>
            <a:r>
              <a:rPr lang="en"/>
              <a:t> thought X was dumb. </a:t>
            </a:r>
            <a:r>
              <a:rPr lang="en"/>
              <a:t>b</a:t>
            </a:r>
            <a:r>
              <a:rPr lang="en"/>
              <a:t>ut  I tried it &amp; the results were nutty</a:t>
            </a:r>
            <a:r>
              <a:rPr lang="en"/>
              <a:t> </a:t>
            </a:r>
            <a:endParaRPr/>
          </a:p>
        </p:txBody>
      </p:sp>
      <p:sp>
        <p:nvSpPr>
          <p:cNvPr id="174" name="Google Shape;174;p27"/>
          <p:cNvSpPr txBox="1"/>
          <p:nvPr/>
        </p:nvSpPr>
        <p:spPr>
          <a:xfrm>
            <a:off x="255225" y="3668725"/>
            <a:ext cx="355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Juicy Promise, here’s the backstory</a:t>
            </a:r>
            <a:endParaRPr/>
          </a:p>
        </p:txBody>
      </p:sp>
      <p:sp>
        <p:nvSpPr>
          <p:cNvPr id="175" name="Google Shape;175;p27"/>
          <p:cNvSpPr txBox="1"/>
          <p:nvPr/>
        </p:nvSpPr>
        <p:spPr>
          <a:xfrm>
            <a:off x="4552125" y="3740725"/>
            <a:ext cx="297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promise, just “1/”</a:t>
            </a:r>
            <a:endParaRPr/>
          </a:p>
        </p:txBody>
      </p:sp>
      <p:sp>
        <p:nvSpPr>
          <p:cNvPr id="176" name="Google Shape;176;p27"/>
          <p:cNvSpPr txBox="1"/>
          <p:nvPr/>
        </p:nvSpPr>
        <p:spPr>
          <a:xfrm>
            <a:off x="255225" y="4295100"/>
            <a:ext cx="406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Big bold, scroll stopping - share image</a:t>
            </a:r>
            <a:endParaRPr/>
          </a:p>
        </p:txBody>
      </p:sp>
      <p:sp>
        <p:nvSpPr>
          <p:cNvPr id="177" name="Google Shape;177;p27"/>
          <p:cNvSpPr txBox="1"/>
          <p:nvPr/>
        </p:nvSpPr>
        <p:spPr>
          <a:xfrm>
            <a:off x="4552125" y="4256150"/>
            <a:ext cx="406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Boring sepia/yellow share image. Graph that is flatlining.</a:t>
            </a:r>
            <a:endParaRPr/>
          </a:p>
        </p:txBody>
      </p:sp>
      <p:pic>
        <p:nvPicPr>
          <p:cNvPr id="178" name="Google Shape;17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0225"/>
            <a:ext cx="3365712" cy="270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curiosity gap in email subject lines</a:t>
            </a:r>
            <a:endParaRPr/>
          </a:p>
        </p:txBody>
      </p:sp>
      <p:sp>
        <p:nvSpPr>
          <p:cNvPr id="185" name="Google Shape;185;p28"/>
          <p:cNvSpPr txBox="1"/>
          <p:nvPr>
            <p:ph idx="1" type="body"/>
          </p:nvPr>
        </p:nvSpPr>
        <p:spPr>
          <a:xfrm>
            <a:off x="216450" y="1438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Subject: Partnership Opportunity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</a:rPr>
              <a:t>Subject: 50/50 partnership Opportunity with Away Luggage 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Subject: Jamie - want free luggage for life? </a:t>
            </a:r>
            <a:endParaRPr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8"/>
          <p:cNvSpPr txBox="1"/>
          <p:nvPr/>
        </p:nvSpPr>
        <p:spPr>
          <a:xfrm>
            <a:off x="3659275" y="1141450"/>
            <a:ext cx="128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Caveat"/>
                <a:ea typeface="Caveat"/>
                <a:cs typeface="Caveat"/>
                <a:sym typeface="Caveat"/>
              </a:rPr>
              <a:t>Too vague</a:t>
            </a:r>
            <a:endParaRPr b="1" sz="20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87" name="Google Shape;187;p28"/>
          <p:cNvSpPr txBox="1"/>
          <p:nvPr/>
        </p:nvSpPr>
        <p:spPr>
          <a:xfrm>
            <a:off x="6383750" y="1829650"/>
            <a:ext cx="128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Caveat"/>
                <a:ea typeface="Caveat"/>
                <a:cs typeface="Caveat"/>
                <a:sym typeface="Caveat"/>
              </a:rPr>
              <a:t>Too specific</a:t>
            </a:r>
            <a:endParaRPr b="1" sz="20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88" name="Google Shape;188;p28"/>
          <p:cNvSpPr txBox="1"/>
          <p:nvPr/>
        </p:nvSpPr>
        <p:spPr>
          <a:xfrm>
            <a:off x="4816275" y="2363875"/>
            <a:ext cx="128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Caveat"/>
                <a:ea typeface="Caveat"/>
                <a:cs typeface="Caveat"/>
                <a:sym typeface="Caveat"/>
              </a:rPr>
              <a:t>Just Right.</a:t>
            </a:r>
            <a:endParaRPr b="1" sz="20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697725" y="2722500"/>
            <a:ext cx="128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latin typeface="Caveat"/>
                <a:ea typeface="Caveat"/>
                <a:cs typeface="Caveat"/>
                <a:sym typeface="Caveat"/>
              </a:rPr>
              <a:t>personalized</a:t>
            </a:r>
            <a:endParaRPr i="1" sz="20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90" name="Google Shape;190;p28"/>
          <p:cNvSpPr txBox="1"/>
          <p:nvPr/>
        </p:nvSpPr>
        <p:spPr>
          <a:xfrm>
            <a:off x="2254825" y="2789475"/>
            <a:ext cx="180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latin typeface="Caveat"/>
                <a:ea typeface="Caveat"/>
                <a:cs typeface="Caveat"/>
                <a:sym typeface="Caveat"/>
              </a:rPr>
              <a:t>Ok, I’m curious</a:t>
            </a:r>
            <a:endParaRPr i="1" sz="2000"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 example: clothing brand, selling new stuff</a:t>
            </a:r>
            <a:endParaRPr/>
          </a:p>
        </p:txBody>
      </p:sp>
      <p:sp>
        <p:nvSpPr>
          <p:cNvPr id="197" name="Google Shape;197;p29"/>
          <p:cNvSpPr txBox="1"/>
          <p:nvPr>
            <p:ph idx="1" type="body"/>
          </p:nvPr>
        </p:nvSpPr>
        <p:spPr>
          <a:xfrm>
            <a:off x="216450" y="1438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Subject: New Styles For Summer! 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</a:rPr>
              <a:t>Subject: New Stripes &amp; Stars Style for 4th of July!  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Subject: i need your opinion - is this the cutest 4th of july outfit or what?!</a:t>
            </a:r>
            <a:endParaRPr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9"/>
          <p:cNvSpPr txBox="1"/>
          <p:nvPr/>
        </p:nvSpPr>
        <p:spPr>
          <a:xfrm>
            <a:off x="3662200" y="1257550"/>
            <a:ext cx="172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Caveat"/>
                <a:ea typeface="Caveat"/>
                <a:cs typeface="Caveat"/>
                <a:sym typeface="Caveat"/>
              </a:rPr>
              <a:t>Boring &amp; </a:t>
            </a:r>
            <a:r>
              <a:rPr b="1" lang="en" sz="2000">
                <a:latin typeface="Caveat"/>
                <a:ea typeface="Caveat"/>
                <a:cs typeface="Caveat"/>
                <a:sym typeface="Caveat"/>
              </a:rPr>
              <a:t>vague</a:t>
            </a:r>
            <a:endParaRPr b="1" sz="20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99" name="Google Shape;199;p29"/>
          <p:cNvSpPr txBox="1"/>
          <p:nvPr/>
        </p:nvSpPr>
        <p:spPr>
          <a:xfrm>
            <a:off x="5386300" y="1792025"/>
            <a:ext cx="213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Caveat"/>
                <a:ea typeface="Caveat"/>
                <a:cs typeface="Caveat"/>
                <a:sym typeface="Caveat"/>
              </a:rPr>
              <a:t>Boring &amp; specific</a:t>
            </a:r>
            <a:endParaRPr b="1" sz="20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00" name="Google Shape;200;p29"/>
          <p:cNvSpPr txBox="1"/>
          <p:nvPr/>
        </p:nvSpPr>
        <p:spPr>
          <a:xfrm>
            <a:off x="7676300" y="2152025"/>
            <a:ext cx="128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Caveat"/>
                <a:ea typeface="Caveat"/>
                <a:cs typeface="Caveat"/>
                <a:sym typeface="Caveat"/>
              </a:rPr>
              <a:t>32% more clicks</a:t>
            </a:r>
            <a:endParaRPr b="1" sz="20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01" name="Google Shape;201;p29"/>
          <p:cNvSpPr txBox="1"/>
          <p:nvPr/>
        </p:nvSpPr>
        <p:spPr>
          <a:xfrm>
            <a:off x="1724025" y="2769075"/>
            <a:ext cx="1285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latin typeface="Caveat"/>
                <a:ea typeface="Caveat"/>
                <a:cs typeface="Caveat"/>
                <a:sym typeface="Caveat"/>
              </a:rPr>
              <a:t>Not selling,</a:t>
            </a:r>
            <a:endParaRPr i="1" sz="20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latin typeface="Caveat"/>
                <a:ea typeface="Caveat"/>
                <a:cs typeface="Caveat"/>
                <a:sym typeface="Caveat"/>
              </a:rPr>
              <a:t>Asking</a:t>
            </a:r>
            <a:r>
              <a:rPr i="1" lang="en" sz="2000">
                <a:latin typeface="Caveat"/>
                <a:ea typeface="Caveat"/>
                <a:cs typeface="Caveat"/>
                <a:sym typeface="Caveat"/>
              </a:rPr>
              <a:t> for an opinion</a:t>
            </a:r>
            <a:endParaRPr i="1" sz="20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5059775" y="2769075"/>
            <a:ext cx="180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latin typeface="Caveat"/>
                <a:ea typeface="Caveat"/>
                <a:cs typeface="Caveat"/>
                <a:sym typeface="Caveat"/>
              </a:rPr>
              <a:t>Ok lemme click to see what it looks like</a:t>
            </a:r>
            <a:endParaRPr i="1" sz="2000"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0"/>
          <p:cNvSpPr txBox="1"/>
          <p:nvPr>
            <p:ph type="title"/>
          </p:nvPr>
        </p:nvSpPr>
        <p:spPr>
          <a:xfrm>
            <a:off x="1871650" y="2068550"/>
            <a:ext cx="586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“Some 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wesome headline techniques”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surprisingly simple tips to writing clickworthy headlines</a:t>
            </a:r>
            <a:endParaRPr/>
          </a:p>
        </p:txBody>
      </p:sp>
      <p:sp>
        <p:nvSpPr>
          <p:cNvPr id="215" name="Google Shape;215;p31"/>
          <p:cNvSpPr txBox="1"/>
          <p:nvPr>
            <p:ph idx="1" type="body"/>
          </p:nvPr>
        </p:nvSpPr>
        <p:spPr>
          <a:xfrm>
            <a:off x="311700" y="1152475"/>
            <a:ext cx="8520600" cy="23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^see what I did there?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1"/>
          <p:cNvSpPr txBox="1"/>
          <p:nvPr>
            <p:ph type="title"/>
          </p:nvPr>
        </p:nvSpPr>
        <p:spPr>
          <a:xfrm>
            <a:off x="370475" y="2789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“What Buzzfeed writers know about headlines that the rest of us don’t. (grab a pencil)”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</a:t>
            </a:r>
            <a:endParaRPr/>
          </a:p>
        </p:txBody>
      </p:sp>
      <p:sp>
        <p:nvSpPr>
          <p:cNvPr id="223" name="Google Shape;223;p32"/>
          <p:cNvSpPr txBox="1"/>
          <p:nvPr>
            <p:ph idx="1" type="body"/>
          </p:nvPr>
        </p:nvSpPr>
        <p:spPr>
          <a:xfrm>
            <a:off x="311700" y="1152475"/>
            <a:ext cx="8520600" cy="23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You agree, </a:t>
            </a:r>
            <a:r>
              <a:rPr lang="en"/>
              <a:t>headlines are important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You agree, even though it’s just “one line” we’re going to spend at least 30% of our time on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You’ve seen some examples of good headlines...</a:t>
            </a:r>
            <a:endParaRPr/>
          </a:p>
        </p:txBody>
      </p:sp>
      <p:sp>
        <p:nvSpPr>
          <p:cNvPr id="224" name="Google Shape;224;p32"/>
          <p:cNvSpPr txBox="1"/>
          <p:nvPr>
            <p:ph type="title"/>
          </p:nvPr>
        </p:nvSpPr>
        <p:spPr>
          <a:xfrm>
            <a:off x="370475" y="2789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are the two tools you can use everytime you write a headline.</a:t>
            </a:r>
            <a:endParaRPr/>
          </a:p>
        </p:txBody>
      </p:sp>
      <p:sp>
        <p:nvSpPr>
          <p:cNvPr id="225" name="Google Shape;225;p32"/>
          <p:cNvSpPr txBox="1"/>
          <p:nvPr/>
        </p:nvSpPr>
        <p:spPr>
          <a:xfrm>
            <a:off x="863425" y="3794400"/>
            <a:ext cx="549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51 Proven Headlines (templates)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25 headline exercise.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3"/>
          <p:cNvSpPr txBox="1"/>
          <p:nvPr/>
        </p:nvSpPr>
        <p:spPr>
          <a:xfrm>
            <a:off x="1162275" y="1811375"/>
            <a:ext cx="7021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Lato"/>
                <a:ea typeface="Lato"/>
                <a:cs typeface="Lato"/>
                <a:sym typeface="Lato"/>
              </a:rPr>
              <a:t>68</a:t>
            </a:r>
            <a:r>
              <a:rPr lang="en" sz="3200">
                <a:latin typeface="Lato"/>
                <a:ea typeface="Lato"/>
                <a:cs typeface="Lato"/>
                <a:sym typeface="Lato"/>
              </a:rPr>
              <a:t> Headline Templates You Can Use (</a:t>
            </a:r>
            <a:r>
              <a:rPr lang="en" sz="32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swiy.io/pwheadline</a:t>
            </a:r>
            <a:r>
              <a:rPr lang="en" sz="3200">
                <a:latin typeface="Lato"/>
                <a:ea typeface="Lato"/>
                <a:cs typeface="Lato"/>
                <a:sym typeface="Lato"/>
              </a:rPr>
              <a:t>) </a:t>
            </a:r>
            <a:endParaRPr sz="32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4"/>
          <p:cNvSpPr txBox="1"/>
          <p:nvPr/>
        </p:nvSpPr>
        <p:spPr>
          <a:xfrm>
            <a:off x="2122200" y="166525"/>
            <a:ext cx="702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IF I want to max out clicks… </a:t>
            </a:r>
            <a:endParaRPr b="1" sz="2500"/>
          </a:p>
        </p:txBody>
      </p:sp>
      <p:sp>
        <p:nvSpPr>
          <p:cNvPr id="238" name="Google Shape;238;p34"/>
          <p:cNvSpPr txBox="1"/>
          <p:nvPr/>
        </p:nvSpPr>
        <p:spPr>
          <a:xfrm>
            <a:off x="213625" y="1536075"/>
            <a:ext cx="36555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don’t just wing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br>
              <a:rPr lang="en"/>
            </a:br>
            <a:r>
              <a:rPr lang="en"/>
              <a:t>I brainstorm 25 headlines.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Yes, 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only takes about 5-10 minutes. (because I use my 68 headline template)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I pick the best one</a:t>
            </a:r>
            <a:endParaRPr/>
          </a:p>
        </p:txBody>
      </p:sp>
      <p:pic>
        <p:nvPicPr>
          <p:cNvPr id="239" name="Google Shape;23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7813" y="1026625"/>
            <a:ext cx="4475825" cy="358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5"/>
          <p:cNvSpPr txBox="1"/>
          <p:nvPr>
            <p:ph type="ctrTitle"/>
          </p:nvPr>
        </p:nvSpPr>
        <p:spPr>
          <a:xfrm>
            <a:off x="844576" y="-602375"/>
            <a:ext cx="7758900" cy="147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I learned this from upworthy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6" name="Google Shape;246;p35"/>
          <p:cNvPicPr preferRelativeResize="0"/>
          <p:nvPr/>
        </p:nvPicPr>
        <p:blipFill rotWithShape="1">
          <a:blip r:embed="rId3">
            <a:alphaModFix/>
          </a:blip>
          <a:srcRect b="0" l="0" r="0" t="24041"/>
          <a:stretch/>
        </p:blipFill>
        <p:spPr>
          <a:xfrm>
            <a:off x="1371950" y="1050325"/>
            <a:ext cx="6291949" cy="350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755" y="-104875"/>
            <a:ext cx="715249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/>
          <p:nvPr/>
        </p:nvSpPr>
        <p:spPr>
          <a:xfrm>
            <a:off x="-38600" y="3090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7"/>
          <p:cNvSpPr txBox="1"/>
          <p:nvPr>
            <p:ph type="ctrTitle"/>
          </p:nvPr>
        </p:nvSpPr>
        <p:spPr>
          <a:xfrm>
            <a:off x="419833" y="-2594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</a:t>
            </a:r>
            <a:endParaRPr/>
          </a:p>
        </p:txBody>
      </p:sp>
      <p:sp>
        <p:nvSpPr>
          <p:cNvPr id="259" name="Google Shape;259;p37"/>
          <p:cNvSpPr txBox="1"/>
          <p:nvPr>
            <p:ph idx="1" type="subTitle"/>
          </p:nvPr>
        </p:nvSpPr>
        <p:spPr>
          <a:xfrm>
            <a:off x="311700" y="22780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700"/>
              <a:t>Take the </a:t>
            </a:r>
            <a:r>
              <a:rPr lang="en" sz="1700"/>
              <a:t>first headline you wrote. </a:t>
            </a:r>
            <a:endParaRPr sz="17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7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700"/>
              <a:t>Now write 25 variations. 10 mins max!</a:t>
            </a:r>
            <a:endParaRPr sz="17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700"/>
              <a:t> </a:t>
            </a:r>
            <a:br>
              <a:rPr lang="en" sz="1700"/>
            </a:br>
            <a:br>
              <a:rPr lang="en" sz="1700"/>
            </a:br>
            <a:r>
              <a:rPr lang="en" sz="1700"/>
              <a:t>Go for QUANTITY, not quality. </a:t>
            </a:r>
            <a:endParaRPr sz="17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7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700"/>
              <a:t>Use the </a:t>
            </a:r>
            <a:r>
              <a:rPr lang="en" sz="1700" u="sng">
                <a:solidFill>
                  <a:schemeClr val="hlink"/>
                </a:solidFill>
                <a:hlinkClick r:id="rId3"/>
              </a:rPr>
              <a:t>template </a:t>
            </a:r>
            <a:r>
              <a:rPr lang="en" sz="1700"/>
              <a:t>I gave you for inspiration.</a:t>
            </a:r>
            <a:endParaRPr sz="17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7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700"/>
              <a:t>Put your favorite 2-3 in </a:t>
            </a:r>
            <a:r>
              <a:rPr b="1" lang="en" sz="1700"/>
              <a:t>BOLD</a:t>
            </a:r>
            <a:endParaRPr b="1" sz="17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7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700"/>
              <a:t>POST in #Share-Your-Work in slack</a:t>
            </a:r>
            <a:r>
              <a:rPr lang="en" sz="1700"/>
              <a:t> </a:t>
            </a:r>
            <a:endParaRPr sz="17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 txBox="1"/>
          <p:nvPr>
            <p:ph type="ctrTitle"/>
          </p:nvPr>
        </p:nvSpPr>
        <p:spPr>
          <a:xfrm>
            <a:off x="373133" y="-12342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 headlines</a:t>
            </a:r>
            <a:endParaRPr/>
          </a:p>
        </p:txBody>
      </p:sp>
      <p:sp>
        <p:nvSpPr>
          <p:cNvPr id="265" name="Google Shape;265;p38"/>
          <p:cNvSpPr txBox="1"/>
          <p:nvPr>
            <p:ph idx="1" type="subTitle"/>
          </p:nvPr>
        </p:nvSpPr>
        <p:spPr>
          <a:xfrm>
            <a:off x="422300" y="15067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AutoNum type="arabicPeriod"/>
            </a:pPr>
            <a:r>
              <a:rPr lang="en" sz="1310"/>
              <a:t>Here’s what nightclubs and social networks have in common</a:t>
            </a:r>
            <a:endParaRPr sz="1310"/>
          </a:p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AutoNum type="arabicPeriod"/>
            </a:pPr>
            <a:r>
              <a:rPr lang="en" sz="1310"/>
              <a:t>A public service announcement to all startup founders</a:t>
            </a:r>
            <a:endParaRPr sz="1310"/>
          </a:p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AutoNum type="arabicPeriod"/>
            </a:pPr>
            <a:r>
              <a:rPr b="1" lang="en" sz="1310"/>
              <a:t>How tiktok is crushing youtube, with one simple advantage</a:t>
            </a:r>
            <a:endParaRPr b="1" sz="1310"/>
          </a:p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AutoNum type="arabicPeriod"/>
            </a:pPr>
            <a:r>
              <a:rPr lang="en" sz="1310"/>
              <a:t>The 1 piece of advice I would give myself about my last startup that failed</a:t>
            </a:r>
            <a:endParaRPr sz="1310"/>
          </a:p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AutoNum type="arabicPeriod"/>
            </a:pPr>
            <a:r>
              <a:rPr lang="en" sz="1310"/>
              <a:t>7 things about building a social product that people get wrong</a:t>
            </a:r>
            <a:endParaRPr sz="1310"/>
          </a:p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AutoNum type="arabicPeriod"/>
            </a:pPr>
            <a:r>
              <a:rPr lang="en" sz="1310"/>
              <a:t>The biggest mistake founders make when they try to create a social app </a:t>
            </a:r>
            <a:endParaRPr sz="1310"/>
          </a:p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AutoNum type="arabicPeriod"/>
            </a:pPr>
            <a:r>
              <a:rPr lang="en" sz="1310"/>
              <a:t>I learned this lesson the hard way. What I got wrong at my last startup</a:t>
            </a:r>
            <a:endParaRPr sz="1310"/>
          </a:p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AutoNum type="arabicPeriod"/>
            </a:pPr>
            <a:r>
              <a:rPr lang="en" sz="1310"/>
              <a:t>Here’s the 2 millimeter difference between succeeding and failing with a social networking startup</a:t>
            </a:r>
            <a:endParaRPr sz="1310"/>
          </a:p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AutoNum type="arabicPeriod"/>
            </a:pPr>
            <a:r>
              <a:rPr lang="en" sz="1310"/>
              <a:t>Dear FANG engineers. Send this thread to your PM. They need to read it. </a:t>
            </a:r>
            <a:endParaRPr sz="1310"/>
          </a:p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AutoNum type="arabicPeriod"/>
            </a:pPr>
            <a:r>
              <a:rPr lang="en" sz="1310"/>
              <a:t>The single mistake that sank my last startup. A brutal lesson. </a:t>
            </a:r>
            <a:endParaRPr sz="1310"/>
          </a:p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AutoNum type="arabicPeriod"/>
            </a:pPr>
            <a:r>
              <a:rPr b="1" lang="en" sz="1310"/>
              <a:t>The “nightclub theory” that every startup founder should know. </a:t>
            </a:r>
            <a:endParaRPr b="1" sz="1310"/>
          </a:p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AutoNum type="arabicPeriod"/>
            </a:pPr>
            <a:r>
              <a:rPr lang="en" sz="1310"/>
              <a:t>If you don’t know the “nightclub theory” for startup growth, you’re in trouble. </a:t>
            </a:r>
            <a:endParaRPr sz="1310"/>
          </a:p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AutoNum type="arabicPeriod"/>
            </a:pPr>
            <a:r>
              <a:rPr lang="en" sz="1310"/>
              <a:t>The little known secret behind the success of tiktok, twitch and instagram</a:t>
            </a:r>
            <a:endParaRPr sz="1310"/>
          </a:p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AutoNum type="arabicPeriod"/>
            </a:pPr>
            <a:r>
              <a:rPr lang="en" sz="1310"/>
              <a:t>This tiny little framework can save you months of pain when it comes to growth</a:t>
            </a:r>
            <a:endParaRPr sz="1310"/>
          </a:p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AutoNum type="arabicPeriod"/>
            </a:pPr>
            <a:r>
              <a:rPr b="1" lang="en" sz="1310"/>
              <a:t>My favorite new framework: “The NightClub Framework” for startup growth </a:t>
            </a:r>
            <a:endParaRPr b="1" sz="131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9"/>
          <p:cNvSpPr txBox="1"/>
          <p:nvPr>
            <p:ph type="ctrTitle"/>
          </p:nvPr>
        </p:nvSpPr>
        <p:spPr>
          <a:xfrm>
            <a:off x="411733" y="-5556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takeaways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2" name="Google Shape;272;p39"/>
          <p:cNvSpPr txBox="1"/>
          <p:nvPr>
            <p:ph idx="1" type="subTitle"/>
          </p:nvPr>
        </p:nvSpPr>
        <p:spPr>
          <a:xfrm>
            <a:off x="202150" y="1753050"/>
            <a:ext cx="8520600" cy="25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Lato"/>
              <a:buAutoNum type="arabicPeriod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80% of people won’t make it past your headline. So spend at least 30% of your time on it!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endParaRPr>
              <a:latin typeface="Lato"/>
              <a:ea typeface="Lato"/>
              <a:cs typeface="Lato"/>
              <a:sym typeface="Lato"/>
            </a:endParaRPr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Lato"/>
              <a:buAutoNum type="arabicPeriod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If you want your headline to really hit, write 25 variations (yes, 25) before you push send. 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endParaRPr>
              <a:latin typeface="Lato"/>
              <a:ea typeface="Lato"/>
              <a:cs typeface="Lato"/>
              <a:sym typeface="Lato"/>
            </a:endParaRPr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Lato"/>
              <a:buAutoNum type="arabicPeriod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Use my bank of </a:t>
            </a:r>
            <a:r>
              <a:rPr lang="en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Headlines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