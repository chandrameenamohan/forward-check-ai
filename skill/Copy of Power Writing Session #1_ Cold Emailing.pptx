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Lato"/>
      <p:regular r:id="rId46"/>
      <p:bold r:id="rId47"/>
      <p:italic r:id="rId48"/>
      <p:boldItalic r:id="rId49"/>
    </p:embeddedFont>
    <p:embeddedFont>
      <p:font typeface="Spectral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a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pectral-bold.fntdata"/><Relationship Id="rId50" Type="http://schemas.openxmlformats.org/officeDocument/2006/relationships/font" Target="fonts/Spectral-regular.fntdata"/><Relationship Id="rId53" Type="http://schemas.openxmlformats.org/officeDocument/2006/relationships/font" Target="fonts/Spectral-boldItalic.fntdata"/><Relationship Id="rId52" Type="http://schemas.openxmlformats.org/officeDocument/2006/relationships/font" Target="fonts/Spectral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09a3f6c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09a3f6c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e09a3f6c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e09a3f6c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^Pause for a second. 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Look at those outcomes (getting your dream job, making a sale, raising $$ from investors) 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 learn just this </a:t>
            </a:r>
            <a:r>
              <a:rPr b="1" lang="en" sz="1800">
                <a:solidFill>
                  <a:schemeClr val="dk1"/>
                </a:solidFill>
              </a:rPr>
              <a:t>one lesson</a:t>
            </a:r>
            <a:r>
              <a:rPr lang="en" sz="1800">
                <a:solidFill>
                  <a:schemeClr val="dk1"/>
                </a:solidFill>
              </a:rPr>
              <a:t> and forget everything else, your investment in this course will be paid back, bigtime.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09a3f6c0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09a3f6c0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09a3f6c0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09a3f6c0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09a3f6c0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09a3f6c0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09a3f6c0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e09a3f6c0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09a3f6c0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e09a3f6c0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09a3f6c0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09a3f6c0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8018d28cd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e8018d28cd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617c28c02_5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617c28c02_5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e8018d28cd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e8018d28cd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617c28c02_3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617c28c02_3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09a3f6c0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09a3f6c0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09a3f6c0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09a3f6c0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09a3f6c0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09a3f6c0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09a3f6c0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09a3f6c0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09a3f6c0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09a3f6c0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09a3f6c0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09a3f6c0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09a3f6c0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09a3f6c0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09a3f6c0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e09a3f6c0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e09a3f6c0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e09a3f6c0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e0b71f20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e0b71f20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e0b71f209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e0b71f20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e0b71f209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e0b71f209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0b71f209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0b71f20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0b71f209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e0b71f209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e09a3f6c0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e09a3f6c0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e09a3f6c0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e09a3f6c0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09a3f6c0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09a3f6c0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e09a3f6c0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e09a3f6c0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09a3f6c0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09a3f6c0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09a3f6c0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09a3f6c0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e09a3f6c0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e09a3f6c0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9a3f6c0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9a3f6c0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e09a3f6c0e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e09a3f6c0e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e09a3f6c0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e09a3f6c0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09a3f6c0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09a3f6c0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617c28c02_5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1617c28c02_5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e09a3f6c0e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e09a3f6c0e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e09a3f6c0e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e09a3f6c0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79679" y="1895575"/>
            <a:ext cx="46002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SESSION 1</a:t>
            </a:r>
            <a:endParaRPr sz="22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to Write Cold Emails…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(and actually get replies!)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500875" y="35805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Shaan Puri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500875" y="42663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 WRITING COURSE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473" y="0"/>
            <a:ext cx="50612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ctrTitle"/>
          </p:nvPr>
        </p:nvSpPr>
        <p:spPr>
          <a:xfrm>
            <a:off x="606625" y="1140950"/>
            <a:ext cx="7704900" cy="34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00"/>
              <a:t>Cold emails are a weapon to use when…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00"/>
              <a:t>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You’re looking for a job… </a:t>
            </a:r>
            <a:r>
              <a:rPr lang="en" sz="18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cold email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hiring managers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You want to meet someone you admire… </a:t>
            </a:r>
            <a:r>
              <a:rPr lang="en" sz="18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cold email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them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You start a brand… </a:t>
            </a:r>
            <a:r>
              <a:rPr lang="en" sz="18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cold email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influencers to rep your brand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You start a company… </a:t>
            </a:r>
            <a:r>
              <a:rPr lang="en" sz="18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cold email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investors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00"/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20727" l="19670" r="21784" t="16764"/>
          <a:stretch/>
        </p:blipFill>
        <p:spPr>
          <a:xfrm>
            <a:off x="1820089" y="918474"/>
            <a:ext cx="5503823" cy="33065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4294967295" type="ctrTitle"/>
          </p:nvPr>
        </p:nvSpPr>
        <p:spPr>
          <a:xfrm>
            <a:off x="0" y="48534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928250" y="168600"/>
            <a:ext cx="52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At the end of this session, your cold emails should get that </a:t>
            </a:r>
            <a:r>
              <a:rPr b="1"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b="1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type="ctrTitle"/>
          </p:nvPr>
        </p:nvSpPr>
        <p:spPr>
          <a:xfrm>
            <a:off x="545025" y="1265100"/>
            <a:ext cx="8222700" cy="34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00"/>
              <a:t>PICK A SCENARIO THAT FITS YOU… AND TRY IT!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a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potential customer 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to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buy your product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the ceo of the company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you’d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love to work for 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someone you look up to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, with the goal of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getting some advice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an instagram influencer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to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work with your company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an investor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to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invest in your business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Cold email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a company</a:t>
            </a: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 to get them to </a:t>
            </a:r>
            <a:r>
              <a:rPr lang="en" sz="1800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sponsor your content</a:t>
            </a:r>
            <a:endParaRPr sz="1800"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00"/>
          </a:p>
        </p:txBody>
      </p:sp>
      <p:sp>
        <p:nvSpPr>
          <p:cNvPr id="81" name="Google Shape;81;p16"/>
          <p:cNvSpPr/>
          <p:nvPr/>
        </p:nvSpPr>
        <p:spPr>
          <a:xfrm>
            <a:off x="657050" y="3742125"/>
            <a:ext cx="7704900" cy="7650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7325" y="3742125"/>
            <a:ext cx="742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8FFF"/>
                </a:solidFill>
                <a:latin typeface="Spectral"/>
                <a:ea typeface="Spectral"/>
                <a:cs typeface="Spectral"/>
                <a:sym typeface="Spectral"/>
              </a:rPr>
              <a:t>If you’re stumped,</a:t>
            </a: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imagine you’ve built an app that helps personal trainers send workouts to their clients.  Send a cold email to get a personal trainer to try your app!</a:t>
            </a:r>
            <a:endParaRPr>
              <a:solidFill>
                <a:srgbClr val="1F8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3" name="Google Shape;83;p16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5/36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2571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have </a:t>
            </a:r>
            <a:r>
              <a:rPr b="1" lang="en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 minutes.</a:t>
            </a:r>
            <a:r>
              <a:rPr b="1" lang="en" sz="40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endParaRPr b="1" sz="40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Don’t overthink it, just write! </a:t>
            </a:r>
            <a:endParaRPr sz="40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b="1" i="1" lang="en" sz="155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(it’s OK if it sucks, we will make it better later! No more than 10 mins!)</a:t>
            </a:r>
            <a:endParaRPr b="1" i="1" sz="155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sz="22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0" name="Google Shape;90;p17"/>
          <p:cNvSpPr txBox="1"/>
          <p:nvPr>
            <p:ph idx="4294967295" type="ctrTitle"/>
          </p:nvPr>
        </p:nvSpPr>
        <p:spPr>
          <a:xfrm>
            <a:off x="-39063" y="4825547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6/36								            SHAANPURI.COM						   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Try It!</a:t>
            </a: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 A Google Doc &amp; Draft A Cold Email</a:t>
            </a:r>
            <a:endParaRPr i="1" sz="26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8"/>
          <p:cNvSpPr txBox="1"/>
          <p:nvPr>
            <p:ph idx="4294967295" type="ctrTitle"/>
          </p:nvPr>
        </p:nvSpPr>
        <p:spPr>
          <a:xfrm>
            <a:off x="-39063" y="4800411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7/36								            SHAANPURI.COM						   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978250" y="3494950"/>
            <a:ext cx="4866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-37650" y="1869900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</a:rPr>
              <a:t>I Need A</a:t>
            </a:r>
            <a:r>
              <a:rPr b="1" lang="en" sz="3600">
                <a:solidFill>
                  <a:schemeClr val="dk1"/>
                </a:solidFill>
              </a:rPr>
              <a:t> Brave Volunteer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05" name="Google Shape;105;p19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8/36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0" y="949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Volunteer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36400" y="8551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Original: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5175100" y="8551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Live Re-Write: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715100" y="1370450"/>
            <a:ext cx="31398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Hey X, big fan of ______. Really cool the way you </a:t>
            </a:r>
            <a:r>
              <a:rPr lang="en" sz="1100">
                <a:solidFill>
                  <a:schemeClr val="dk1"/>
                </a:solidFill>
              </a:rPr>
              <a:t>blah</a:t>
            </a:r>
            <a:r>
              <a:rPr lang="en" sz="1100">
                <a:solidFill>
                  <a:schemeClr val="dk1"/>
                </a:solidFill>
              </a:rPr>
              <a:t> blah blha 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I’m reaching out, because I think I can help you reach ~2k-5k more customers. I’ll explain in a second.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About me - I run elgato partnerships and work with ______, _____, &amp; ____.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Long story short, if you were to do X , you could get Y. If you’re interested, just say “interested” &amp; we can do X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075" y="1370450"/>
            <a:ext cx="5477257" cy="37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0" y="-46125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0" y="949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Volunteer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35425" y="949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Original: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5785850" y="0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Live Re-Write: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99" y="965850"/>
            <a:ext cx="5481451" cy="36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5503100" y="1372800"/>
            <a:ext cx="68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in it for them ✅</a:t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5503100" y="1978825"/>
            <a:ext cx="68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Doesn’t sound like spam. Talk like a  human </a:t>
            </a:r>
            <a:r>
              <a:rPr lang="en"/>
              <a:t>✅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577050" y="2763163"/>
            <a:ext cx="6876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VP of partnerships for wall street zen.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just launched, but get about 1M visitors a month, and are about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partnering with awesome youtubers this month. I’m personally a fan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you. So I put you at the top of my list for people to reach out 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381000" y="-84225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0" y="949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Volunteer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235425" y="949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Original: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5785850" y="0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Live Re-Write: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38" name="Google Shape;138;p22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62075" y="1331915"/>
            <a:ext cx="5785850" cy="3032255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1025" y="-1042513"/>
            <a:ext cx="3789972" cy="279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4423775" y="1354950"/>
            <a:ext cx="4829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Chris, loved your tweet about the future of NFTs in ecom. </a:t>
            </a:r>
            <a:br>
              <a:rPr lang="en"/>
            </a:br>
            <a:br>
              <a:rPr lang="en"/>
            </a:br>
            <a:r>
              <a:rPr lang="en"/>
              <a:t>Funny story, I used to sell japanese hot springs blah blah to americans via ecom - so everything you said, resonated with me.</a:t>
            </a:r>
            <a:br>
              <a:rPr lang="en"/>
            </a:b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I’m reaching out because I’m plotting my next move - and am very interested in launching an cohort NFT… but - I haven’t seen any examples that have inspired me yet.</a:t>
            </a:r>
            <a:br>
              <a:rPr lang="en"/>
            </a:br>
            <a:br>
              <a:rPr lang="en"/>
            </a:br>
            <a:r>
              <a:rPr lang="en"/>
              <a:t>Do you know of any?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0" y="949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Volunteer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-109075" y="949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Original: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5758125" y="-8442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Live Re-Write: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50" name="Google Shape;150;p23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5758125" y="1298300"/>
            <a:ext cx="313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050" y="1038600"/>
            <a:ext cx="5797199" cy="385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3643850" y="1475463"/>
            <a:ext cx="6000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Love nuggs. My girlfriend thinks I’m nuts because I smoke them twice a week.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I’m reaching out because I think I can get your job postings in front of at least 10,000 people.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best part is, these are people super into X and not just linkedin drones.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I’d </a:t>
            </a:r>
            <a:r>
              <a:rPr lang="en"/>
              <a:t>love to post one of your key listings there for a couple days so you can see what kind of inbound you get. </a:t>
            </a:r>
            <a:br>
              <a:rPr lang="en"/>
            </a:br>
            <a:br>
              <a:rPr lang="en"/>
            </a:br>
            <a:r>
              <a:rPr lang="en"/>
              <a:t>Would you be down? Just say the word and I’ll make it happen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0" y="949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Volunteer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-109075" y="9497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Original: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5758125" y="-84425"/>
            <a:ext cx="3139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Live Re-Write: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62" name="Google Shape;162;p24"/>
          <p:cNvSpPr txBox="1"/>
          <p:nvPr>
            <p:ph type="ctrTitle"/>
          </p:nvPr>
        </p:nvSpPr>
        <p:spPr>
          <a:xfrm>
            <a:off x="-39063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5758125" y="1298300"/>
            <a:ext cx="313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75" y="1395575"/>
            <a:ext cx="5860151" cy="26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</a:t>
            </a:r>
            <a:r>
              <a:rPr b="1" lang="en" sz="32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tools &amp; techniques </a:t>
            </a:r>
            <a:r>
              <a:rPr lang="en" sz="32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 I use in the re-write?</a:t>
            </a:r>
            <a:endParaRPr b="1" sz="184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5"/>
          <p:cNvSpPr txBox="1"/>
          <p:nvPr>
            <p:ph idx="4294967295" type="ctrTitle"/>
          </p:nvPr>
        </p:nvSpPr>
        <p:spPr>
          <a:xfrm>
            <a:off x="-39063" y="4830189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13/36								            SHAANPURI.COM						   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1827425" y="875950"/>
            <a:ext cx="5472000" cy="3693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1152300" y="153300"/>
            <a:ext cx="683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425" y="1018475"/>
            <a:ext cx="4839151" cy="340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-37650" y="1040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The Scooter Braun Law</a:t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358425" y="1018475"/>
            <a:ext cx="2157000" cy="1127100"/>
          </a:xfrm>
          <a:prstGeom prst="cloudCallout">
            <a:avLst>
              <a:gd fmla="val 55340" name="adj1"/>
              <a:gd fmla="val 71352" name="adj2"/>
            </a:avLst>
          </a:prstGeom>
          <a:solidFill>
            <a:srgbClr val="1F8FFF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529725" y="1074100"/>
            <a:ext cx="16989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Yes, No, or “cool, Marie will schedule”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6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1152300" y="153300"/>
            <a:ext cx="683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1928250" y="168600"/>
            <a:ext cx="52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Here’s the formula I use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… it’s a variation of AIDA</a:t>
            </a:r>
            <a:endParaRPr b="1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7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14/36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501" y="626550"/>
            <a:ext cx="5312998" cy="391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1114800" y="1427025"/>
            <a:ext cx="6914400" cy="29055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-37650" y="1802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</a:rPr>
              <a:t>Attention</a:t>
            </a:r>
            <a:endParaRPr b="1" sz="3600">
              <a:solidFill>
                <a:srgbClr val="0066D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237000" y="887050"/>
            <a:ext cx="867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goal with the subject line is to create a </a:t>
            </a:r>
            <a:r>
              <a:rPr b="1"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curiosity gap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2" name="Google Shape;202;p28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15/36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251" y="2177925"/>
            <a:ext cx="6551498" cy="14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1457100" y="1355375"/>
            <a:ext cx="6229800" cy="31197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-37650" y="1802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Personal Touch</a:t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272075" y="887050"/>
            <a:ext cx="867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98% of email is mass spam.  Show that </a:t>
            </a:r>
            <a:r>
              <a:rPr b="1"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this isn’t mass spam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326" y="1404222"/>
            <a:ext cx="5479349" cy="30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16/36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1149880" y="1355375"/>
            <a:ext cx="6914400" cy="29055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-37650" y="1802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Offer and Benefits</a:t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237000" y="887050"/>
            <a:ext cx="867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Be a giver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instead of asker.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1418225" y="2223275"/>
            <a:ext cx="160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Wanna send you a free sample, what’s your address?</a:t>
            </a:r>
            <a:endParaRPr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3726575" y="2223275"/>
            <a:ext cx="160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 looked at your onboarding, here’s 3 improvements</a:t>
            </a:r>
            <a:endParaRPr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6034925" y="2314075"/>
            <a:ext cx="160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 think I could boost your revenue X% by doing y</a:t>
            </a:r>
            <a:endParaRPr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30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17/36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1144950" y="1355375"/>
            <a:ext cx="6854100" cy="31413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 txBox="1"/>
          <p:nvPr/>
        </p:nvSpPr>
        <p:spPr>
          <a:xfrm>
            <a:off x="-37650" y="180275"/>
            <a:ext cx="9219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Credibility</a:t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272075" y="887050"/>
            <a:ext cx="867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Your goal is to not be on the </a:t>
            </a:r>
            <a:r>
              <a:rPr b="1"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bottom rung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0" r="0" t="15640"/>
          <a:stretch/>
        </p:blipFill>
        <p:spPr>
          <a:xfrm>
            <a:off x="1229588" y="1583974"/>
            <a:ext cx="6754975" cy="314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18/36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Time To Put in Action!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32"/>
          <p:cNvSpPr txBox="1"/>
          <p:nvPr>
            <p:ph idx="4294967295" type="ctrTitle"/>
          </p:nvPr>
        </p:nvSpPr>
        <p:spPr>
          <a:xfrm>
            <a:off x="-39063" y="4811621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19/36								            SHAANPURI.COM						   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 txBox="1"/>
          <p:nvPr>
            <p:ph type="title"/>
          </p:nvPr>
        </p:nvSpPr>
        <p:spPr>
          <a:xfrm>
            <a:off x="440450" y="1078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Rewrite Your Cold Email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33"/>
          <p:cNvSpPr txBox="1"/>
          <p:nvPr>
            <p:ph idx="4294967295" type="ctrTitle"/>
          </p:nvPr>
        </p:nvSpPr>
        <p:spPr>
          <a:xfrm>
            <a:off x="-39063" y="4811621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20/36								            SHAANPURI.COM						   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725" y="1108675"/>
            <a:ext cx="4960049" cy="33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1152300" y="153300"/>
            <a:ext cx="683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1928250" y="168600"/>
            <a:ext cx="52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Here’s the formula I use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… it’s a variation of AIDA</a:t>
            </a:r>
            <a:endParaRPr b="1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34"/>
          <p:cNvSpPr txBox="1"/>
          <p:nvPr>
            <p:ph type="ctrTitle"/>
          </p:nvPr>
        </p:nvSpPr>
        <p:spPr>
          <a:xfrm>
            <a:off x="-39063" y="4601589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14/36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501" y="626550"/>
            <a:ext cx="5312998" cy="391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5"/>
          <p:cNvSpPr txBox="1"/>
          <p:nvPr>
            <p:ph idx="1" type="subTitle"/>
          </p:nvPr>
        </p:nvSpPr>
        <p:spPr>
          <a:xfrm>
            <a:off x="311700" y="624675"/>
            <a:ext cx="8520600" cy="4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64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Oh no they didn’t reply..</a:t>
            </a:r>
            <a:endParaRPr b="1" sz="645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…no problem. </a:t>
            </a:r>
            <a:b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80% of the magic is in the follow-up.</a:t>
            </a:r>
            <a:endParaRPr sz="645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4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4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95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5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"/>
          <p:cNvSpPr txBox="1"/>
          <p:nvPr>
            <p:ph idx="1" type="subTitle"/>
          </p:nvPr>
        </p:nvSpPr>
        <p:spPr>
          <a:xfrm>
            <a:off x="311700" y="624675"/>
            <a:ext cx="8520600" cy="4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64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Your goal with the follow up</a:t>
            </a:r>
            <a:endParaRPr b="1" sz="645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4016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AutoNum type="arabicPeriod"/>
            </a:pPr>
            <a:r>
              <a:rPr b="1" lang="en" sz="4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Don’t cry/nag</a:t>
            </a:r>
            <a:endParaRPr b="1" sz="4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4016" lvl="0" marL="457200" rtl="0" algn="ctr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ct val="100000"/>
              <a:buFont typeface="Lato"/>
              <a:buAutoNum type="arabicPeriod"/>
            </a:pPr>
            <a:r>
              <a:rPr b="1" lang="en" sz="4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Simply bump, with value</a:t>
            </a:r>
            <a:endParaRPr b="1" sz="4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You want to be </a:t>
            </a:r>
            <a:r>
              <a:rPr b="1" i="1" lang="en" sz="6450">
                <a:solidFill>
                  <a:srgbClr val="010000"/>
                </a:solidFill>
                <a:latin typeface="Lato"/>
                <a:ea typeface="Lato"/>
                <a:cs typeface="Lato"/>
                <a:sym typeface="Lato"/>
              </a:rPr>
              <a:t>politely persistent</a:t>
            </a:r>
            <a:endParaRPr b="1" i="1" sz="6450">
              <a:solidFill>
                <a:srgbClr val="01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4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4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95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"/>
          <p:cNvSpPr txBox="1"/>
          <p:nvPr>
            <p:ph idx="1" type="subTitle"/>
          </p:nvPr>
        </p:nvSpPr>
        <p:spPr>
          <a:xfrm>
            <a:off x="623400" y="-106462"/>
            <a:ext cx="8520600" cy="4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Examples of quick follow ups:</a:t>
            </a:r>
            <a:endParaRPr sz="900"/>
          </a:p>
        </p:txBody>
      </p:sp>
      <p:sp>
        <p:nvSpPr>
          <p:cNvPr id="281" name="Google Shape;281;p37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1205" r="0" t="0"/>
          <a:stretch/>
        </p:blipFill>
        <p:spPr>
          <a:xfrm>
            <a:off x="1610375" y="856275"/>
            <a:ext cx="6546626" cy="6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 txBox="1"/>
          <p:nvPr/>
        </p:nvSpPr>
        <p:spPr>
          <a:xfrm>
            <a:off x="1608750" y="1742100"/>
            <a:ext cx="65925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“Wanted to give this a bump. You guys are my top choice, so you can’t blame me for swinging for the fences, can you? </a:t>
            </a:r>
            <a:endParaRPr/>
          </a:p>
        </p:txBody>
      </p:sp>
      <p:sp>
        <p:nvSpPr>
          <p:cNvPr id="284" name="Google Shape;284;p37"/>
          <p:cNvSpPr txBox="1"/>
          <p:nvPr/>
        </p:nvSpPr>
        <p:spPr>
          <a:xfrm>
            <a:off x="1608750" y="2629188"/>
            <a:ext cx="59016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“Did you have any interest in doing this? </a:t>
            </a:r>
            <a:br>
              <a:rPr lang="en"/>
            </a:br>
            <a:br>
              <a:rPr lang="en"/>
            </a:br>
            <a:r>
              <a:rPr lang="en"/>
              <a:t>Since that first email - we’ve had a ton of progress. X Y &amp; Z have come on board. Would love to have you on before we wrap up the schedule” </a:t>
            </a:r>
            <a:endParaRPr/>
          </a:p>
        </p:txBody>
      </p:sp>
      <p:sp>
        <p:nvSpPr>
          <p:cNvPr id="285" name="Google Shape;285;p37"/>
          <p:cNvSpPr txBox="1"/>
          <p:nvPr/>
        </p:nvSpPr>
        <p:spPr>
          <a:xfrm>
            <a:off x="1608750" y="3903325"/>
            <a:ext cx="59016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“Did you have a chance to look at this? Slide 3 is the main thing that should get your attention”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8"/>
          <p:cNvSpPr txBox="1"/>
          <p:nvPr>
            <p:ph idx="1" type="subTitle"/>
          </p:nvPr>
        </p:nvSpPr>
        <p:spPr>
          <a:xfrm>
            <a:off x="311700" y="91200"/>
            <a:ext cx="8520600" cy="4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Following up should </a:t>
            </a:r>
            <a:r>
              <a:rPr lang="en" sz="64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2x </a:t>
            </a:r>
            <a:r>
              <a:rPr b="1" lang="en" sz="645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the total reply rate.</a:t>
            </a:r>
            <a:endParaRPr b="1" sz="645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45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71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Set auto-followups for 1 day later, 3 days later, and 5 days later.</a:t>
            </a:r>
            <a:endParaRPr b="1" sz="3071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38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9"/>
          <p:cNvSpPr txBox="1"/>
          <p:nvPr>
            <p:ph type="ctrTitle"/>
          </p:nvPr>
        </p:nvSpPr>
        <p:spPr>
          <a:xfrm>
            <a:off x="308400" y="1279800"/>
            <a:ext cx="8527200" cy="34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00">
                <a:solidFill>
                  <a:srgbClr val="0066DE"/>
                </a:solidFill>
              </a:rPr>
              <a:t>Summary</a:t>
            </a:r>
            <a:endParaRPr sz="1800">
              <a:solidFill>
                <a:srgbClr val="0066DE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The goal is to get a 1 word or 1 sentence reply (“yes/okay/I’m interested)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Be a giver, not a beggar (aka - what’s in it for them)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Keep it short. The Longer it is, the crazier/more desperate you seem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The goal is to go from cold → warm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AutoNum type="arabicPeriod"/>
            </a:pPr>
            <a:r>
              <a:rPr lang="en" sz="1800">
                <a:latin typeface="Spectral"/>
                <a:ea typeface="Spectral"/>
                <a:cs typeface="Spectral"/>
                <a:sym typeface="Spectral"/>
              </a:rPr>
              <a:t>80% of the magic is in the follow up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00"/>
          </a:p>
        </p:txBody>
      </p:sp>
      <p:sp>
        <p:nvSpPr>
          <p:cNvPr id="299" name="Google Shape;299;p39"/>
          <p:cNvSpPr txBox="1"/>
          <p:nvPr>
            <p:ph type="ctrTitle"/>
          </p:nvPr>
        </p:nvSpPr>
        <p:spPr>
          <a:xfrm>
            <a:off x="-39063" y="4583021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APPENDIX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40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             works!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A few examples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14" name="Google Shape;3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3775" y="1327100"/>
            <a:ext cx="1433426" cy="143342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1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925" y="0"/>
            <a:ext cx="918385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2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863" y="-22362"/>
            <a:ext cx="9263724" cy="518822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 txBox="1"/>
          <p:nvPr>
            <p:ph idx="4294967295" type="ctrTitle"/>
          </p:nvPr>
        </p:nvSpPr>
        <p:spPr>
          <a:xfrm>
            <a:off x="0" y="47772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OK!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Here’s some great cold emails I’ve received.</a:t>
            </a:r>
            <a:r>
              <a:rPr lang="en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4" name="Google Shape;334;p44"/>
          <p:cNvSpPr txBox="1"/>
          <p:nvPr>
            <p:ph idx="4294967295" type="ctrTitle"/>
          </p:nvPr>
        </p:nvSpPr>
        <p:spPr>
          <a:xfrm>
            <a:off x="0" y="47772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5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45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275" y="566375"/>
            <a:ext cx="7187272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6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46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6"/>
          <p:cNvSpPr txBox="1"/>
          <p:nvPr/>
        </p:nvSpPr>
        <p:spPr>
          <a:xfrm>
            <a:off x="1152300" y="153300"/>
            <a:ext cx="68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Cold emailing a potential sponsor (mediocre email)</a:t>
            </a:r>
            <a:endParaRPr sz="4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7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7"/>
          <p:cNvSpPr txBox="1"/>
          <p:nvPr/>
        </p:nvSpPr>
        <p:spPr>
          <a:xfrm>
            <a:off x="1152300" y="153300"/>
            <a:ext cx="68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Cold emailing a potential sponsor (why it’s bad)</a:t>
            </a:r>
            <a:endParaRPr sz="4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0" name="Google Shape;3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8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" name="Google Shape;367;p48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8"/>
          <p:cNvSpPr txBox="1"/>
          <p:nvPr/>
        </p:nvSpPr>
        <p:spPr>
          <a:xfrm>
            <a:off x="1152300" y="153300"/>
            <a:ext cx="68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*cracks knuckles* </a:t>
            </a:r>
            <a:r>
              <a:rPr lang="en" sz="15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How it’s done</a:t>
            </a:r>
            <a:endParaRPr sz="4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9" name="Google Shape;3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9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49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9"/>
          <p:cNvSpPr txBox="1"/>
          <p:nvPr/>
        </p:nvSpPr>
        <p:spPr>
          <a:xfrm>
            <a:off x="1152300" y="900"/>
            <a:ext cx="683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 #2: </a:t>
            </a:r>
            <a:r>
              <a:rPr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My friends brother wants to be a writer for TV shows. Here’s a cold email he sent to Azar, the writer of a Hulu show Remy.</a:t>
            </a:r>
            <a:endParaRPr sz="5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8" name="Google Shape;37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917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1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51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1"/>
          <p:cNvSpPr txBox="1"/>
          <p:nvPr/>
        </p:nvSpPr>
        <p:spPr>
          <a:xfrm>
            <a:off x="1152300" y="153300"/>
            <a:ext cx="683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 #3:  </a:t>
            </a:r>
            <a:r>
              <a:rPr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How I landed the CEO of Coinbase on my podcast</a:t>
            </a:r>
            <a:endParaRPr sz="13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2" name="Google Shape;3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2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	          	        MAVEN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52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"/>
          <p:cNvSpPr txBox="1"/>
          <p:nvPr/>
        </p:nvSpPr>
        <p:spPr>
          <a:xfrm>
            <a:off x="1152300" y="153300"/>
            <a:ext cx="683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 #3:  </a:t>
            </a:r>
            <a:r>
              <a:rPr lang="en" sz="1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How I landed the CEO of Coinbase on my podcast</a:t>
            </a:r>
            <a:endParaRPr sz="13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1" name="Google Shape;40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450" y="568800"/>
            <a:ext cx="7193100" cy="40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